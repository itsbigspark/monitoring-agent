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is whether we build a Sentinel application that later becomes a platform, or build the minimum Mission Control platform now and deliver Sentinel as its first feature. The recommendation is the second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alignment on the context first. Sentinel is the first use case, but its supporting foundations are already needed by other Mission Control capabilities. The architecture must avoid both a Sentinel retrofit and a generic runtime plug-in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B buys the important seams without pre-paying for a distributed system. The cost is discipline: import rules, module-owned data and architecture tests must make the monolith genuinely modular.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 shell and API compose enabled feature modules. Sentinel alone uses the investigation runtime in the initial release. Every module reuses the platform foundation, and provider adapters translate external systems without leaking vendor SDKs into the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catalog is the reason the platform shell is coherent rather than scope creep. It is shared identity, not a shared dumping ground. Each feature owns its own schema, API and migrations.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build a generic visual workflow language. Implement one clear deterministic lifecycle and extract more only after a second materially different investigation type creates evidence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 Hub is a deliberate architecture test. It uses almost none of Sentinel's domain model, but it needs the same product foundation. Deep links create value before embedding risk is 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four gates: included in the release, enabled for the deployment, optionally enabled for a future workspace, and authorized for the principal. The backend is authoritative. The frontend consumes runtime capabilities from the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is built once and distributed by signed digest. The client supplies configuration, secret references and approved connectors. One control plane can route scoped jobs to execution cells when business areas or network zones require stronger isolation.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 deliberately proves boundaries before adding breadth. Phase 3 is not a distraction from Sentinel. It is the smallest materially different module that can prove Mission Control is a platform rather than a renamed Sentinel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four decisions: approve the modular-monolith boundary; approve environment-backed startup feature flags; approve one isolated immutable deployment per client; assign owners for the first runtime target and isolated execution spike. Do not close with a generic request to continue discussing.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40038"/>
        </a:solidFill>
      </p:bgPr>
    </p:bg>
    <p:spTree>
      <p:nvGrpSpPr>
        <p:cNvPr id="1" name=""/>
        <p:cNvGrpSpPr/>
        <p:nvPr/>
      </p:nvGrpSpPr>
      <p:grpSpPr>
        <a:xfrm>
          <a:off x="0" y="0"/>
          <a:ext cx="0" cy="0"/>
          <a:chOff x="0" y="0"/>
          <a:chExt cx="0" cy="0"/>
        </a:xfrm>
      </p:grpSpPr>
      <p:sp>
        <p:nvSpPr>
          <p:cNvPr id="3" name="Shape 0"/>
          <p:cNvSpPr/>
          <p:nvPr/>
        </p:nvSpPr>
        <p:spPr>
          <a:xfrm>
            <a:off x="3749040" y="0"/>
            <a:ext cx="36576" cy="5143500"/>
          </a:xfrm>
          <a:prstGeom prst="rect">
            <a:avLst/>
          </a:prstGeom>
          <a:solidFill>
            <a:srgbClr val="1A1A6A"/>
          </a:solidFill>
          <a:ln w="12700">
            <a:solidFill>
              <a:srgbClr val="1A1A6A"/>
            </a:solidFill>
            <a:prstDash val="solid"/>
          </a:ln>
        </p:spPr>
      </p:sp>
      <p:sp>
        <p:nvSpPr>
          <p:cNvPr id="4" name="Text 1"/>
          <p:cNvSpPr/>
          <p:nvPr/>
        </p:nvSpPr>
        <p:spPr>
          <a:xfrm>
            <a:off x="365760" y="274320"/>
            <a:ext cx="3108960" cy="512064"/>
          </a:xfrm>
          <a:prstGeom prst="rect">
            <a:avLst/>
          </a:prstGeom>
          <a:noFill/>
          <a:ln/>
        </p:spPr>
        <p:txBody>
          <a:bodyPr wrap="square" lIns="0" tIns="0" rIns="0" bIns="0" rtlCol="0" anchor="ctr"/>
          <a:lstStyle/>
          <a:p>
            <a:pPr indent="0" marL="0">
              <a:buNone/>
            </a:pPr>
            <a:r>
              <a:rPr lang="en-US" sz="2800" b="1" dirty="0">
                <a:solidFill>
                  <a:srgbClr val="18FFFF"/>
                </a:solidFill>
                <a:latin typeface="Montserrat" pitchFamily="34" charset="0"/>
                <a:ea typeface="Montserrat" pitchFamily="34" charset="-122"/>
                <a:cs typeface="Montserrat" pitchFamily="34" charset="-120"/>
              </a:rPr>
              <a:t>bigspark</a:t>
            </a:r>
            <a:endParaRPr lang="en-US" sz="2800" dirty="0"/>
          </a:p>
        </p:txBody>
      </p:sp>
      <p:sp>
        <p:nvSpPr>
          <p:cNvPr id="5" name="Text 2"/>
          <p:cNvSpPr/>
          <p:nvPr/>
        </p:nvSpPr>
        <p:spPr>
          <a:xfrm>
            <a:off x="365760" y="1188720"/>
            <a:ext cx="402336" cy="256032"/>
          </a:xfrm>
          <a:prstGeom prst="rect">
            <a:avLst/>
          </a:prstGeom>
          <a:noFill/>
          <a:ln/>
        </p:spPr>
        <p:txBody>
          <a:bodyPr wrap="square" lIns="0" tIns="0" rIns="0" bIns="0" rtlCol="0" anchor="ctr"/>
          <a:lstStyle/>
          <a:p>
            <a:pPr indent="0" marL="0">
              <a:buNone/>
            </a:pPr>
            <a:r>
              <a:rPr lang="en-US" sz="900" b="1" dirty="0">
                <a:solidFill>
                  <a:srgbClr val="18FFFF"/>
                </a:solidFill>
                <a:latin typeface="Montserrat" pitchFamily="34" charset="0"/>
                <a:ea typeface="Montserrat" pitchFamily="34" charset="-122"/>
                <a:cs typeface="Montserrat" pitchFamily="34" charset="-120"/>
              </a:rPr>
              <a:t>01</a:t>
            </a:r>
            <a:endParaRPr lang="en-US" sz="900" dirty="0"/>
          </a:p>
        </p:txBody>
      </p:sp>
      <p:sp>
        <p:nvSpPr>
          <p:cNvPr id="6" name="Text 3"/>
          <p:cNvSpPr/>
          <p:nvPr/>
        </p:nvSpPr>
        <p:spPr>
          <a:xfrm>
            <a:off x="804672" y="1188720"/>
            <a:ext cx="3108960" cy="256032"/>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Decision</a:t>
            </a:r>
            <a:endParaRPr lang="en-US" sz="1200" dirty="0"/>
          </a:p>
        </p:txBody>
      </p:sp>
      <p:sp>
        <p:nvSpPr>
          <p:cNvPr id="7" name="Text 4"/>
          <p:cNvSpPr/>
          <p:nvPr/>
        </p:nvSpPr>
        <p:spPr>
          <a:xfrm>
            <a:off x="804672" y="1481328"/>
            <a:ext cx="2926080" cy="219456"/>
          </a:xfrm>
          <a:prstGeom prst="rect">
            <a:avLst/>
          </a:prstGeom>
          <a:noFill/>
          <a:ln/>
        </p:spPr>
        <p:txBody>
          <a:bodyPr wrap="square" lIns="0" tIns="0" rIns="0" bIns="0" rtlCol="0" anchor="ctr"/>
          <a:lstStyle/>
          <a:p>
            <a:pPr indent="0" marL="0">
              <a:buNone/>
            </a:pPr>
            <a:r>
              <a:rPr lang="en-US" sz="950" dirty="0">
                <a:solidFill>
                  <a:srgbClr val="8888AA"/>
                </a:solidFill>
                <a:latin typeface="Montserrat" pitchFamily="34" charset="0"/>
                <a:ea typeface="Montserrat" pitchFamily="34" charset="-122"/>
                <a:cs typeface="Montserrat" pitchFamily="34" charset="-120"/>
              </a:rPr>
              <a:t>Choose the product boundary</a:t>
            </a:r>
            <a:endParaRPr lang="en-US" sz="950" dirty="0"/>
          </a:p>
        </p:txBody>
      </p:sp>
      <p:sp>
        <p:nvSpPr>
          <p:cNvPr id="8" name="Shape 5"/>
          <p:cNvSpPr/>
          <p:nvPr/>
        </p:nvSpPr>
        <p:spPr>
          <a:xfrm>
            <a:off x="365760" y="1828800"/>
            <a:ext cx="3200400" cy="9144"/>
          </a:xfrm>
          <a:prstGeom prst="rect">
            <a:avLst/>
          </a:prstGeom>
          <a:solidFill>
            <a:srgbClr val="1A1A6A"/>
          </a:solidFill>
          <a:ln w="12700">
            <a:solidFill>
              <a:srgbClr val="1A1A6A"/>
            </a:solidFill>
            <a:prstDash val="solid"/>
          </a:ln>
        </p:spPr>
      </p:sp>
      <p:sp>
        <p:nvSpPr>
          <p:cNvPr id="9" name="Text 6"/>
          <p:cNvSpPr/>
          <p:nvPr/>
        </p:nvSpPr>
        <p:spPr>
          <a:xfrm>
            <a:off x="365760" y="1920240"/>
            <a:ext cx="402336" cy="256032"/>
          </a:xfrm>
          <a:prstGeom prst="rect">
            <a:avLst/>
          </a:prstGeom>
          <a:noFill/>
          <a:ln/>
        </p:spPr>
        <p:txBody>
          <a:bodyPr wrap="square" lIns="0" tIns="0" rIns="0" bIns="0" rtlCol="0" anchor="ctr"/>
          <a:lstStyle/>
          <a:p>
            <a:pPr indent="0" marL="0">
              <a:buNone/>
            </a:pPr>
            <a:r>
              <a:rPr lang="en-US" sz="900" b="1" dirty="0">
                <a:solidFill>
                  <a:srgbClr val="18FFFF"/>
                </a:solidFill>
                <a:latin typeface="Montserrat" pitchFamily="34" charset="0"/>
                <a:ea typeface="Montserrat" pitchFamily="34" charset="-122"/>
                <a:cs typeface="Montserrat" pitchFamily="34" charset="-120"/>
              </a:rPr>
              <a:t>02</a:t>
            </a:r>
            <a:endParaRPr lang="en-US" sz="900" dirty="0"/>
          </a:p>
        </p:txBody>
      </p:sp>
      <p:sp>
        <p:nvSpPr>
          <p:cNvPr id="10" name="Text 7"/>
          <p:cNvSpPr/>
          <p:nvPr/>
        </p:nvSpPr>
        <p:spPr>
          <a:xfrm>
            <a:off x="804672" y="1920240"/>
            <a:ext cx="3108960" cy="256032"/>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Architecture</a:t>
            </a:r>
            <a:endParaRPr lang="en-US" sz="1200" dirty="0"/>
          </a:p>
        </p:txBody>
      </p:sp>
      <p:sp>
        <p:nvSpPr>
          <p:cNvPr id="11" name="Text 8"/>
          <p:cNvSpPr/>
          <p:nvPr/>
        </p:nvSpPr>
        <p:spPr>
          <a:xfrm>
            <a:off x="804672" y="2212848"/>
            <a:ext cx="2926080" cy="219456"/>
          </a:xfrm>
          <a:prstGeom prst="rect">
            <a:avLst/>
          </a:prstGeom>
          <a:noFill/>
          <a:ln/>
        </p:spPr>
        <p:txBody>
          <a:bodyPr wrap="square" lIns="0" tIns="0" rIns="0" bIns="0" rtlCol="0" anchor="ctr"/>
          <a:lstStyle/>
          <a:p>
            <a:pPr indent="0" marL="0">
              <a:buNone/>
            </a:pPr>
            <a:r>
              <a:rPr lang="en-US" sz="950" dirty="0">
                <a:solidFill>
                  <a:srgbClr val="8888AA"/>
                </a:solidFill>
                <a:latin typeface="Montserrat" pitchFamily="34" charset="0"/>
                <a:ea typeface="Montserrat" pitchFamily="34" charset="-122"/>
                <a:cs typeface="Montserrat" pitchFamily="34" charset="-120"/>
              </a:rPr>
              <a:t>Separate platform, modules and adapters</a:t>
            </a:r>
            <a:endParaRPr lang="en-US" sz="950" dirty="0"/>
          </a:p>
        </p:txBody>
      </p:sp>
      <p:sp>
        <p:nvSpPr>
          <p:cNvPr id="12" name="Shape 9"/>
          <p:cNvSpPr/>
          <p:nvPr/>
        </p:nvSpPr>
        <p:spPr>
          <a:xfrm>
            <a:off x="365760" y="2560320"/>
            <a:ext cx="3200400" cy="9144"/>
          </a:xfrm>
          <a:prstGeom prst="rect">
            <a:avLst/>
          </a:prstGeom>
          <a:solidFill>
            <a:srgbClr val="1A1A6A"/>
          </a:solidFill>
          <a:ln w="12700">
            <a:solidFill>
              <a:srgbClr val="1A1A6A"/>
            </a:solidFill>
            <a:prstDash val="solid"/>
          </a:ln>
        </p:spPr>
      </p:sp>
      <p:sp>
        <p:nvSpPr>
          <p:cNvPr id="13" name="Text 10"/>
          <p:cNvSpPr/>
          <p:nvPr/>
        </p:nvSpPr>
        <p:spPr>
          <a:xfrm>
            <a:off x="365760" y="2651760"/>
            <a:ext cx="402336" cy="256032"/>
          </a:xfrm>
          <a:prstGeom prst="rect">
            <a:avLst/>
          </a:prstGeom>
          <a:noFill/>
          <a:ln/>
        </p:spPr>
        <p:txBody>
          <a:bodyPr wrap="square" lIns="0" tIns="0" rIns="0" bIns="0" rtlCol="0" anchor="ctr"/>
          <a:lstStyle/>
          <a:p>
            <a:pPr indent="0" marL="0">
              <a:buNone/>
            </a:pPr>
            <a:r>
              <a:rPr lang="en-US" sz="900" b="1" dirty="0">
                <a:solidFill>
                  <a:srgbClr val="18FFFF"/>
                </a:solidFill>
                <a:latin typeface="Montserrat" pitchFamily="34" charset="0"/>
                <a:ea typeface="Montserrat" pitchFamily="34" charset="-122"/>
                <a:cs typeface="Montserrat" pitchFamily="34" charset="-120"/>
              </a:rPr>
              <a:t>03</a:t>
            </a:r>
            <a:endParaRPr lang="en-US" sz="900" dirty="0"/>
          </a:p>
        </p:txBody>
      </p:sp>
      <p:sp>
        <p:nvSpPr>
          <p:cNvPr id="14" name="Text 11"/>
          <p:cNvSpPr/>
          <p:nvPr/>
        </p:nvSpPr>
        <p:spPr>
          <a:xfrm>
            <a:off x="804672" y="2651760"/>
            <a:ext cx="3108960" cy="256032"/>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Proof</a:t>
            </a:r>
            <a:endParaRPr lang="en-US" sz="1200" dirty="0"/>
          </a:p>
        </p:txBody>
      </p:sp>
      <p:sp>
        <p:nvSpPr>
          <p:cNvPr id="15" name="Text 12"/>
          <p:cNvSpPr/>
          <p:nvPr/>
        </p:nvSpPr>
        <p:spPr>
          <a:xfrm>
            <a:off x="804672" y="2944368"/>
            <a:ext cx="2926080" cy="219456"/>
          </a:xfrm>
          <a:prstGeom prst="rect">
            <a:avLst/>
          </a:prstGeom>
          <a:noFill/>
          <a:ln/>
        </p:spPr>
        <p:txBody>
          <a:bodyPr wrap="square" lIns="0" tIns="0" rIns="0" bIns="0" rtlCol="0" anchor="ctr"/>
          <a:lstStyle/>
          <a:p>
            <a:pPr indent="0" marL="0">
              <a:buNone/>
            </a:pPr>
            <a:r>
              <a:rPr lang="en-US" sz="950" dirty="0">
                <a:solidFill>
                  <a:srgbClr val="8888AA"/>
                </a:solidFill>
                <a:latin typeface="Montserrat" pitchFamily="34" charset="0"/>
                <a:ea typeface="Montserrat" pitchFamily="34" charset="-122"/>
                <a:cs typeface="Montserrat" pitchFamily="34" charset="-120"/>
              </a:rPr>
              <a:t>Sentinel first, Dashboard Hub second</a:t>
            </a:r>
            <a:endParaRPr lang="en-US" sz="950" dirty="0"/>
          </a:p>
        </p:txBody>
      </p:sp>
      <p:sp>
        <p:nvSpPr>
          <p:cNvPr id="16" name="Shape 13"/>
          <p:cNvSpPr/>
          <p:nvPr/>
        </p:nvSpPr>
        <p:spPr>
          <a:xfrm>
            <a:off x="365760" y="3291840"/>
            <a:ext cx="3200400" cy="9144"/>
          </a:xfrm>
          <a:prstGeom prst="rect">
            <a:avLst/>
          </a:prstGeom>
          <a:solidFill>
            <a:srgbClr val="1A1A6A"/>
          </a:solidFill>
          <a:ln w="12700">
            <a:solidFill>
              <a:srgbClr val="1A1A6A"/>
            </a:solidFill>
            <a:prstDash val="solid"/>
          </a:ln>
        </p:spPr>
      </p:sp>
      <p:sp>
        <p:nvSpPr>
          <p:cNvPr id="17" name="Text 14"/>
          <p:cNvSpPr/>
          <p:nvPr/>
        </p:nvSpPr>
        <p:spPr>
          <a:xfrm>
            <a:off x="365760" y="3383280"/>
            <a:ext cx="402336" cy="256032"/>
          </a:xfrm>
          <a:prstGeom prst="rect">
            <a:avLst/>
          </a:prstGeom>
          <a:noFill/>
          <a:ln/>
        </p:spPr>
        <p:txBody>
          <a:bodyPr wrap="square" lIns="0" tIns="0" rIns="0" bIns="0" rtlCol="0" anchor="ctr"/>
          <a:lstStyle/>
          <a:p>
            <a:pPr indent="0" marL="0">
              <a:buNone/>
            </a:pPr>
            <a:r>
              <a:rPr lang="en-US" sz="900" b="1" dirty="0">
                <a:solidFill>
                  <a:srgbClr val="18FFFF"/>
                </a:solidFill>
                <a:latin typeface="Montserrat" pitchFamily="34" charset="0"/>
                <a:ea typeface="Montserrat" pitchFamily="34" charset="-122"/>
                <a:cs typeface="Montserrat" pitchFamily="34" charset="-120"/>
              </a:rPr>
              <a:t>04</a:t>
            </a:r>
            <a:endParaRPr lang="en-US" sz="900" dirty="0"/>
          </a:p>
        </p:txBody>
      </p:sp>
      <p:sp>
        <p:nvSpPr>
          <p:cNvPr id="18" name="Text 15"/>
          <p:cNvSpPr/>
          <p:nvPr/>
        </p:nvSpPr>
        <p:spPr>
          <a:xfrm>
            <a:off x="804672" y="3383280"/>
            <a:ext cx="3108960" cy="256032"/>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Deployment</a:t>
            </a:r>
            <a:endParaRPr lang="en-US" sz="1200" dirty="0"/>
          </a:p>
        </p:txBody>
      </p:sp>
      <p:sp>
        <p:nvSpPr>
          <p:cNvPr id="19" name="Text 16"/>
          <p:cNvSpPr/>
          <p:nvPr/>
        </p:nvSpPr>
        <p:spPr>
          <a:xfrm>
            <a:off x="804672" y="3675888"/>
            <a:ext cx="2926080" cy="219456"/>
          </a:xfrm>
          <a:prstGeom prst="rect">
            <a:avLst/>
          </a:prstGeom>
          <a:noFill/>
          <a:ln/>
        </p:spPr>
        <p:txBody>
          <a:bodyPr wrap="square" lIns="0" tIns="0" rIns="0" bIns="0" rtlCol="0" anchor="ctr"/>
          <a:lstStyle/>
          <a:p>
            <a:pPr indent="0" marL="0">
              <a:buNone/>
            </a:pPr>
            <a:r>
              <a:rPr lang="en-US" sz="950" dirty="0">
                <a:solidFill>
                  <a:srgbClr val="8888AA"/>
                </a:solidFill>
                <a:latin typeface="Montserrat" pitchFamily="34" charset="0"/>
                <a:ea typeface="Montserrat" pitchFamily="34" charset="-122"/>
                <a:cs typeface="Montserrat" pitchFamily="34" charset="-120"/>
              </a:rPr>
              <a:t>One immutable release, isolated per client</a:t>
            </a:r>
            <a:endParaRPr lang="en-US" sz="950" dirty="0"/>
          </a:p>
        </p:txBody>
      </p:sp>
      <p:sp>
        <p:nvSpPr>
          <p:cNvPr id="20" name="Shape 17"/>
          <p:cNvSpPr/>
          <p:nvPr/>
        </p:nvSpPr>
        <p:spPr>
          <a:xfrm>
            <a:off x="365760" y="4023360"/>
            <a:ext cx="3200400" cy="9144"/>
          </a:xfrm>
          <a:prstGeom prst="rect">
            <a:avLst/>
          </a:prstGeom>
          <a:solidFill>
            <a:srgbClr val="1A1A6A"/>
          </a:solidFill>
          <a:ln w="12700">
            <a:solidFill>
              <a:srgbClr val="1A1A6A"/>
            </a:solidFill>
            <a:prstDash val="solid"/>
          </a:ln>
        </p:spPr>
      </p:sp>
      <p:sp>
        <p:nvSpPr>
          <p:cNvPr id="21" name="Text 18"/>
          <p:cNvSpPr/>
          <p:nvPr/>
        </p:nvSpPr>
        <p:spPr>
          <a:xfrm>
            <a:off x="365760" y="4114800"/>
            <a:ext cx="402336" cy="256032"/>
          </a:xfrm>
          <a:prstGeom prst="rect">
            <a:avLst/>
          </a:prstGeom>
          <a:noFill/>
          <a:ln/>
        </p:spPr>
        <p:txBody>
          <a:bodyPr wrap="square" lIns="0" tIns="0" rIns="0" bIns="0" rtlCol="0" anchor="ctr"/>
          <a:lstStyle/>
          <a:p>
            <a:pPr indent="0" marL="0">
              <a:buNone/>
            </a:pPr>
            <a:r>
              <a:rPr lang="en-US" sz="900" b="1" dirty="0">
                <a:solidFill>
                  <a:srgbClr val="18FFFF"/>
                </a:solidFill>
                <a:latin typeface="Montserrat" pitchFamily="34" charset="0"/>
                <a:ea typeface="Montserrat" pitchFamily="34" charset="-122"/>
                <a:cs typeface="Montserrat" pitchFamily="34" charset="-120"/>
              </a:rPr>
              <a:t>05</a:t>
            </a:r>
            <a:endParaRPr lang="en-US" sz="900" dirty="0"/>
          </a:p>
        </p:txBody>
      </p:sp>
      <p:sp>
        <p:nvSpPr>
          <p:cNvPr id="22" name="Text 19"/>
          <p:cNvSpPr/>
          <p:nvPr/>
        </p:nvSpPr>
        <p:spPr>
          <a:xfrm>
            <a:off x="804672" y="4114800"/>
            <a:ext cx="3108960" cy="256032"/>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Ask</a:t>
            </a:r>
            <a:endParaRPr lang="en-US" sz="1200" dirty="0"/>
          </a:p>
        </p:txBody>
      </p:sp>
      <p:sp>
        <p:nvSpPr>
          <p:cNvPr id="23" name="Text 20"/>
          <p:cNvSpPr/>
          <p:nvPr/>
        </p:nvSpPr>
        <p:spPr>
          <a:xfrm>
            <a:off x="804672" y="4407408"/>
            <a:ext cx="2926080" cy="219456"/>
          </a:xfrm>
          <a:prstGeom prst="rect">
            <a:avLst/>
          </a:prstGeom>
          <a:noFill/>
          <a:ln/>
        </p:spPr>
        <p:txBody>
          <a:bodyPr wrap="square" lIns="0" tIns="0" rIns="0" bIns="0" rtlCol="0" anchor="ctr"/>
          <a:lstStyle/>
          <a:p>
            <a:pPr indent="0" marL="0">
              <a:buNone/>
            </a:pPr>
            <a:r>
              <a:rPr lang="en-US" sz="950" dirty="0">
                <a:solidFill>
                  <a:srgbClr val="8888AA"/>
                </a:solidFill>
                <a:latin typeface="Montserrat" pitchFamily="34" charset="0"/>
                <a:ea typeface="Montserrat" pitchFamily="34" charset="-122"/>
                <a:cs typeface="Montserrat" pitchFamily="34" charset="-120"/>
              </a:rPr>
              <a:t>Approve the guardrails and risk owners</a:t>
            </a:r>
            <a:endParaRPr lang="en-US" sz="950" dirty="0"/>
          </a:p>
        </p:txBody>
      </p:sp>
      <p:sp>
        <p:nvSpPr>
          <p:cNvPr id="24" name="Text 21"/>
          <p:cNvSpPr/>
          <p:nvPr/>
        </p:nvSpPr>
        <p:spPr>
          <a:xfrm>
            <a:off x="4206240" y="310896"/>
            <a:ext cx="4572000" cy="201168"/>
          </a:xfrm>
          <a:prstGeom prst="rect">
            <a:avLst/>
          </a:prstGeom>
          <a:noFill/>
          <a:ln/>
        </p:spPr>
        <p:txBody>
          <a:bodyPr wrap="square" lIns="0" tIns="0" rIns="0" bIns="0" rtlCol="0" anchor="ctr"/>
          <a:lstStyle/>
          <a:p>
            <a:pPr indent="0" marL="0">
              <a:buNone/>
            </a:pPr>
            <a:r>
              <a:rPr lang="en-US" sz="850" b="1" spc="200" kern="0" dirty="0">
                <a:solidFill>
                  <a:srgbClr val="18FFFF"/>
                </a:solidFill>
                <a:latin typeface="Montserrat" pitchFamily="34" charset="0"/>
                <a:ea typeface="Montserrat" pitchFamily="34" charset="-122"/>
                <a:cs typeface="Montserrat" pitchFamily="34" charset="-120"/>
              </a:rPr>
              <a:t>SYSTEM DESIGN · PROPOSED FOR SENIOR REVIEW</a:t>
            </a:r>
            <a:endParaRPr lang="en-US" sz="850" dirty="0"/>
          </a:p>
        </p:txBody>
      </p:sp>
      <p:sp>
        <p:nvSpPr>
          <p:cNvPr id="25" name="Text 22"/>
          <p:cNvSpPr/>
          <p:nvPr/>
        </p:nvSpPr>
        <p:spPr>
          <a:xfrm>
            <a:off x="4206240" y="640080"/>
            <a:ext cx="4572000" cy="2112264"/>
          </a:xfrm>
          <a:prstGeom prst="rect">
            <a:avLst/>
          </a:prstGeom>
          <a:noFill/>
          <a:ln/>
        </p:spPr>
        <p:txBody>
          <a:bodyPr wrap="square" lIns="0" tIns="0" rIns="0" bIns="0" rtlCol="0" anchor="ctr"/>
          <a:lstStyle/>
          <a:p>
            <a:pPr indent="0" marL="0">
              <a:buNone/>
            </a:pPr>
            <a:r>
              <a:rPr lang="en-US" sz="4400" b="1" dirty="0">
                <a:solidFill>
                  <a:srgbClr val="FFFFFF"/>
                </a:solidFill>
                <a:latin typeface="Montserrat" pitchFamily="34" charset="0"/>
                <a:ea typeface="Montserrat" pitchFamily="34" charset="-122"/>
                <a:cs typeface="Montserrat" pitchFamily="34" charset="-120"/>
              </a:rPr>
              <a:t>Mission Control architecture</a:t>
            </a:r>
            <a:endParaRPr lang="en-US" sz="4400" dirty="0"/>
          </a:p>
        </p:txBody>
      </p:sp>
      <p:sp>
        <p:nvSpPr>
          <p:cNvPr id="26" name="Text 23"/>
          <p:cNvSpPr/>
          <p:nvPr/>
        </p:nvSpPr>
        <p:spPr>
          <a:xfrm>
            <a:off x="4206240" y="3026664"/>
            <a:ext cx="4572000" cy="365760"/>
          </a:xfrm>
          <a:prstGeom prst="rect">
            <a:avLst/>
          </a:prstGeom>
          <a:noFill/>
          <a:ln/>
        </p:spPr>
        <p:txBody>
          <a:bodyPr wrap="square" lIns="0" tIns="0" rIns="0" bIns="0" rtlCol="0" anchor="ctr"/>
          <a:lstStyle/>
          <a:p>
            <a:pPr indent="0" marL="0">
              <a:buNone/>
            </a:pPr>
            <a:r>
              <a:rPr lang="en-US" sz="1300" i="1" dirty="0">
                <a:solidFill>
                  <a:srgbClr val="8888AA"/>
                </a:solidFill>
                <a:latin typeface="Montserrat" pitchFamily="34" charset="0"/>
                <a:ea typeface="Montserrat" pitchFamily="34" charset="-122"/>
                <a:cs typeface="Montserrat" pitchFamily="34" charset="-120"/>
              </a:rPr>
              <a:t>Build the platform once. Ship Sentinel first.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40038"/>
        </a:solidFill>
      </p:bgPr>
    </p:bg>
    <p:spTree>
      <p:nvGrpSpPr>
        <p:cNvPr id="1" name=""/>
        <p:cNvGrpSpPr/>
        <p:nvPr/>
      </p:nvGrpSpPr>
      <p:grpSpPr>
        <a:xfrm>
          <a:off x="0" y="0"/>
          <a:ext cx="0" cy="0"/>
          <a:chOff x="0" y="0"/>
          <a:chExt cx="0" cy="0"/>
        </a:xfrm>
      </p:grpSpPr>
      <p:sp>
        <p:nvSpPr>
          <p:cNvPr id="3" name="Text 0"/>
          <p:cNvSpPr/>
          <p:nvPr/>
        </p:nvSpPr>
        <p:spPr>
          <a:xfrm>
            <a:off x="365760" y="256032"/>
            <a:ext cx="8229600" cy="201168"/>
          </a:xfrm>
          <a:prstGeom prst="rect">
            <a:avLst/>
          </a:prstGeom>
          <a:noFill/>
          <a:ln/>
        </p:spPr>
        <p:txBody>
          <a:bodyPr wrap="square" lIns="0" tIns="0" rIns="0" bIns="0" rtlCol="0" anchor="ctr"/>
          <a:lstStyle/>
          <a:p>
            <a:pPr indent="0" marL="0">
              <a:buNone/>
            </a:pPr>
            <a:r>
              <a:rPr lang="en-US" sz="850" b="1" spc="200" kern="0" dirty="0">
                <a:solidFill>
                  <a:srgbClr val="18FFFF"/>
                </a:solidFill>
                <a:latin typeface="Montserrat" pitchFamily="34" charset="0"/>
                <a:ea typeface="Montserrat" pitchFamily="34" charset="-122"/>
                <a:cs typeface="Montserrat" pitchFamily="34" charset="-120"/>
              </a:rPr>
              <a:t>DECISION CONTEXT</a:t>
            </a:r>
            <a:endParaRPr lang="en-US" sz="850" dirty="0"/>
          </a:p>
        </p:txBody>
      </p:sp>
      <p:sp>
        <p:nvSpPr>
          <p:cNvPr id="4" name="Text 1"/>
          <p:cNvSpPr/>
          <p:nvPr/>
        </p:nvSpPr>
        <p:spPr>
          <a:xfrm>
            <a:off x="365760" y="512064"/>
            <a:ext cx="8412480" cy="914400"/>
          </a:xfrm>
          <a:prstGeom prst="rect">
            <a:avLst/>
          </a:prstGeom>
          <a:noFill/>
          <a:ln/>
        </p:spPr>
        <p:txBody>
          <a:bodyPr wrap="square" lIns="0" tIns="0" rIns="0" bIns="0" rtlCol="0" anchor="ctr"/>
          <a:lstStyle/>
          <a:p>
            <a:pPr indent="0" marL="0">
              <a:buNone/>
            </a:pPr>
            <a:r>
              <a:rPr lang="en-US" sz="2600" b="1" dirty="0">
                <a:solidFill>
                  <a:srgbClr val="FFFFFF"/>
                </a:solidFill>
                <a:latin typeface="Montserrat" pitchFamily="34" charset="0"/>
                <a:ea typeface="Montserrat" pitchFamily="34" charset="-122"/>
                <a:cs typeface="Montserrat" pitchFamily="34" charset="-120"/>
              </a:rPr>
              <a:t>The design must support more than Sentinel without becoming a plug-in platform.</a:t>
            </a:r>
            <a:endParaRPr lang="en-US" sz="2600" dirty="0"/>
          </a:p>
        </p:txBody>
      </p:sp>
      <p:sp>
        <p:nvSpPr>
          <p:cNvPr id="5" name="Text 2"/>
          <p:cNvSpPr/>
          <p:nvPr/>
        </p:nvSpPr>
        <p:spPr>
          <a:xfrm>
            <a:off x="365760" y="1627632"/>
            <a:ext cx="8412480" cy="256032"/>
          </a:xfrm>
          <a:prstGeom prst="rect">
            <a:avLst/>
          </a:prstGeom>
          <a:noFill/>
          <a:ln/>
        </p:spPr>
        <p:txBody>
          <a:bodyPr wrap="square" lIns="0" tIns="0" rIns="0" bIns="0" rtlCol="0" anchor="t"/>
          <a:lstStyle/>
          <a:p>
            <a:pPr indent="0" marL="0">
              <a:buNone/>
            </a:pPr>
            <a:r>
              <a:rPr lang="en-US" sz="1000" dirty="0">
                <a:solidFill>
                  <a:srgbClr val="E8E8F0"/>
                </a:solidFill>
                <a:latin typeface="Montserrat" pitchFamily="34" charset="0"/>
                <a:ea typeface="Montserrat" pitchFamily="34" charset="-122"/>
                <a:cs typeface="Montserrat" pitchFamily="34" charset="-120"/>
              </a:rPr>
              <a:t>The platform boundary needs to be right before client integrations make it expensive to change.</a:t>
            </a:r>
            <a:endParaRPr lang="en-US" sz="1000" dirty="0"/>
          </a:p>
        </p:txBody>
      </p:sp>
      <p:sp>
        <p:nvSpPr>
          <p:cNvPr id="6" name="Shape 3"/>
          <p:cNvSpPr/>
          <p:nvPr/>
        </p:nvSpPr>
        <p:spPr>
          <a:xfrm>
            <a:off x="365760" y="1993392"/>
            <a:ext cx="4142232" cy="1300734"/>
          </a:xfrm>
          <a:prstGeom prst="rect">
            <a:avLst/>
          </a:prstGeom>
          <a:solidFill>
            <a:srgbClr val="0D1554"/>
          </a:solidFill>
          <a:ln w="12700">
            <a:solidFill>
              <a:srgbClr val="0D1554"/>
            </a:solidFill>
            <a:prstDash val="solid"/>
          </a:ln>
        </p:spPr>
      </p:sp>
      <p:sp>
        <p:nvSpPr>
          <p:cNvPr id="7" name="Shape 4"/>
          <p:cNvSpPr/>
          <p:nvPr/>
        </p:nvSpPr>
        <p:spPr>
          <a:xfrm>
            <a:off x="365760" y="1993392"/>
            <a:ext cx="54864" cy="1300734"/>
          </a:xfrm>
          <a:prstGeom prst="rect">
            <a:avLst/>
          </a:prstGeom>
          <a:solidFill>
            <a:srgbClr val="18FFFF"/>
          </a:solidFill>
          <a:ln w="12700">
            <a:solidFill>
              <a:srgbClr val="18FFFF"/>
            </a:solidFill>
            <a:prstDash val="solid"/>
          </a:ln>
        </p:spPr>
      </p:sp>
      <p:sp>
        <p:nvSpPr>
          <p:cNvPr id="8" name="Text 5"/>
          <p:cNvSpPr/>
          <p:nvPr/>
        </p:nvSpPr>
        <p:spPr>
          <a:xfrm>
            <a:off x="548640" y="2121408"/>
            <a:ext cx="3776472" cy="365760"/>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Sentinel already needs shared foundations</a:t>
            </a:r>
            <a:endParaRPr lang="en-US" sz="1100" dirty="0"/>
          </a:p>
        </p:txBody>
      </p:sp>
      <p:sp>
        <p:nvSpPr>
          <p:cNvPr id="9" name="Text 6"/>
          <p:cNvSpPr/>
          <p:nvPr/>
        </p:nvSpPr>
        <p:spPr>
          <a:xfrm>
            <a:off x="548640" y="2505456"/>
            <a:ext cx="3776472" cy="697230"/>
          </a:xfrm>
          <a:prstGeom prst="rect">
            <a:avLst/>
          </a:prstGeom>
          <a:noFill/>
          <a:ln/>
        </p:spPr>
        <p:txBody>
          <a:bodyPr wrap="square" lIns="0" tIns="0" rIns="0" bIns="0" rtlCol="0" anchor="t"/>
          <a:lstStyle/>
          <a:p>
            <a:pPr indent="0" marL="0">
              <a:buNone/>
            </a:pPr>
            <a:r>
              <a:rPr lang="en-US" sz="1000" dirty="0">
                <a:solidFill>
                  <a:srgbClr val="E8E8F0"/>
                </a:solidFill>
                <a:latin typeface="Montserrat" pitchFamily="34" charset="0"/>
                <a:ea typeface="Montserrat" pitchFamily="34" charset="-122"/>
                <a:cs typeface="Montserrat" pitchFamily="34" charset="-120"/>
              </a:rPr>
              <a:t>Application identity, access control, configuration, jobs, audit, artifacts and a review UI are platform concerns.</a:t>
            </a:r>
            <a:endParaRPr lang="en-US" sz="1000" dirty="0"/>
          </a:p>
        </p:txBody>
      </p:sp>
      <p:sp>
        <p:nvSpPr>
          <p:cNvPr id="10" name="Shape 7"/>
          <p:cNvSpPr/>
          <p:nvPr/>
        </p:nvSpPr>
        <p:spPr>
          <a:xfrm>
            <a:off x="4636008" y="1993392"/>
            <a:ext cx="4142232" cy="1300734"/>
          </a:xfrm>
          <a:prstGeom prst="rect">
            <a:avLst/>
          </a:prstGeom>
          <a:solidFill>
            <a:srgbClr val="0D1554"/>
          </a:solidFill>
          <a:ln w="12700">
            <a:solidFill>
              <a:srgbClr val="0D1554"/>
            </a:solidFill>
            <a:prstDash val="solid"/>
          </a:ln>
        </p:spPr>
      </p:sp>
      <p:sp>
        <p:nvSpPr>
          <p:cNvPr id="11" name="Shape 8"/>
          <p:cNvSpPr/>
          <p:nvPr/>
        </p:nvSpPr>
        <p:spPr>
          <a:xfrm>
            <a:off x="4636008" y="1993392"/>
            <a:ext cx="54864" cy="1300734"/>
          </a:xfrm>
          <a:prstGeom prst="rect">
            <a:avLst/>
          </a:prstGeom>
          <a:solidFill>
            <a:srgbClr val="18FFFF"/>
          </a:solidFill>
          <a:ln w="12700">
            <a:solidFill>
              <a:srgbClr val="18FFFF"/>
            </a:solidFill>
            <a:prstDash val="solid"/>
          </a:ln>
        </p:spPr>
      </p:sp>
      <p:sp>
        <p:nvSpPr>
          <p:cNvPr id="12" name="Text 9"/>
          <p:cNvSpPr/>
          <p:nvPr/>
        </p:nvSpPr>
        <p:spPr>
          <a:xfrm>
            <a:off x="4818888" y="2121408"/>
            <a:ext cx="3776472" cy="365760"/>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The product roadmap adds different capabilities</a:t>
            </a:r>
            <a:endParaRPr lang="en-US" sz="1100" dirty="0"/>
          </a:p>
        </p:txBody>
      </p:sp>
      <p:sp>
        <p:nvSpPr>
          <p:cNvPr id="13" name="Text 10"/>
          <p:cNvSpPr/>
          <p:nvPr/>
        </p:nvSpPr>
        <p:spPr>
          <a:xfrm>
            <a:off x="4818888" y="2505456"/>
            <a:ext cx="3776472" cy="697230"/>
          </a:xfrm>
          <a:prstGeom prst="rect">
            <a:avLst/>
          </a:prstGeom>
          <a:noFill/>
          <a:ln/>
        </p:spPr>
        <p:txBody>
          <a:bodyPr wrap="square" lIns="0" tIns="0" rIns="0" bIns="0" rtlCol="0" anchor="t"/>
          <a:lstStyle/>
          <a:p>
            <a:pPr indent="0" marL="0">
              <a:buNone/>
            </a:pPr>
            <a:r>
              <a:rPr lang="en-US" sz="1000" dirty="0">
                <a:solidFill>
                  <a:srgbClr val="E8E8F0"/>
                </a:solidFill>
                <a:latin typeface="Montserrat" pitchFamily="34" charset="0"/>
                <a:ea typeface="Montserrat" pitchFamily="34" charset="-122"/>
                <a:cs typeface="Montserrat" pitchFamily="34" charset="-120"/>
              </a:rPr>
              <a:t>Dashboard Hub, incident history, analytics and future evaluations do not share Sentinel's domain model.</a:t>
            </a:r>
            <a:endParaRPr lang="en-US" sz="1000" dirty="0"/>
          </a:p>
        </p:txBody>
      </p:sp>
      <p:sp>
        <p:nvSpPr>
          <p:cNvPr id="14" name="Shape 11"/>
          <p:cNvSpPr/>
          <p:nvPr/>
        </p:nvSpPr>
        <p:spPr>
          <a:xfrm>
            <a:off x="365760" y="3403854"/>
            <a:ext cx="4142232" cy="1300734"/>
          </a:xfrm>
          <a:prstGeom prst="rect">
            <a:avLst/>
          </a:prstGeom>
          <a:solidFill>
            <a:srgbClr val="0D1554"/>
          </a:solidFill>
          <a:ln w="12700">
            <a:solidFill>
              <a:srgbClr val="0D1554"/>
            </a:solidFill>
            <a:prstDash val="solid"/>
          </a:ln>
        </p:spPr>
      </p:sp>
      <p:sp>
        <p:nvSpPr>
          <p:cNvPr id="15" name="Shape 12"/>
          <p:cNvSpPr/>
          <p:nvPr/>
        </p:nvSpPr>
        <p:spPr>
          <a:xfrm>
            <a:off x="365760" y="3403854"/>
            <a:ext cx="54864" cy="1300734"/>
          </a:xfrm>
          <a:prstGeom prst="rect">
            <a:avLst/>
          </a:prstGeom>
          <a:solidFill>
            <a:srgbClr val="18FFFF"/>
          </a:solidFill>
          <a:ln w="12700">
            <a:solidFill>
              <a:srgbClr val="18FFFF"/>
            </a:solidFill>
            <a:prstDash val="solid"/>
          </a:ln>
        </p:spPr>
      </p:sp>
      <p:sp>
        <p:nvSpPr>
          <p:cNvPr id="16" name="Text 13"/>
          <p:cNvSpPr/>
          <p:nvPr/>
        </p:nvSpPr>
        <p:spPr>
          <a:xfrm>
            <a:off x="548640" y="3531870"/>
            <a:ext cx="3776472" cy="365760"/>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Clients need different enabled features</a:t>
            </a:r>
            <a:endParaRPr lang="en-US" sz="1100" dirty="0"/>
          </a:p>
        </p:txBody>
      </p:sp>
      <p:sp>
        <p:nvSpPr>
          <p:cNvPr id="17" name="Text 14"/>
          <p:cNvSpPr/>
          <p:nvPr/>
        </p:nvSpPr>
        <p:spPr>
          <a:xfrm>
            <a:off x="548640" y="3915918"/>
            <a:ext cx="3776472" cy="697230"/>
          </a:xfrm>
          <a:prstGeom prst="rect">
            <a:avLst/>
          </a:prstGeom>
          <a:noFill/>
          <a:ln/>
        </p:spPr>
        <p:txBody>
          <a:bodyPr wrap="square" lIns="0" tIns="0" rIns="0" bIns="0" rtlCol="0" anchor="t"/>
          <a:lstStyle/>
          <a:p>
            <a:pPr indent="0" marL="0">
              <a:buNone/>
            </a:pPr>
            <a:r>
              <a:rPr lang="en-US" sz="1000" dirty="0">
                <a:solidFill>
                  <a:srgbClr val="E8E8F0"/>
                </a:solidFill>
                <a:latin typeface="Montserrat" pitchFamily="34" charset="0"/>
                <a:ea typeface="Montserrat" pitchFamily="34" charset="-122"/>
                <a:cs typeface="Montserrat" pitchFamily="34" charset="-120"/>
              </a:rPr>
              <a:t>One supported release must turn modules and providers on or off through environment-backed configuration.</a:t>
            </a:r>
            <a:endParaRPr lang="en-US" sz="1000" dirty="0"/>
          </a:p>
        </p:txBody>
      </p:sp>
      <p:sp>
        <p:nvSpPr>
          <p:cNvPr id="18" name="Shape 15"/>
          <p:cNvSpPr/>
          <p:nvPr/>
        </p:nvSpPr>
        <p:spPr>
          <a:xfrm>
            <a:off x="4636008" y="3403854"/>
            <a:ext cx="4142232" cy="1300734"/>
          </a:xfrm>
          <a:prstGeom prst="rect">
            <a:avLst/>
          </a:prstGeom>
          <a:solidFill>
            <a:srgbClr val="0D1554"/>
          </a:solidFill>
          <a:ln w="12700">
            <a:solidFill>
              <a:srgbClr val="0D1554"/>
            </a:solidFill>
            <a:prstDash val="solid"/>
          </a:ln>
        </p:spPr>
      </p:sp>
      <p:sp>
        <p:nvSpPr>
          <p:cNvPr id="19" name="Shape 16"/>
          <p:cNvSpPr/>
          <p:nvPr/>
        </p:nvSpPr>
        <p:spPr>
          <a:xfrm>
            <a:off x="4636008" y="3403854"/>
            <a:ext cx="54864" cy="1300734"/>
          </a:xfrm>
          <a:prstGeom prst="rect">
            <a:avLst/>
          </a:prstGeom>
          <a:solidFill>
            <a:srgbClr val="18FFFF"/>
          </a:solidFill>
          <a:ln w="12700">
            <a:solidFill>
              <a:srgbClr val="18FFFF"/>
            </a:solidFill>
            <a:prstDash val="solid"/>
          </a:ln>
        </p:spPr>
      </p:sp>
      <p:sp>
        <p:nvSpPr>
          <p:cNvPr id="20" name="Text 17"/>
          <p:cNvSpPr/>
          <p:nvPr/>
        </p:nvSpPr>
        <p:spPr>
          <a:xfrm>
            <a:off x="4818888" y="3531870"/>
            <a:ext cx="3776472" cy="365760"/>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Every client has a different runtime boundary</a:t>
            </a:r>
            <a:endParaRPr lang="en-US" sz="1100" dirty="0"/>
          </a:p>
        </p:txBody>
      </p:sp>
      <p:sp>
        <p:nvSpPr>
          <p:cNvPr id="21" name="Text 18"/>
          <p:cNvSpPr/>
          <p:nvPr/>
        </p:nvSpPr>
        <p:spPr>
          <a:xfrm>
            <a:off x="4818888" y="3915918"/>
            <a:ext cx="3776472" cy="697230"/>
          </a:xfrm>
          <a:prstGeom prst="rect">
            <a:avLst/>
          </a:prstGeom>
          <a:noFill/>
          <a:ln/>
        </p:spPr>
        <p:txBody>
          <a:bodyPr wrap="square" lIns="0" tIns="0" rIns="0" bIns="0" rtlCol="0" anchor="t"/>
          <a:lstStyle/>
          <a:p>
            <a:pPr indent="0" marL="0">
              <a:buNone/>
            </a:pPr>
            <a:r>
              <a:rPr lang="en-US" sz="1000" dirty="0">
                <a:solidFill>
                  <a:srgbClr val="E8E8F0"/>
                </a:solidFill>
                <a:latin typeface="Montserrat" pitchFamily="34" charset="0"/>
                <a:ea typeface="Montserrat" pitchFamily="34" charset="-122"/>
                <a:cs typeface="Montserrat" pitchFamily="34" charset="-120"/>
              </a:rPr>
              <a:t>AWS, PCF and on-prem environments vary in identity, secrets, networking and isolated execution support.</a:t>
            </a:r>
            <a:endParaRPr lang="en-US" sz="1000" dirty="0"/>
          </a:p>
        </p:txBody>
      </p:sp>
      <p:sp>
        <p:nvSpPr>
          <p:cNvPr id="22" name="Text 19"/>
          <p:cNvSpPr/>
          <p:nvPr/>
        </p:nvSpPr>
        <p:spPr>
          <a:xfrm>
            <a:off x="365760" y="4832604"/>
            <a:ext cx="8412480" cy="182880"/>
          </a:xfrm>
          <a:prstGeom prst="rect">
            <a:avLst/>
          </a:prstGeom>
          <a:noFill/>
          <a:ln/>
        </p:spPr>
        <p:txBody>
          <a:bodyPr wrap="square" lIns="0" tIns="0" rIns="0" bIns="0" rtlCol="0" anchor="ctr"/>
          <a:lstStyle/>
          <a:p>
            <a:pPr indent="0" marL="0">
              <a:buNone/>
            </a:pPr>
            <a:r>
              <a:rPr lang="en-US" sz="800" dirty="0">
                <a:solidFill>
                  <a:srgbClr val="8888AA"/>
                </a:solidFill>
                <a:latin typeface="Montserrat" pitchFamily="34" charset="0"/>
                <a:ea typeface="Montserrat" pitchFamily="34" charset="-122"/>
                <a:cs typeface="Montserrat" pitchFamily="34" charset="-120"/>
              </a:rPr>
              <a:t>The target architecture is proposed. No modular product implementation is being claimed as complete.</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40038"/>
        </a:solidFill>
      </p:bgPr>
    </p:bg>
    <p:spTree>
      <p:nvGrpSpPr>
        <p:cNvPr id="1" name=""/>
        <p:cNvGrpSpPr/>
        <p:nvPr/>
      </p:nvGrpSpPr>
      <p:grpSpPr>
        <a:xfrm>
          <a:off x="0" y="0"/>
          <a:ext cx="0" cy="0"/>
          <a:chOff x="0" y="0"/>
          <a:chExt cx="0" cy="0"/>
        </a:xfrm>
      </p:grpSpPr>
      <p:sp>
        <p:nvSpPr>
          <p:cNvPr id="2" name="Text 0"/>
          <p:cNvSpPr/>
          <p:nvPr/>
        </p:nvSpPr>
        <p:spPr>
          <a:xfrm>
            <a:off x="365760" y="256032"/>
            <a:ext cx="8229600" cy="201168"/>
          </a:xfrm>
          <a:prstGeom prst="rect">
            <a:avLst/>
          </a:prstGeom>
          <a:noFill/>
          <a:ln/>
        </p:spPr>
        <p:txBody>
          <a:bodyPr wrap="square" lIns="0" tIns="0" rIns="0" bIns="0" rtlCol="0" anchor="ctr"/>
          <a:lstStyle/>
          <a:p>
            <a:pPr indent="0" marL="0">
              <a:buNone/>
            </a:pPr>
            <a:r>
              <a:rPr lang="en-US" sz="850" b="1" spc="200" kern="0" dirty="0">
                <a:solidFill>
                  <a:srgbClr val="18FFFF"/>
                </a:solidFill>
                <a:latin typeface="Montserrat" pitchFamily="34" charset="0"/>
                <a:ea typeface="Montserrat" pitchFamily="34" charset="-122"/>
                <a:cs typeface="Montserrat" pitchFamily="34" charset="-120"/>
              </a:rPr>
              <a:t>ARCHITECTURE CHOICE</a:t>
            </a:r>
            <a:endParaRPr lang="en-US" sz="850" dirty="0"/>
          </a:p>
        </p:txBody>
      </p:sp>
      <p:sp>
        <p:nvSpPr>
          <p:cNvPr id="3" name="Text 1"/>
          <p:cNvSpPr/>
          <p:nvPr/>
        </p:nvSpPr>
        <p:spPr>
          <a:xfrm>
            <a:off x="365760" y="512064"/>
            <a:ext cx="8412480" cy="658368"/>
          </a:xfrm>
          <a:prstGeom prst="rect">
            <a:avLst/>
          </a:prstGeom>
          <a:noFill/>
          <a:ln/>
        </p:spPr>
        <p:txBody>
          <a:bodyPr wrap="square" lIns="0" tIns="0" rIns="0" bIns="0" rtlCol="0" anchor="ctr"/>
          <a:lstStyle/>
          <a:p>
            <a:pPr indent="0" marL="0">
              <a:buNone/>
            </a:pPr>
            <a:r>
              <a:rPr lang="en-US" sz="2400" b="1" dirty="0">
                <a:solidFill>
                  <a:srgbClr val="FFFFFF"/>
                </a:solidFill>
                <a:latin typeface="Montserrat" pitchFamily="34" charset="0"/>
                <a:ea typeface="Montserrat" pitchFamily="34" charset="-122"/>
                <a:cs typeface="Montserrat" pitchFamily="34" charset="-120"/>
              </a:rPr>
              <a:t>A modular monolith is the lowest-risk starting point.</a:t>
            </a:r>
            <a:endParaRPr lang="en-US" sz="2400" dirty="0"/>
          </a:p>
        </p:txBody>
      </p:sp>
      <p:sp>
        <p:nvSpPr>
          <p:cNvPr id="5" name="Shape 2"/>
          <p:cNvSpPr/>
          <p:nvPr/>
        </p:nvSpPr>
        <p:spPr>
          <a:xfrm>
            <a:off x="365760" y="1243584"/>
            <a:ext cx="8412480" cy="786384"/>
          </a:xfrm>
          <a:prstGeom prst="rect">
            <a:avLst/>
          </a:prstGeom>
          <a:solidFill>
            <a:srgbClr val="0D1554"/>
          </a:solidFill>
          <a:ln w="12700">
            <a:solidFill>
              <a:srgbClr val="18FFFF"/>
            </a:solidFill>
            <a:prstDash val="solid"/>
          </a:ln>
        </p:spPr>
      </p:sp>
      <p:sp>
        <p:nvSpPr>
          <p:cNvPr id="6" name="Shape 3"/>
          <p:cNvSpPr/>
          <p:nvPr/>
        </p:nvSpPr>
        <p:spPr>
          <a:xfrm>
            <a:off x="365760" y="1243584"/>
            <a:ext cx="45720" cy="786384"/>
          </a:xfrm>
          <a:prstGeom prst="rect">
            <a:avLst/>
          </a:prstGeom>
          <a:solidFill>
            <a:srgbClr val="18FFFF"/>
          </a:solidFill>
          <a:ln w="12700">
            <a:solidFill>
              <a:srgbClr val="18FFFF"/>
            </a:solidFill>
            <a:prstDash val="solid"/>
          </a:ln>
        </p:spPr>
      </p:sp>
      <p:sp>
        <p:nvSpPr>
          <p:cNvPr id="7" name="Text 4"/>
          <p:cNvSpPr/>
          <p:nvPr/>
        </p:nvSpPr>
        <p:spPr>
          <a:xfrm>
            <a:off x="493776" y="1298448"/>
            <a:ext cx="8211312" cy="274320"/>
          </a:xfrm>
          <a:prstGeom prst="rect">
            <a:avLst/>
          </a:prstGeom>
          <a:noFill/>
          <a:ln/>
        </p:spPr>
        <p:txBody>
          <a:bodyPr wrap="square" lIns="0" tIns="0" rIns="0" bIns="0" rtlCol="0" anchor="t"/>
          <a:lstStyle/>
          <a:p>
            <a:pPr algn="l" indent="0" marL="0">
              <a:buNone/>
            </a:pPr>
            <a:r>
              <a:rPr lang="en-US" sz="1300" b="1" dirty="0">
                <a:solidFill>
                  <a:srgbClr val="FFFFFF"/>
                </a:solidFill>
                <a:latin typeface="Montserrat" pitchFamily="34" charset="0"/>
                <a:ea typeface="Montserrat" pitchFamily="34" charset="-122"/>
                <a:cs typeface="Montserrat" pitchFamily="34" charset="-120"/>
              </a:rPr>
              <a:t>Recommendation</a:t>
            </a:r>
            <a:endParaRPr lang="en-US" sz="1300" dirty="0"/>
          </a:p>
        </p:txBody>
      </p:sp>
      <p:sp>
        <p:nvSpPr>
          <p:cNvPr id="8" name="Text 5"/>
          <p:cNvSpPr/>
          <p:nvPr/>
        </p:nvSpPr>
        <p:spPr>
          <a:xfrm>
            <a:off x="493776" y="1572768"/>
            <a:ext cx="8211312" cy="384048"/>
          </a:xfrm>
          <a:prstGeom prst="rect">
            <a:avLst/>
          </a:prstGeom>
          <a:noFill/>
          <a:ln/>
        </p:spPr>
        <p:txBody>
          <a:bodyPr wrap="square" lIns="0" tIns="0" rIns="0" bIns="0" rtlCol="0" anchor="t"/>
          <a:lstStyle/>
          <a:p>
            <a:pPr algn="l" indent="0" marL="0">
              <a:buNone/>
            </a:pPr>
            <a:r>
              <a:rPr lang="en-US" sz="920" dirty="0">
                <a:solidFill>
                  <a:srgbClr val="E8E8F0"/>
                </a:solidFill>
                <a:latin typeface="Montserrat" pitchFamily="34" charset="0"/>
                <a:ea typeface="Montserrat" pitchFamily="34" charset="-122"/>
                <a:cs typeface="Montserrat" pitchFamily="34" charset="-120"/>
              </a:rPr>
              <a:t>Make Mission Control the product shell. Compose supported feature modules at build time, enable them at startup, and keep client-specific connectors out of process.</a:t>
            </a:r>
            <a:endParaRPr lang="en-US" sz="920" dirty="0"/>
          </a:p>
        </p:txBody>
      </p:sp>
      <p:sp>
        <p:nvSpPr>
          <p:cNvPr id="9" name="Shape 6"/>
          <p:cNvSpPr/>
          <p:nvPr/>
        </p:nvSpPr>
        <p:spPr>
          <a:xfrm>
            <a:off x="365760" y="2231136"/>
            <a:ext cx="2731008" cy="2212848"/>
          </a:xfrm>
          <a:prstGeom prst="rect">
            <a:avLst/>
          </a:prstGeom>
          <a:solidFill>
            <a:srgbClr val="0D1554"/>
          </a:solidFill>
          <a:ln w="12700">
            <a:solidFill>
              <a:srgbClr val="1A1A6A"/>
            </a:solidFill>
            <a:prstDash val="solid"/>
          </a:ln>
        </p:spPr>
      </p:sp>
      <p:sp>
        <p:nvSpPr>
          <p:cNvPr id="10" name="Text 7"/>
          <p:cNvSpPr/>
          <p:nvPr/>
        </p:nvSpPr>
        <p:spPr>
          <a:xfrm>
            <a:off x="457200" y="2286000"/>
            <a:ext cx="2566416" cy="274320"/>
          </a:xfrm>
          <a:prstGeom prst="rect">
            <a:avLst/>
          </a:prstGeom>
          <a:noFill/>
          <a:ln/>
        </p:spPr>
        <p:txBody>
          <a:bodyPr wrap="square" lIns="0" tIns="0" rIns="0" bIns="0" rtlCol="0" anchor="t"/>
          <a:lstStyle/>
          <a:p>
            <a:pPr algn="l" indent="0" marL="0">
              <a:buNone/>
            </a:pPr>
            <a:r>
              <a:rPr lang="en-US" sz="1150" b="1" dirty="0">
                <a:solidFill>
                  <a:srgbClr val="FFFFFF"/>
                </a:solidFill>
                <a:latin typeface="Montserrat" pitchFamily="34" charset="0"/>
                <a:ea typeface="Montserrat" pitchFamily="34" charset="-122"/>
                <a:cs typeface="Montserrat" pitchFamily="34" charset="-120"/>
              </a:rPr>
              <a:t>A. Sentinel application first</a:t>
            </a:r>
            <a:endParaRPr lang="en-US" sz="1150" dirty="0"/>
          </a:p>
        </p:txBody>
      </p:sp>
      <p:sp>
        <p:nvSpPr>
          <p:cNvPr id="11" name="Text 8"/>
          <p:cNvSpPr/>
          <p:nvPr/>
        </p:nvSpPr>
        <p:spPr>
          <a:xfrm>
            <a:off x="457200" y="2560320"/>
            <a:ext cx="2566416" cy="1810512"/>
          </a:xfrm>
          <a:prstGeom prst="rect">
            <a:avLst/>
          </a:prstGeom>
          <a:noFill/>
          <a:ln/>
        </p:spPr>
        <p:txBody>
          <a:bodyPr wrap="square" lIns="0" tIns="0" rIns="0" bIns="0" rtlCol="0" anchor="t"/>
          <a:lstStyle/>
          <a:p>
            <a:pPr algn="l" indent="0" marL="0">
              <a:buNone/>
            </a:pPr>
            <a:r>
              <a:rPr lang="en-US" sz="900" dirty="0">
                <a:solidFill>
                  <a:srgbClr val="E8E8F0"/>
                </a:solidFill>
                <a:latin typeface="Montserrat" pitchFamily="34" charset="0"/>
                <a:ea typeface="Montserrat" pitchFamily="34" charset="-122"/>
                <a:cs typeface="Montserrat" pitchFamily="34" charset="-120"/>
              </a:rPr>
              <a:t>Fastest initial code path.</a:t>
            </a:r>
            <a:endParaRPr lang="en-US" sz="900" dirty="0"/>
          </a:p>
          <a:p>
            <a:pPr algn="l" indent="0" marL="0">
              <a:buNone/>
            </a:pPr>
            <a:endParaRPr lang="en-US" sz="900" dirty="0"/>
          </a:p>
          <a:p>
            <a:pPr algn="l" indent="0" marL="0">
              <a:buNone/>
            </a:pPr>
            <a:r>
              <a:rPr lang="en-US" sz="900" dirty="0">
                <a:solidFill>
                  <a:srgbClr val="E8E8F0"/>
                </a:solidFill>
                <a:latin typeface="Montserrat" pitchFamily="34" charset="0"/>
                <a:ea typeface="Montserrat" pitchFamily="34" charset="-122"/>
                <a:cs typeface="Montserrat" pitchFamily="34" charset="-120"/>
              </a:rPr>
              <a:t>Catalog, identity, flags and UI must later be extracted.</a:t>
            </a:r>
            <a:endParaRPr lang="en-US" sz="900" dirty="0"/>
          </a:p>
          <a:p>
            <a:pPr algn="l" indent="0" marL="0">
              <a:buNone/>
            </a:pPr>
            <a:endParaRPr lang="en-US" sz="900" dirty="0"/>
          </a:p>
          <a:p>
            <a:pPr algn="l" indent="0" marL="0">
              <a:buNone/>
            </a:pPr>
            <a:r>
              <a:rPr lang="en-US" sz="900" dirty="0">
                <a:solidFill>
                  <a:srgbClr val="E8E8F0"/>
                </a:solidFill>
                <a:latin typeface="Montserrat" pitchFamily="34" charset="0"/>
                <a:ea typeface="Montserrat" pitchFamily="34" charset="-122"/>
                <a:cs typeface="Montserrat" pitchFamily="34" charset="-120"/>
              </a:rPr>
              <a:t>Migration risk rises after client integrations are live.</a:t>
            </a:r>
            <a:endParaRPr lang="en-US" sz="900" dirty="0"/>
          </a:p>
        </p:txBody>
      </p:sp>
      <p:sp>
        <p:nvSpPr>
          <p:cNvPr id="12" name="Shape 9"/>
          <p:cNvSpPr/>
          <p:nvPr/>
        </p:nvSpPr>
        <p:spPr>
          <a:xfrm>
            <a:off x="3206496" y="2231136"/>
            <a:ext cx="2731008" cy="2212848"/>
          </a:xfrm>
          <a:prstGeom prst="rect">
            <a:avLst/>
          </a:prstGeom>
          <a:solidFill>
            <a:srgbClr val="2A4A9E"/>
          </a:solidFill>
          <a:ln w="20320">
            <a:solidFill>
              <a:srgbClr val="18FFFF"/>
            </a:solidFill>
            <a:prstDash val="solid"/>
          </a:ln>
        </p:spPr>
      </p:sp>
      <p:sp>
        <p:nvSpPr>
          <p:cNvPr id="13" name="Shape 10"/>
          <p:cNvSpPr/>
          <p:nvPr/>
        </p:nvSpPr>
        <p:spPr>
          <a:xfrm>
            <a:off x="3206496" y="2231136"/>
            <a:ext cx="45720" cy="2212848"/>
          </a:xfrm>
          <a:prstGeom prst="rect">
            <a:avLst/>
          </a:prstGeom>
          <a:solidFill>
            <a:srgbClr val="18FFFF"/>
          </a:solidFill>
          <a:ln w="12700">
            <a:solidFill>
              <a:srgbClr val="18FFFF"/>
            </a:solidFill>
            <a:prstDash val="solid"/>
          </a:ln>
        </p:spPr>
      </p:sp>
      <p:sp>
        <p:nvSpPr>
          <p:cNvPr id="14" name="Text 11"/>
          <p:cNvSpPr/>
          <p:nvPr/>
        </p:nvSpPr>
        <p:spPr>
          <a:xfrm>
            <a:off x="3334512" y="2286000"/>
            <a:ext cx="2529840" cy="274320"/>
          </a:xfrm>
          <a:prstGeom prst="rect">
            <a:avLst/>
          </a:prstGeom>
          <a:noFill/>
          <a:ln/>
        </p:spPr>
        <p:txBody>
          <a:bodyPr wrap="square" lIns="0" tIns="0" rIns="0" bIns="0" rtlCol="0" anchor="t"/>
          <a:lstStyle/>
          <a:p>
            <a:pPr algn="l" indent="0" marL="0">
              <a:buNone/>
            </a:pPr>
            <a:r>
              <a:rPr lang="en-US" sz="1150" b="1" dirty="0">
                <a:solidFill>
                  <a:srgbClr val="FFFFFF"/>
                </a:solidFill>
                <a:latin typeface="Montserrat" pitchFamily="34" charset="0"/>
                <a:ea typeface="Montserrat" pitchFamily="34" charset="-122"/>
                <a:cs typeface="Montserrat" pitchFamily="34" charset="-120"/>
              </a:rPr>
              <a:t>B. Modular monolith</a:t>
            </a:r>
            <a:endParaRPr lang="en-US" sz="1150" dirty="0"/>
          </a:p>
        </p:txBody>
      </p:sp>
      <p:sp>
        <p:nvSpPr>
          <p:cNvPr id="15" name="Text 12"/>
          <p:cNvSpPr/>
          <p:nvPr/>
        </p:nvSpPr>
        <p:spPr>
          <a:xfrm>
            <a:off x="3334512" y="2560320"/>
            <a:ext cx="2529840" cy="1810512"/>
          </a:xfrm>
          <a:prstGeom prst="rect">
            <a:avLst/>
          </a:prstGeom>
          <a:noFill/>
          <a:ln/>
        </p:spPr>
        <p:txBody>
          <a:bodyPr wrap="square" lIns="0" tIns="0" rIns="0" bIns="0" rtlCol="0" anchor="t"/>
          <a:lstStyle/>
          <a:p>
            <a:pPr algn="l" indent="0" marL="0">
              <a:buNone/>
            </a:pPr>
            <a:r>
              <a:rPr lang="en-US" sz="900" dirty="0">
                <a:solidFill>
                  <a:srgbClr val="E8E8F0"/>
                </a:solidFill>
                <a:latin typeface="Montserrat" pitchFamily="34" charset="0"/>
                <a:ea typeface="Montserrat" pitchFamily="34" charset="-122"/>
                <a:cs typeface="Montserrat" pitchFamily="34" charset="-120"/>
              </a:rPr>
              <a:t>Clear package and data ownership.</a:t>
            </a:r>
            <a:endParaRPr lang="en-US" sz="900" dirty="0"/>
          </a:p>
          <a:p>
            <a:pPr algn="l" indent="0" marL="0">
              <a:buNone/>
            </a:pPr>
            <a:endParaRPr lang="en-US" sz="900" dirty="0"/>
          </a:p>
          <a:p>
            <a:pPr algn="l" indent="0" marL="0">
              <a:buNone/>
            </a:pPr>
            <a:r>
              <a:rPr lang="en-US" sz="900" dirty="0">
                <a:solidFill>
                  <a:srgbClr val="E8E8F0"/>
                </a:solidFill>
                <a:latin typeface="Montserrat" pitchFamily="34" charset="0"/>
                <a:ea typeface="Montserrat" pitchFamily="34" charset="-122"/>
                <a:cs typeface="Montserrat" pitchFamily="34" charset="-120"/>
              </a:rPr>
              <a:t>One supported release and operational model.</a:t>
            </a:r>
            <a:endParaRPr lang="en-US" sz="900" dirty="0"/>
          </a:p>
          <a:p>
            <a:pPr algn="l" indent="0" marL="0">
              <a:buNone/>
            </a:pPr>
            <a:endParaRPr lang="en-US" sz="900" dirty="0"/>
          </a:p>
          <a:p>
            <a:pPr algn="l" indent="0" marL="0">
              <a:buNone/>
            </a:pPr>
            <a:r>
              <a:rPr lang="en-US" sz="900" dirty="0">
                <a:solidFill>
                  <a:srgbClr val="E8E8F0"/>
                </a:solidFill>
                <a:latin typeface="Montserrat" pitchFamily="34" charset="0"/>
                <a:ea typeface="Montserrat" pitchFamily="34" charset="-122"/>
                <a:cs typeface="Montserrat" pitchFamily="34" charset="-120"/>
              </a:rPr>
              <a:t>Boundaries enforced by contracts and tests.</a:t>
            </a:r>
            <a:endParaRPr lang="en-US" sz="900" dirty="0"/>
          </a:p>
        </p:txBody>
      </p:sp>
      <p:sp>
        <p:nvSpPr>
          <p:cNvPr id="16" name="Shape 13"/>
          <p:cNvSpPr/>
          <p:nvPr/>
        </p:nvSpPr>
        <p:spPr>
          <a:xfrm>
            <a:off x="6047232" y="2231136"/>
            <a:ext cx="2731008" cy="2212848"/>
          </a:xfrm>
          <a:prstGeom prst="rect">
            <a:avLst/>
          </a:prstGeom>
          <a:solidFill>
            <a:srgbClr val="0D1554"/>
          </a:solidFill>
          <a:ln w="12700">
            <a:solidFill>
              <a:srgbClr val="1A1A6A"/>
            </a:solidFill>
            <a:prstDash val="solid"/>
          </a:ln>
        </p:spPr>
      </p:sp>
      <p:sp>
        <p:nvSpPr>
          <p:cNvPr id="17" name="Text 14"/>
          <p:cNvSpPr/>
          <p:nvPr/>
        </p:nvSpPr>
        <p:spPr>
          <a:xfrm>
            <a:off x="6138672" y="2286000"/>
            <a:ext cx="2566416" cy="274320"/>
          </a:xfrm>
          <a:prstGeom prst="rect">
            <a:avLst/>
          </a:prstGeom>
          <a:noFill/>
          <a:ln/>
        </p:spPr>
        <p:txBody>
          <a:bodyPr wrap="square" lIns="0" tIns="0" rIns="0" bIns="0" rtlCol="0" anchor="t"/>
          <a:lstStyle/>
          <a:p>
            <a:pPr algn="l" indent="0" marL="0">
              <a:buNone/>
            </a:pPr>
            <a:r>
              <a:rPr lang="en-US" sz="1150" b="1" dirty="0">
                <a:solidFill>
                  <a:srgbClr val="FFFFFF"/>
                </a:solidFill>
                <a:latin typeface="Montserrat" pitchFamily="34" charset="0"/>
                <a:ea typeface="Montserrat" pitchFamily="34" charset="-122"/>
                <a:cs typeface="Montserrat" pitchFamily="34" charset="-120"/>
              </a:rPr>
              <a:t>C. Feature microservices now</a:t>
            </a:r>
            <a:endParaRPr lang="en-US" sz="1150" dirty="0"/>
          </a:p>
        </p:txBody>
      </p:sp>
      <p:sp>
        <p:nvSpPr>
          <p:cNvPr id="18" name="Text 15"/>
          <p:cNvSpPr/>
          <p:nvPr/>
        </p:nvSpPr>
        <p:spPr>
          <a:xfrm>
            <a:off x="6138672" y="2560320"/>
            <a:ext cx="2566416" cy="1810512"/>
          </a:xfrm>
          <a:prstGeom prst="rect">
            <a:avLst/>
          </a:prstGeom>
          <a:noFill/>
          <a:ln/>
        </p:spPr>
        <p:txBody>
          <a:bodyPr wrap="square" lIns="0" tIns="0" rIns="0" bIns="0" rtlCol="0" anchor="t"/>
          <a:lstStyle/>
          <a:p>
            <a:pPr algn="l" indent="0" marL="0">
              <a:buNone/>
            </a:pPr>
            <a:r>
              <a:rPr lang="en-US" sz="900" dirty="0">
                <a:solidFill>
                  <a:srgbClr val="E8E8F0"/>
                </a:solidFill>
                <a:latin typeface="Montserrat" pitchFamily="34" charset="0"/>
                <a:ea typeface="Montserrat" pitchFamily="34" charset="-122"/>
                <a:cs typeface="Montserrat" pitchFamily="34" charset="-120"/>
              </a:rPr>
              <a:t>Strong process isolation.</a:t>
            </a:r>
            <a:endParaRPr lang="en-US" sz="900" dirty="0"/>
          </a:p>
          <a:p>
            <a:pPr algn="l" indent="0" marL="0">
              <a:buNone/>
            </a:pPr>
            <a:endParaRPr lang="en-US" sz="900" dirty="0"/>
          </a:p>
          <a:p>
            <a:pPr algn="l" indent="0" marL="0">
              <a:buNone/>
            </a:pPr>
            <a:r>
              <a:rPr lang="en-US" sz="900" dirty="0">
                <a:solidFill>
                  <a:srgbClr val="E8E8F0"/>
                </a:solidFill>
                <a:latin typeface="Montserrat" pitchFamily="34" charset="0"/>
                <a:ea typeface="Montserrat" pitchFamily="34" charset="-122"/>
                <a:cs typeface="Montserrat" pitchFamily="34" charset="-120"/>
              </a:rPr>
              <a:t>Immediate networking, deployment and versioning cost.</a:t>
            </a:r>
            <a:endParaRPr lang="en-US" sz="900" dirty="0"/>
          </a:p>
          <a:p>
            <a:pPr algn="l" indent="0" marL="0">
              <a:buNone/>
            </a:pPr>
            <a:endParaRPr lang="en-US" sz="900" dirty="0"/>
          </a:p>
          <a:p>
            <a:pPr algn="l" indent="0" marL="0">
              <a:buNone/>
            </a:pPr>
            <a:r>
              <a:rPr lang="en-US" sz="900" dirty="0">
                <a:solidFill>
                  <a:srgbClr val="E8E8F0"/>
                </a:solidFill>
                <a:latin typeface="Montserrat" pitchFamily="34" charset="0"/>
                <a:ea typeface="Montserrat" pitchFamily="34" charset="-122"/>
                <a:cs typeface="Montserrat" pitchFamily="34" charset="-120"/>
              </a:rPr>
              <a:t>Premature while feature boundaries are still being learned.</a:t>
            </a:r>
            <a:endParaRPr lang="en-US" sz="900" dirty="0"/>
          </a:p>
        </p:txBody>
      </p:sp>
      <p:sp>
        <p:nvSpPr>
          <p:cNvPr id="19" name="Text 16"/>
          <p:cNvSpPr/>
          <p:nvPr/>
        </p:nvSpPr>
        <p:spPr>
          <a:xfrm>
            <a:off x="365760" y="4773168"/>
            <a:ext cx="8412480" cy="182880"/>
          </a:xfrm>
          <a:prstGeom prst="rect">
            <a:avLst/>
          </a:prstGeom>
          <a:noFill/>
          <a:ln/>
        </p:spPr>
        <p:txBody>
          <a:bodyPr wrap="square" lIns="0" tIns="0" rIns="0" bIns="0" rtlCol="0" anchor="ctr"/>
          <a:lstStyle/>
          <a:p>
            <a:pPr algn="ctr" indent="0" marL="0">
              <a:buNone/>
            </a:pPr>
            <a:r>
              <a:rPr lang="en-US" sz="750" dirty="0">
                <a:solidFill>
                  <a:srgbClr val="8888AA"/>
                </a:solidFill>
                <a:latin typeface="Montserrat" pitchFamily="34" charset="0"/>
                <a:ea typeface="Montserrat" pitchFamily="34" charset="-122"/>
                <a:cs typeface="Montserrat" pitchFamily="34" charset="-120"/>
              </a:rPr>
              <a:t>Chosen: B. Split services only when scale, release cadence or isolation evidence requires it.</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40038"/>
        </a:solidFill>
      </p:bgPr>
    </p:bg>
    <p:spTree>
      <p:nvGrpSpPr>
        <p:cNvPr id="1" name=""/>
        <p:cNvGrpSpPr/>
        <p:nvPr/>
      </p:nvGrpSpPr>
      <p:grpSpPr>
        <a:xfrm>
          <a:off x="0" y="0"/>
          <a:ext cx="0" cy="0"/>
          <a:chOff x="0" y="0"/>
          <a:chExt cx="0" cy="0"/>
        </a:xfrm>
      </p:grpSpPr>
      <p:sp>
        <p:nvSpPr>
          <p:cNvPr id="2" name="Text 0"/>
          <p:cNvSpPr/>
          <p:nvPr/>
        </p:nvSpPr>
        <p:spPr>
          <a:xfrm>
            <a:off x="365760" y="256032"/>
            <a:ext cx="8229600" cy="201168"/>
          </a:xfrm>
          <a:prstGeom prst="rect">
            <a:avLst/>
          </a:prstGeom>
          <a:noFill/>
          <a:ln/>
        </p:spPr>
        <p:txBody>
          <a:bodyPr wrap="square" lIns="0" tIns="0" rIns="0" bIns="0" rtlCol="0" anchor="ctr"/>
          <a:lstStyle/>
          <a:p>
            <a:pPr indent="0" marL="0">
              <a:buNone/>
            </a:pPr>
            <a:r>
              <a:rPr lang="en-US" sz="850" b="1" spc="200" kern="0" dirty="0">
                <a:solidFill>
                  <a:srgbClr val="18FFFF"/>
                </a:solidFill>
                <a:latin typeface="Montserrat" pitchFamily="34" charset="0"/>
                <a:ea typeface="Montserrat" pitchFamily="34" charset="-122"/>
                <a:cs typeface="Montserrat" pitchFamily="34" charset="-120"/>
              </a:rPr>
              <a:t>LOGICAL ARCHITECTURE</a:t>
            </a:r>
            <a:endParaRPr lang="en-US" sz="850" dirty="0"/>
          </a:p>
        </p:txBody>
      </p:sp>
      <p:sp>
        <p:nvSpPr>
          <p:cNvPr id="3" name="Text 1"/>
          <p:cNvSpPr/>
          <p:nvPr/>
        </p:nvSpPr>
        <p:spPr>
          <a:xfrm>
            <a:off x="365760" y="512064"/>
            <a:ext cx="8412480" cy="658368"/>
          </a:xfrm>
          <a:prstGeom prst="rect">
            <a:avLst/>
          </a:prstGeom>
          <a:noFill/>
          <a:ln/>
        </p:spPr>
        <p:txBody>
          <a:bodyPr wrap="square" lIns="0" tIns="0" rIns="0" bIns="0" rtlCol="0" anchor="ctr"/>
          <a:lstStyle/>
          <a:p>
            <a:pPr indent="0" marL="0">
              <a:buNone/>
            </a:pPr>
            <a:r>
              <a:rPr lang="en-US" sz="2400" b="1" dirty="0">
                <a:solidFill>
                  <a:srgbClr val="FFFFFF"/>
                </a:solidFill>
                <a:latin typeface="Montserrat" pitchFamily="34" charset="0"/>
                <a:ea typeface="Montserrat" pitchFamily="34" charset="-122"/>
                <a:cs typeface="Montserrat" pitchFamily="34" charset="-120"/>
              </a:rPr>
              <a:t>Features, shared capabilities and provider adapters remain separate extension points.</a:t>
            </a:r>
            <a:endParaRPr lang="en-US" sz="2400" dirty="0"/>
          </a:p>
        </p:txBody>
      </p:sp>
      <p:sp>
        <p:nvSpPr>
          <p:cNvPr id="5" name="Text 2"/>
          <p:cNvSpPr/>
          <p:nvPr/>
        </p:nvSpPr>
        <p:spPr>
          <a:xfrm>
            <a:off x="365760" y="1225296"/>
            <a:ext cx="1051560" cy="402336"/>
          </a:xfrm>
          <a:prstGeom prst="rect">
            <a:avLst/>
          </a:prstGeom>
          <a:noFill/>
          <a:ln/>
        </p:spPr>
        <p:txBody>
          <a:bodyPr wrap="square" lIns="0" tIns="0" rIns="0" bIns="0" rtlCol="0" anchor="ctr"/>
          <a:lstStyle/>
          <a:p>
            <a:pPr indent="0" marL="0">
              <a:buNone/>
            </a:pPr>
            <a:r>
              <a:rPr lang="en-US" sz="750" b="1" spc="120" kern="0" dirty="0">
                <a:solidFill>
                  <a:srgbClr val="8888AA"/>
                </a:solidFill>
                <a:latin typeface="Montserrat" pitchFamily="34" charset="0"/>
                <a:ea typeface="Montserrat" pitchFamily="34" charset="-122"/>
                <a:cs typeface="Montserrat" pitchFamily="34" charset="-120"/>
              </a:rPr>
              <a:t>PRODUCT SHELL</a:t>
            </a:r>
            <a:endParaRPr lang="en-US" sz="750" dirty="0"/>
          </a:p>
        </p:txBody>
      </p:sp>
      <p:sp>
        <p:nvSpPr>
          <p:cNvPr id="6" name="Shape 3"/>
          <p:cNvSpPr/>
          <p:nvPr/>
        </p:nvSpPr>
        <p:spPr>
          <a:xfrm>
            <a:off x="1417320" y="1225296"/>
            <a:ext cx="7360920" cy="402336"/>
          </a:xfrm>
          <a:prstGeom prst="rect">
            <a:avLst/>
          </a:prstGeom>
          <a:solidFill>
            <a:srgbClr val="2A4A9E"/>
          </a:solidFill>
          <a:ln w="12700">
            <a:solidFill>
              <a:srgbClr val="18FFFF"/>
            </a:solidFill>
            <a:prstDash val="solid"/>
          </a:ln>
        </p:spPr>
      </p:sp>
      <p:sp>
        <p:nvSpPr>
          <p:cNvPr id="7" name="Text 4"/>
          <p:cNvSpPr/>
          <p:nvPr/>
        </p:nvSpPr>
        <p:spPr>
          <a:xfrm>
            <a:off x="1508760" y="1280160"/>
            <a:ext cx="7196328"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Mission Control web shell + API composition root</a:t>
            </a:r>
            <a:endParaRPr lang="en-US" sz="1200" dirty="0"/>
          </a:p>
        </p:txBody>
      </p:sp>
      <p:sp>
        <p:nvSpPr>
          <p:cNvPr id="8" name="Text 5"/>
          <p:cNvSpPr/>
          <p:nvPr/>
        </p:nvSpPr>
        <p:spPr>
          <a:xfrm>
            <a:off x="4800600" y="1636776"/>
            <a:ext cx="274320" cy="219456"/>
          </a:xfrm>
          <a:prstGeom prst="rect">
            <a:avLst/>
          </a:prstGeom>
          <a:noFill/>
          <a:ln/>
        </p:spPr>
        <p:txBody>
          <a:bodyPr wrap="square" lIns="0" tIns="0" rIns="0" bIns="0" rtlCol="0" anchor="ctr"/>
          <a:lstStyle/>
          <a:p>
            <a:pPr algn="ctr" indent="0" marL="0">
              <a:buNone/>
            </a:pPr>
            <a:r>
              <a:rPr lang="en-US" sz="1500" b="1" dirty="0">
                <a:solidFill>
                  <a:srgbClr val="18FFFF"/>
                </a:solidFill>
                <a:latin typeface="Montserrat" pitchFamily="34" charset="0"/>
                <a:ea typeface="Montserrat" pitchFamily="34" charset="-122"/>
                <a:cs typeface="Montserrat" pitchFamily="34" charset="-120"/>
              </a:rPr>
              <a:t>↓</a:t>
            </a:r>
            <a:endParaRPr lang="en-US" sz="1500" dirty="0"/>
          </a:p>
        </p:txBody>
      </p:sp>
      <p:sp>
        <p:nvSpPr>
          <p:cNvPr id="9" name="Text 6"/>
          <p:cNvSpPr/>
          <p:nvPr/>
        </p:nvSpPr>
        <p:spPr>
          <a:xfrm>
            <a:off x="365760" y="1847088"/>
            <a:ext cx="1051560" cy="530352"/>
          </a:xfrm>
          <a:prstGeom prst="rect">
            <a:avLst/>
          </a:prstGeom>
          <a:noFill/>
          <a:ln/>
        </p:spPr>
        <p:txBody>
          <a:bodyPr wrap="square" lIns="0" tIns="0" rIns="0" bIns="0" rtlCol="0" anchor="ctr"/>
          <a:lstStyle/>
          <a:p>
            <a:pPr indent="0" marL="0">
              <a:buNone/>
            </a:pPr>
            <a:r>
              <a:rPr lang="en-US" sz="750" b="1" spc="120" kern="0" dirty="0">
                <a:solidFill>
                  <a:srgbClr val="8888AA"/>
                </a:solidFill>
                <a:latin typeface="Montserrat" pitchFamily="34" charset="0"/>
                <a:ea typeface="Montserrat" pitchFamily="34" charset="-122"/>
                <a:cs typeface="Montserrat" pitchFamily="34" charset="-120"/>
              </a:rPr>
              <a:t>FEATURE MODULES</a:t>
            </a:r>
            <a:endParaRPr lang="en-US" sz="750" dirty="0"/>
          </a:p>
        </p:txBody>
      </p:sp>
      <p:sp>
        <p:nvSpPr>
          <p:cNvPr id="10" name="Shape 7"/>
          <p:cNvSpPr/>
          <p:nvPr/>
        </p:nvSpPr>
        <p:spPr>
          <a:xfrm>
            <a:off x="1417320" y="1847088"/>
            <a:ext cx="2331720" cy="530352"/>
          </a:xfrm>
          <a:prstGeom prst="rect">
            <a:avLst/>
          </a:prstGeom>
          <a:solidFill>
            <a:srgbClr val="0D1554"/>
          </a:solidFill>
          <a:ln w="20320">
            <a:solidFill>
              <a:srgbClr val="18FFFF"/>
            </a:solidFill>
            <a:prstDash val="solid"/>
          </a:ln>
        </p:spPr>
      </p:sp>
      <p:sp>
        <p:nvSpPr>
          <p:cNvPr id="11" name="Shape 8"/>
          <p:cNvSpPr/>
          <p:nvPr/>
        </p:nvSpPr>
        <p:spPr>
          <a:xfrm>
            <a:off x="1417320" y="1847088"/>
            <a:ext cx="45720" cy="530352"/>
          </a:xfrm>
          <a:prstGeom prst="rect">
            <a:avLst/>
          </a:prstGeom>
          <a:solidFill>
            <a:srgbClr val="18FFFF"/>
          </a:solidFill>
          <a:ln w="12700">
            <a:solidFill>
              <a:srgbClr val="18FFFF"/>
            </a:solidFill>
            <a:prstDash val="solid"/>
          </a:ln>
        </p:spPr>
      </p:sp>
      <p:sp>
        <p:nvSpPr>
          <p:cNvPr id="12" name="Text 9"/>
          <p:cNvSpPr/>
          <p:nvPr/>
        </p:nvSpPr>
        <p:spPr>
          <a:xfrm>
            <a:off x="1545336" y="1901952"/>
            <a:ext cx="2130552" cy="233355"/>
          </a:xfrm>
          <a:prstGeom prst="rect">
            <a:avLst/>
          </a:prstGeom>
          <a:noFill/>
          <a:ln/>
        </p:spPr>
        <p:txBody>
          <a:bodyPr wrap="square" lIns="0" tIns="0" rIns="0" bIns="0" rtlCol="0" anchor="t"/>
          <a:lstStyle/>
          <a:p>
            <a:pPr algn="ctr" indent="0" marL="0">
              <a:buNone/>
            </a:pPr>
            <a:r>
              <a:rPr lang="en-US" sz="1150" b="1" dirty="0">
                <a:solidFill>
                  <a:srgbClr val="FFFFFF"/>
                </a:solidFill>
                <a:latin typeface="Montserrat" pitchFamily="34" charset="0"/>
                <a:ea typeface="Montserrat" pitchFamily="34" charset="-122"/>
                <a:cs typeface="Montserrat" pitchFamily="34" charset="-120"/>
              </a:rPr>
              <a:t>Sentinel</a:t>
            </a:r>
            <a:endParaRPr lang="en-US" sz="1150" dirty="0"/>
          </a:p>
        </p:txBody>
      </p:sp>
      <p:sp>
        <p:nvSpPr>
          <p:cNvPr id="13" name="Text 10"/>
          <p:cNvSpPr/>
          <p:nvPr/>
        </p:nvSpPr>
        <p:spPr>
          <a:xfrm>
            <a:off x="1545336" y="2135307"/>
            <a:ext cx="2130552" cy="168981"/>
          </a:xfrm>
          <a:prstGeom prst="rect">
            <a:avLst/>
          </a:prstGeom>
          <a:noFill/>
          <a:ln/>
        </p:spPr>
        <p:txBody>
          <a:bodyPr wrap="square" lIns="0" tIns="0" rIns="0" bIns="0" rtlCol="0" anchor="t"/>
          <a:lstStyle/>
          <a:p>
            <a:pPr algn="ctr" indent="0" marL="0">
              <a:buNone/>
            </a:pPr>
            <a:r>
              <a:rPr lang="en-US" sz="800" dirty="0">
                <a:solidFill>
                  <a:srgbClr val="E8E8F0"/>
                </a:solidFill>
                <a:latin typeface="Montserrat" pitchFamily="34" charset="0"/>
                <a:ea typeface="Montserrat" pitchFamily="34" charset="-122"/>
                <a:cs typeface="Montserrat" pitchFamily="34" charset="-120"/>
              </a:rPr>
              <a:t>Feature 1</a:t>
            </a:r>
            <a:endParaRPr lang="en-US" sz="800" dirty="0"/>
          </a:p>
        </p:txBody>
      </p:sp>
      <p:sp>
        <p:nvSpPr>
          <p:cNvPr id="14" name="Shape 11"/>
          <p:cNvSpPr/>
          <p:nvPr/>
        </p:nvSpPr>
        <p:spPr>
          <a:xfrm>
            <a:off x="3904488" y="1847088"/>
            <a:ext cx="2331720" cy="530352"/>
          </a:xfrm>
          <a:prstGeom prst="rect">
            <a:avLst/>
          </a:prstGeom>
          <a:solidFill>
            <a:srgbClr val="0D1554"/>
          </a:solidFill>
          <a:ln w="12700">
            <a:solidFill>
              <a:srgbClr val="1A1A6A"/>
            </a:solidFill>
            <a:prstDash val="solid"/>
          </a:ln>
        </p:spPr>
      </p:sp>
      <p:sp>
        <p:nvSpPr>
          <p:cNvPr id="15" name="Text 12"/>
          <p:cNvSpPr/>
          <p:nvPr/>
        </p:nvSpPr>
        <p:spPr>
          <a:xfrm>
            <a:off x="3995928" y="1901952"/>
            <a:ext cx="2167128" cy="233355"/>
          </a:xfrm>
          <a:prstGeom prst="rect">
            <a:avLst/>
          </a:prstGeom>
          <a:noFill/>
          <a:ln/>
        </p:spPr>
        <p:txBody>
          <a:bodyPr wrap="square" lIns="0" tIns="0" rIns="0" bIns="0" rtlCol="0" anchor="t"/>
          <a:lstStyle/>
          <a:p>
            <a:pPr algn="ctr" indent="0" marL="0">
              <a:buNone/>
            </a:pPr>
            <a:r>
              <a:rPr lang="en-US" sz="1150" b="1" dirty="0">
                <a:solidFill>
                  <a:srgbClr val="FFFFFF"/>
                </a:solidFill>
                <a:latin typeface="Montserrat" pitchFamily="34" charset="0"/>
                <a:ea typeface="Montserrat" pitchFamily="34" charset="-122"/>
                <a:cs typeface="Montserrat" pitchFamily="34" charset="-120"/>
              </a:rPr>
              <a:t>Dashboard Hub</a:t>
            </a:r>
            <a:endParaRPr lang="en-US" sz="1150" dirty="0"/>
          </a:p>
        </p:txBody>
      </p:sp>
      <p:sp>
        <p:nvSpPr>
          <p:cNvPr id="16" name="Text 13"/>
          <p:cNvSpPr/>
          <p:nvPr/>
        </p:nvSpPr>
        <p:spPr>
          <a:xfrm>
            <a:off x="3995928" y="2135307"/>
            <a:ext cx="2167128" cy="168981"/>
          </a:xfrm>
          <a:prstGeom prst="rect">
            <a:avLst/>
          </a:prstGeom>
          <a:noFill/>
          <a:ln/>
        </p:spPr>
        <p:txBody>
          <a:bodyPr wrap="square" lIns="0" tIns="0" rIns="0" bIns="0" rtlCol="0" anchor="t"/>
          <a:lstStyle/>
          <a:p>
            <a:pPr algn="ctr" indent="0" marL="0">
              <a:buNone/>
            </a:pPr>
            <a:r>
              <a:rPr lang="en-US" sz="800" dirty="0">
                <a:solidFill>
                  <a:srgbClr val="E8E8F0"/>
                </a:solidFill>
                <a:latin typeface="Montserrat" pitchFamily="34" charset="0"/>
                <a:ea typeface="Montserrat" pitchFamily="34" charset="-122"/>
                <a:cs typeface="Montserrat" pitchFamily="34" charset="-120"/>
              </a:rPr>
              <a:t>Next module</a:t>
            </a:r>
            <a:endParaRPr lang="en-US" sz="800" dirty="0"/>
          </a:p>
        </p:txBody>
      </p:sp>
      <p:sp>
        <p:nvSpPr>
          <p:cNvPr id="17" name="Shape 14"/>
          <p:cNvSpPr/>
          <p:nvPr/>
        </p:nvSpPr>
        <p:spPr>
          <a:xfrm>
            <a:off x="6391656" y="1847088"/>
            <a:ext cx="2386584" cy="530352"/>
          </a:xfrm>
          <a:prstGeom prst="rect">
            <a:avLst/>
          </a:prstGeom>
          <a:solidFill>
            <a:srgbClr val="0D1554"/>
          </a:solidFill>
          <a:ln w="12700">
            <a:solidFill>
              <a:srgbClr val="1A1A6A"/>
            </a:solidFill>
            <a:prstDash val="solid"/>
          </a:ln>
        </p:spPr>
      </p:sp>
      <p:sp>
        <p:nvSpPr>
          <p:cNvPr id="18" name="Text 15"/>
          <p:cNvSpPr/>
          <p:nvPr/>
        </p:nvSpPr>
        <p:spPr>
          <a:xfrm>
            <a:off x="6483096" y="1901952"/>
            <a:ext cx="2221992" cy="233355"/>
          </a:xfrm>
          <a:prstGeom prst="rect">
            <a:avLst/>
          </a:prstGeom>
          <a:noFill/>
          <a:ln/>
        </p:spPr>
        <p:txBody>
          <a:bodyPr wrap="square" lIns="0" tIns="0" rIns="0" bIns="0" rtlCol="0" anchor="t"/>
          <a:lstStyle/>
          <a:p>
            <a:pPr algn="ctr" indent="0" marL="0">
              <a:buNone/>
            </a:pPr>
            <a:r>
              <a:rPr lang="en-US" sz="1150" b="1" dirty="0">
                <a:solidFill>
                  <a:srgbClr val="8888AA"/>
                </a:solidFill>
                <a:latin typeface="Montserrat" pitchFamily="34" charset="0"/>
                <a:ea typeface="Montserrat" pitchFamily="34" charset="-122"/>
                <a:cs typeface="Montserrat" pitchFamily="34" charset="-120"/>
              </a:rPr>
              <a:t>Evaluations</a:t>
            </a:r>
            <a:endParaRPr lang="en-US" sz="1150" dirty="0"/>
          </a:p>
        </p:txBody>
      </p:sp>
      <p:sp>
        <p:nvSpPr>
          <p:cNvPr id="19" name="Text 16"/>
          <p:cNvSpPr/>
          <p:nvPr/>
        </p:nvSpPr>
        <p:spPr>
          <a:xfrm>
            <a:off x="6483096" y="2135307"/>
            <a:ext cx="2221992" cy="168981"/>
          </a:xfrm>
          <a:prstGeom prst="rect">
            <a:avLst/>
          </a:prstGeom>
          <a:noFill/>
          <a:ln/>
        </p:spPr>
        <p:txBody>
          <a:bodyPr wrap="square" lIns="0" tIns="0" rIns="0" bIns="0" rtlCol="0" anchor="t"/>
          <a:lstStyle/>
          <a:p>
            <a:pPr algn="ctr" indent="0" marL="0">
              <a:buNone/>
            </a:pPr>
            <a:r>
              <a:rPr lang="en-US" sz="800" dirty="0">
                <a:solidFill>
                  <a:srgbClr val="8888AA"/>
                </a:solidFill>
                <a:latin typeface="Montserrat" pitchFamily="34" charset="0"/>
                <a:ea typeface="Montserrat" pitchFamily="34" charset="-122"/>
                <a:cs typeface="Montserrat" pitchFamily="34" charset="-120"/>
              </a:rPr>
              <a:t>Future module</a:t>
            </a:r>
            <a:endParaRPr lang="en-US" sz="800" dirty="0"/>
          </a:p>
        </p:txBody>
      </p:sp>
      <p:sp>
        <p:nvSpPr>
          <p:cNvPr id="20" name="Text 17"/>
          <p:cNvSpPr/>
          <p:nvPr/>
        </p:nvSpPr>
        <p:spPr>
          <a:xfrm>
            <a:off x="2450592" y="2395728"/>
            <a:ext cx="274320" cy="219456"/>
          </a:xfrm>
          <a:prstGeom prst="rect">
            <a:avLst/>
          </a:prstGeom>
          <a:noFill/>
          <a:ln/>
        </p:spPr>
        <p:txBody>
          <a:bodyPr wrap="square" lIns="0" tIns="0" rIns="0" bIns="0" rtlCol="0" anchor="ctr"/>
          <a:lstStyle/>
          <a:p>
            <a:pPr algn="ctr" indent="0" marL="0">
              <a:buNone/>
            </a:pPr>
            <a:r>
              <a:rPr lang="en-US" sz="1500" b="1" dirty="0">
                <a:solidFill>
                  <a:srgbClr val="18FFFF"/>
                </a:solidFill>
                <a:latin typeface="Montserrat" pitchFamily="34" charset="0"/>
                <a:ea typeface="Montserrat" pitchFamily="34" charset="-122"/>
                <a:cs typeface="Montserrat" pitchFamily="34" charset="-120"/>
              </a:rPr>
              <a:t>↓</a:t>
            </a:r>
            <a:endParaRPr lang="en-US" sz="1500" dirty="0"/>
          </a:p>
        </p:txBody>
      </p:sp>
      <p:sp>
        <p:nvSpPr>
          <p:cNvPr id="21" name="Text 18"/>
          <p:cNvSpPr/>
          <p:nvPr/>
        </p:nvSpPr>
        <p:spPr>
          <a:xfrm>
            <a:off x="365760" y="2606040"/>
            <a:ext cx="1051560" cy="438912"/>
          </a:xfrm>
          <a:prstGeom prst="rect">
            <a:avLst/>
          </a:prstGeom>
          <a:noFill/>
          <a:ln/>
        </p:spPr>
        <p:txBody>
          <a:bodyPr wrap="square" lIns="0" tIns="0" rIns="0" bIns="0" rtlCol="0" anchor="ctr"/>
          <a:lstStyle/>
          <a:p>
            <a:pPr indent="0" marL="0">
              <a:buNone/>
            </a:pPr>
            <a:r>
              <a:rPr lang="en-US" sz="750" b="1" spc="120" kern="0" dirty="0">
                <a:solidFill>
                  <a:srgbClr val="8888AA"/>
                </a:solidFill>
                <a:latin typeface="Montserrat" pitchFamily="34" charset="0"/>
                <a:ea typeface="Montserrat" pitchFamily="34" charset="-122"/>
                <a:cs typeface="Montserrat" pitchFamily="34" charset="-120"/>
              </a:rPr>
              <a:t>SHARED CAPABILITY</a:t>
            </a:r>
            <a:endParaRPr lang="en-US" sz="750" dirty="0"/>
          </a:p>
        </p:txBody>
      </p:sp>
      <p:sp>
        <p:nvSpPr>
          <p:cNvPr id="22" name="Shape 19"/>
          <p:cNvSpPr/>
          <p:nvPr/>
        </p:nvSpPr>
        <p:spPr>
          <a:xfrm>
            <a:off x="1417320" y="2606040"/>
            <a:ext cx="2331720" cy="438912"/>
          </a:xfrm>
          <a:prstGeom prst="rect">
            <a:avLst/>
          </a:prstGeom>
          <a:solidFill>
            <a:srgbClr val="0D1554"/>
          </a:solidFill>
          <a:ln w="12700">
            <a:solidFill>
              <a:srgbClr val="3D5FBF"/>
            </a:solidFill>
            <a:prstDash val="solid"/>
          </a:ln>
        </p:spPr>
      </p:sp>
      <p:sp>
        <p:nvSpPr>
          <p:cNvPr id="23" name="Text 20"/>
          <p:cNvSpPr/>
          <p:nvPr/>
        </p:nvSpPr>
        <p:spPr>
          <a:xfrm>
            <a:off x="1508760" y="2660904"/>
            <a:ext cx="2167128"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Investigation runtime</a:t>
            </a:r>
            <a:endParaRPr lang="en-US" sz="1050" dirty="0"/>
          </a:p>
        </p:txBody>
      </p:sp>
      <p:sp>
        <p:nvSpPr>
          <p:cNvPr id="24" name="Text 21"/>
          <p:cNvSpPr/>
          <p:nvPr/>
        </p:nvSpPr>
        <p:spPr>
          <a:xfrm>
            <a:off x="4160520" y="2633472"/>
            <a:ext cx="4480560" cy="128016"/>
          </a:xfrm>
          <a:prstGeom prst="rect">
            <a:avLst/>
          </a:prstGeom>
          <a:noFill/>
          <a:ln/>
        </p:spPr>
        <p:txBody>
          <a:bodyPr wrap="square" lIns="0" tIns="0" rIns="0" bIns="0" rtlCol="0" anchor="ctr"/>
          <a:lstStyle/>
          <a:p>
            <a:pPr algn="ctr" indent="0" marL="0">
              <a:buNone/>
            </a:pPr>
            <a:r>
              <a:rPr lang="en-US" sz="720" b="1" spc="110" kern="0" dirty="0">
                <a:solidFill>
                  <a:srgbClr val="18FFFF"/>
                </a:solidFill>
                <a:latin typeface="Montserrat" pitchFamily="34" charset="0"/>
                <a:ea typeface="Montserrat" pitchFamily="34" charset="-122"/>
                <a:cs typeface="Montserrat" pitchFamily="34" charset="-120"/>
              </a:rPr>
              <a:t>PLAYBOOKS + CONFIGURATION</a:t>
            </a:r>
            <a:endParaRPr lang="en-US" sz="720" dirty="0"/>
          </a:p>
        </p:txBody>
      </p:sp>
      <p:sp>
        <p:nvSpPr>
          <p:cNvPr id="25" name="Text 22"/>
          <p:cNvSpPr/>
          <p:nvPr/>
        </p:nvSpPr>
        <p:spPr>
          <a:xfrm>
            <a:off x="4023360" y="2798064"/>
            <a:ext cx="4754880" cy="146304"/>
          </a:xfrm>
          <a:prstGeom prst="rect">
            <a:avLst/>
          </a:prstGeom>
          <a:noFill/>
          <a:ln/>
        </p:spPr>
        <p:txBody>
          <a:bodyPr wrap="square" lIns="0" tIns="0" rIns="0" bIns="0" rtlCol="0" anchor="ctr"/>
          <a:lstStyle/>
          <a:p>
            <a:pPr algn="ctr" indent="0" marL="0">
              <a:buNone/>
            </a:pPr>
            <a:r>
              <a:rPr lang="en-US" sz="820" i="1" dirty="0">
                <a:solidFill>
                  <a:srgbClr val="8888AA"/>
                </a:solidFill>
                <a:latin typeface="Montserrat" pitchFamily="34" charset="0"/>
                <a:ea typeface="Montserrat" pitchFamily="34" charset="-122"/>
                <a:cs typeface="Montserrat" pitchFamily="34" charset="-120"/>
              </a:rPr>
              <a:t>Specialize installed modules without adding executable code.</a:t>
            </a:r>
            <a:endParaRPr lang="en-US" sz="820" dirty="0"/>
          </a:p>
        </p:txBody>
      </p:sp>
      <p:sp>
        <p:nvSpPr>
          <p:cNvPr id="26" name="Text 23"/>
          <p:cNvSpPr/>
          <p:nvPr/>
        </p:nvSpPr>
        <p:spPr>
          <a:xfrm>
            <a:off x="2450592" y="3054096"/>
            <a:ext cx="274320" cy="219456"/>
          </a:xfrm>
          <a:prstGeom prst="rect">
            <a:avLst/>
          </a:prstGeom>
          <a:noFill/>
          <a:ln/>
        </p:spPr>
        <p:txBody>
          <a:bodyPr wrap="square" lIns="0" tIns="0" rIns="0" bIns="0" rtlCol="0" anchor="ctr"/>
          <a:lstStyle/>
          <a:p>
            <a:pPr algn="ctr" indent="0" marL="0">
              <a:buNone/>
            </a:pPr>
            <a:r>
              <a:rPr lang="en-US" sz="1500" b="1" dirty="0">
                <a:solidFill>
                  <a:srgbClr val="18FFFF"/>
                </a:solidFill>
                <a:latin typeface="Montserrat" pitchFamily="34" charset="0"/>
                <a:ea typeface="Montserrat" pitchFamily="34" charset="-122"/>
                <a:cs typeface="Montserrat" pitchFamily="34" charset="-120"/>
              </a:rPr>
              <a:t>↓</a:t>
            </a:r>
            <a:endParaRPr lang="en-US" sz="1500" dirty="0"/>
          </a:p>
        </p:txBody>
      </p:sp>
      <p:sp>
        <p:nvSpPr>
          <p:cNvPr id="27" name="Text 24"/>
          <p:cNvSpPr/>
          <p:nvPr/>
        </p:nvSpPr>
        <p:spPr>
          <a:xfrm>
            <a:off x="3886200" y="3099816"/>
            <a:ext cx="4389120" cy="128016"/>
          </a:xfrm>
          <a:prstGeom prst="rect">
            <a:avLst/>
          </a:prstGeom>
          <a:noFill/>
          <a:ln/>
        </p:spPr>
        <p:txBody>
          <a:bodyPr wrap="square" lIns="0" tIns="0" rIns="0" bIns="0" rtlCol="0" anchor="ctr"/>
          <a:lstStyle/>
          <a:p>
            <a:pPr algn="ctr" indent="0" marL="0">
              <a:buNone/>
            </a:pPr>
            <a:r>
              <a:rPr lang="en-US" sz="680" b="1" spc="110" kern="0" dirty="0">
                <a:solidFill>
                  <a:srgbClr val="8888AA"/>
                </a:solidFill>
                <a:latin typeface="Montserrat" pitchFamily="34" charset="0"/>
                <a:ea typeface="Montserrat" pitchFamily="34" charset="-122"/>
                <a:cs typeface="Montserrat" pitchFamily="34" charset="-120"/>
              </a:rPr>
              <a:t>ALL MODULES USE THE FOUNDATION</a:t>
            </a:r>
            <a:endParaRPr lang="en-US" sz="680" dirty="0"/>
          </a:p>
        </p:txBody>
      </p:sp>
      <p:sp>
        <p:nvSpPr>
          <p:cNvPr id="28" name="Text 25"/>
          <p:cNvSpPr/>
          <p:nvPr/>
        </p:nvSpPr>
        <p:spPr>
          <a:xfrm>
            <a:off x="365760" y="3264408"/>
            <a:ext cx="1051560" cy="530352"/>
          </a:xfrm>
          <a:prstGeom prst="rect">
            <a:avLst/>
          </a:prstGeom>
          <a:noFill/>
          <a:ln/>
        </p:spPr>
        <p:txBody>
          <a:bodyPr wrap="square" lIns="0" tIns="0" rIns="0" bIns="0" rtlCol="0" anchor="ctr"/>
          <a:lstStyle/>
          <a:p>
            <a:pPr indent="0" marL="0">
              <a:buNone/>
            </a:pPr>
            <a:r>
              <a:rPr lang="en-US" sz="750" b="1" spc="120" kern="0" dirty="0">
                <a:solidFill>
                  <a:srgbClr val="8888AA"/>
                </a:solidFill>
                <a:latin typeface="Montserrat" pitchFamily="34" charset="0"/>
                <a:ea typeface="Montserrat" pitchFamily="34" charset="-122"/>
                <a:cs typeface="Montserrat" pitchFamily="34" charset="-120"/>
              </a:rPr>
              <a:t>PLATFORM FOUNDATION</a:t>
            </a:r>
            <a:endParaRPr lang="en-US" sz="750" dirty="0"/>
          </a:p>
        </p:txBody>
      </p:sp>
      <p:sp>
        <p:nvSpPr>
          <p:cNvPr id="29" name="Shape 26"/>
          <p:cNvSpPr/>
          <p:nvPr/>
        </p:nvSpPr>
        <p:spPr>
          <a:xfrm>
            <a:off x="1417320" y="3264408"/>
            <a:ext cx="1413662" cy="530352"/>
          </a:xfrm>
          <a:prstGeom prst="rect">
            <a:avLst/>
          </a:prstGeom>
          <a:solidFill>
            <a:srgbClr val="0D1554"/>
          </a:solidFill>
          <a:ln w="12700">
            <a:solidFill>
              <a:srgbClr val="1A1A6A"/>
            </a:solidFill>
            <a:prstDash val="solid"/>
          </a:ln>
        </p:spPr>
      </p:sp>
      <p:sp>
        <p:nvSpPr>
          <p:cNvPr id="30" name="Text 27"/>
          <p:cNvSpPr/>
          <p:nvPr/>
        </p:nvSpPr>
        <p:spPr>
          <a:xfrm>
            <a:off x="1508760" y="3319272"/>
            <a:ext cx="1249070" cy="457200"/>
          </a:xfrm>
          <a:prstGeom prst="rect">
            <a:avLst/>
          </a:prstGeom>
          <a:noFill/>
          <a:ln/>
        </p:spPr>
        <p:txBody>
          <a:bodyPr wrap="square" lIns="0" tIns="0" rIns="0" bIns="0" rtlCol="0" anchor="ctr"/>
          <a:lstStyle/>
          <a:p>
            <a:pPr algn="ctr" indent="0" marL="0">
              <a:buNone/>
            </a:pPr>
            <a:r>
              <a:rPr lang="en-US" sz="860" b="1" dirty="0">
                <a:solidFill>
                  <a:srgbClr val="FFFFFF"/>
                </a:solidFill>
                <a:latin typeface="Montserrat" pitchFamily="34" charset="0"/>
                <a:ea typeface="Montserrat" pitchFamily="34" charset="-122"/>
                <a:cs typeface="Montserrat" pitchFamily="34" charset="-120"/>
              </a:rPr>
              <a:t>Application catalog</a:t>
            </a:r>
            <a:endParaRPr lang="en-US" sz="860" dirty="0"/>
          </a:p>
        </p:txBody>
      </p:sp>
      <p:sp>
        <p:nvSpPr>
          <p:cNvPr id="31" name="Shape 28"/>
          <p:cNvSpPr/>
          <p:nvPr/>
        </p:nvSpPr>
        <p:spPr>
          <a:xfrm>
            <a:off x="2904134" y="3264408"/>
            <a:ext cx="1413662" cy="530352"/>
          </a:xfrm>
          <a:prstGeom prst="rect">
            <a:avLst/>
          </a:prstGeom>
          <a:solidFill>
            <a:srgbClr val="0D1554"/>
          </a:solidFill>
          <a:ln w="12700">
            <a:solidFill>
              <a:srgbClr val="1A1A6A"/>
            </a:solidFill>
            <a:prstDash val="solid"/>
          </a:ln>
        </p:spPr>
      </p:sp>
      <p:sp>
        <p:nvSpPr>
          <p:cNvPr id="32" name="Text 29"/>
          <p:cNvSpPr/>
          <p:nvPr/>
        </p:nvSpPr>
        <p:spPr>
          <a:xfrm>
            <a:off x="2995574" y="3319272"/>
            <a:ext cx="1249070" cy="457200"/>
          </a:xfrm>
          <a:prstGeom prst="rect">
            <a:avLst/>
          </a:prstGeom>
          <a:noFill/>
          <a:ln/>
        </p:spPr>
        <p:txBody>
          <a:bodyPr wrap="square" lIns="0" tIns="0" rIns="0" bIns="0" rtlCol="0" anchor="ctr"/>
          <a:lstStyle/>
          <a:p>
            <a:pPr algn="ctr" indent="0" marL="0">
              <a:buNone/>
            </a:pPr>
            <a:r>
              <a:rPr lang="en-US" sz="860" b="1" dirty="0">
                <a:solidFill>
                  <a:srgbClr val="FFFFFF"/>
                </a:solidFill>
                <a:latin typeface="Montserrat" pitchFamily="34" charset="0"/>
                <a:ea typeface="Montserrat" pitchFamily="34" charset="-122"/>
                <a:cs typeface="Montserrat" pitchFamily="34" charset="-120"/>
              </a:rPr>
              <a:t>Identity + policy</a:t>
            </a:r>
            <a:endParaRPr lang="en-US" sz="860" dirty="0"/>
          </a:p>
        </p:txBody>
      </p:sp>
      <p:sp>
        <p:nvSpPr>
          <p:cNvPr id="33" name="Shape 30"/>
          <p:cNvSpPr/>
          <p:nvPr/>
        </p:nvSpPr>
        <p:spPr>
          <a:xfrm>
            <a:off x="4390949" y="3264408"/>
            <a:ext cx="1413662" cy="530352"/>
          </a:xfrm>
          <a:prstGeom prst="rect">
            <a:avLst/>
          </a:prstGeom>
          <a:solidFill>
            <a:srgbClr val="0D1554"/>
          </a:solidFill>
          <a:ln w="12700">
            <a:solidFill>
              <a:srgbClr val="1A1A6A"/>
            </a:solidFill>
            <a:prstDash val="solid"/>
          </a:ln>
        </p:spPr>
      </p:sp>
      <p:sp>
        <p:nvSpPr>
          <p:cNvPr id="34" name="Text 31"/>
          <p:cNvSpPr/>
          <p:nvPr/>
        </p:nvSpPr>
        <p:spPr>
          <a:xfrm>
            <a:off x="4482389" y="3319272"/>
            <a:ext cx="1249070" cy="457200"/>
          </a:xfrm>
          <a:prstGeom prst="rect">
            <a:avLst/>
          </a:prstGeom>
          <a:noFill/>
          <a:ln/>
        </p:spPr>
        <p:txBody>
          <a:bodyPr wrap="square" lIns="0" tIns="0" rIns="0" bIns="0" rtlCol="0" anchor="ctr"/>
          <a:lstStyle/>
          <a:p>
            <a:pPr algn="ctr" indent="0" marL="0">
              <a:buNone/>
            </a:pPr>
            <a:r>
              <a:rPr lang="en-US" sz="860" b="1" dirty="0">
                <a:solidFill>
                  <a:srgbClr val="FFFFFF"/>
                </a:solidFill>
                <a:latin typeface="Montserrat" pitchFamily="34" charset="0"/>
                <a:ea typeface="Montserrat" pitchFamily="34" charset="-122"/>
                <a:cs typeface="Montserrat" pitchFamily="34" charset="-120"/>
              </a:rPr>
              <a:t>Jobs + events</a:t>
            </a:r>
            <a:endParaRPr lang="en-US" sz="860" dirty="0"/>
          </a:p>
        </p:txBody>
      </p:sp>
      <p:sp>
        <p:nvSpPr>
          <p:cNvPr id="35" name="Shape 32"/>
          <p:cNvSpPr/>
          <p:nvPr/>
        </p:nvSpPr>
        <p:spPr>
          <a:xfrm>
            <a:off x="5877763" y="3264408"/>
            <a:ext cx="1413662" cy="530352"/>
          </a:xfrm>
          <a:prstGeom prst="rect">
            <a:avLst/>
          </a:prstGeom>
          <a:solidFill>
            <a:srgbClr val="0D1554"/>
          </a:solidFill>
          <a:ln w="12700">
            <a:solidFill>
              <a:srgbClr val="1A1A6A"/>
            </a:solidFill>
            <a:prstDash val="solid"/>
          </a:ln>
        </p:spPr>
      </p:sp>
      <p:sp>
        <p:nvSpPr>
          <p:cNvPr id="36" name="Text 33"/>
          <p:cNvSpPr/>
          <p:nvPr/>
        </p:nvSpPr>
        <p:spPr>
          <a:xfrm>
            <a:off x="5969203" y="3319272"/>
            <a:ext cx="1249070" cy="457200"/>
          </a:xfrm>
          <a:prstGeom prst="rect">
            <a:avLst/>
          </a:prstGeom>
          <a:noFill/>
          <a:ln/>
        </p:spPr>
        <p:txBody>
          <a:bodyPr wrap="square" lIns="0" tIns="0" rIns="0" bIns="0" rtlCol="0" anchor="ctr"/>
          <a:lstStyle/>
          <a:p>
            <a:pPr algn="ctr" indent="0" marL="0">
              <a:buNone/>
            </a:pPr>
            <a:r>
              <a:rPr lang="en-US" sz="860" b="1" dirty="0">
                <a:solidFill>
                  <a:srgbClr val="FFFFFF"/>
                </a:solidFill>
                <a:latin typeface="Montserrat" pitchFamily="34" charset="0"/>
                <a:ea typeface="Montserrat" pitchFamily="34" charset="-122"/>
                <a:cs typeface="Montserrat" pitchFamily="34" charset="-120"/>
              </a:rPr>
              <a:t>Audit + artifacts</a:t>
            </a:r>
            <a:endParaRPr lang="en-US" sz="860" dirty="0"/>
          </a:p>
        </p:txBody>
      </p:sp>
      <p:sp>
        <p:nvSpPr>
          <p:cNvPr id="37" name="Shape 34"/>
          <p:cNvSpPr/>
          <p:nvPr/>
        </p:nvSpPr>
        <p:spPr>
          <a:xfrm>
            <a:off x="7364578" y="3264408"/>
            <a:ext cx="1413662" cy="530352"/>
          </a:xfrm>
          <a:prstGeom prst="rect">
            <a:avLst/>
          </a:prstGeom>
          <a:solidFill>
            <a:srgbClr val="0D1554"/>
          </a:solidFill>
          <a:ln w="12700">
            <a:solidFill>
              <a:srgbClr val="1A1A6A"/>
            </a:solidFill>
            <a:prstDash val="solid"/>
          </a:ln>
        </p:spPr>
      </p:sp>
      <p:sp>
        <p:nvSpPr>
          <p:cNvPr id="38" name="Text 35"/>
          <p:cNvSpPr/>
          <p:nvPr/>
        </p:nvSpPr>
        <p:spPr>
          <a:xfrm>
            <a:off x="7456018" y="3319272"/>
            <a:ext cx="1249070" cy="457200"/>
          </a:xfrm>
          <a:prstGeom prst="rect">
            <a:avLst/>
          </a:prstGeom>
          <a:noFill/>
          <a:ln/>
        </p:spPr>
        <p:txBody>
          <a:bodyPr wrap="square" lIns="0" tIns="0" rIns="0" bIns="0" rtlCol="0" anchor="ctr"/>
          <a:lstStyle/>
          <a:p>
            <a:pPr algn="ctr" indent="0" marL="0">
              <a:buNone/>
            </a:pPr>
            <a:r>
              <a:rPr lang="en-US" sz="860" b="1" dirty="0">
                <a:solidFill>
                  <a:srgbClr val="FFFFFF"/>
                </a:solidFill>
                <a:latin typeface="Montserrat" pitchFamily="34" charset="0"/>
                <a:ea typeface="Montserrat" pitchFamily="34" charset="-122"/>
                <a:cs typeface="Montserrat" pitchFamily="34" charset="-120"/>
              </a:rPr>
              <a:t>Feature flags</a:t>
            </a:r>
            <a:endParaRPr lang="en-US" sz="860" dirty="0"/>
          </a:p>
        </p:txBody>
      </p:sp>
      <p:sp>
        <p:nvSpPr>
          <p:cNvPr id="39" name="Text 36"/>
          <p:cNvSpPr/>
          <p:nvPr/>
        </p:nvSpPr>
        <p:spPr>
          <a:xfrm>
            <a:off x="4800600" y="3803904"/>
            <a:ext cx="274320" cy="219456"/>
          </a:xfrm>
          <a:prstGeom prst="rect">
            <a:avLst/>
          </a:prstGeom>
          <a:noFill/>
          <a:ln/>
        </p:spPr>
        <p:txBody>
          <a:bodyPr wrap="square" lIns="0" tIns="0" rIns="0" bIns="0" rtlCol="0" anchor="ctr"/>
          <a:lstStyle/>
          <a:p>
            <a:pPr algn="ctr" indent="0" marL="0">
              <a:buNone/>
            </a:pPr>
            <a:r>
              <a:rPr lang="en-US" sz="1500" b="1" dirty="0">
                <a:solidFill>
                  <a:srgbClr val="18FFFF"/>
                </a:solidFill>
                <a:latin typeface="Montserrat" pitchFamily="34" charset="0"/>
                <a:ea typeface="Montserrat" pitchFamily="34" charset="-122"/>
                <a:cs typeface="Montserrat" pitchFamily="34" charset="-120"/>
              </a:rPr>
              <a:t>↓</a:t>
            </a:r>
            <a:endParaRPr lang="en-US" sz="1500" dirty="0"/>
          </a:p>
        </p:txBody>
      </p:sp>
      <p:sp>
        <p:nvSpPr>
          <p:cNvPr id="40" name="Text 37"/>
          <p:cNvSpPr/>
          <p:nvPr/>
        </p:nvSpPr>
        <p:spPr>
          <a:xfrm>
            <a:off x="365760" y="4014216"/>
            <a:ext cx="1051560" cy="530352"/>
          </a:xfrm>
          <a:prstGeom prst="rect">
            <a:avLst/>
          </a:prstGeom>
          <a:noFill/>
          <a:ln/>
        </p:spPr>
        <p:txBody>
          <a:bodyPr wrap="square" lIns="0" tIns="0" rIns="0" bIns="0" rtlCol="0" anchor="ctr"/>
          <a:lstStyle/>
          <a:p>
            <a:pPr indent="0" marL="0">
              <a:buNone/>
            </a:pPr>
            <a:r>
              <a:rPr lang="en-US" sz="750" b="1" spc="120" kern="0" dirty="0">
                <a:solidFill>
                  <a:srgbClr val="8888AA"/>
                </a:solidFill>
                <a:latin typeface="Montserrat" pitchFamily="34" charset="0"/>
                <a:ea typeface="Montserrat" pitchFamily="34" charset="-122"/>
                <a:cs typeface="Montserrat" pitchFamily="34" charset="-120"/>
              </a:rPr>
              <a:t>PROVIDER ADAPTERS</a:t>
            </a:r>
            <a:endParaRPr lang="en-US" sz="750" dirty="0"/>
          </a:p>
        </p:txBody>
      </p:sp>
      <p:sp>
        <p:nvSpPr>
          <p:cNvPr id="41" name="Shape 38"/>
          <p:cNvSpPr/>
          <p:nvPr/>
        </p:nvSpPr>
        <p:spPr>
          <a:xfrm>
            <a:off x="1417320" y="4014216"/>
            <a:ext cx="2331720" cy="530352"/>
          </a:xfrm>
          <a:prstGeom prst="rect">
            <a:avLst/>
          </a:prstGeom>
          <a:solidFill>
            <a:srgbClr val="0D1554"/>
          </a:solidFill>
          <a:ln w="12700">
            <a:solidFill>
              <a:srgbClr val="1A1A6A"/>
            </a:solidFill>
            <a:prstDash val="solid"/>
          </a:ln>
        </p:spPr>
      </p:sp>
      <p:sp>
        <p:nvSpPr>
          <p:cNvPr id="42" name="Text 39"/>
          <p:cNvSpPr/>
          <p:nvPr/>
        </p:nvSpPr>
        <p:spPr>
          <a:xfrm>
            <a:off x="1508760" y="4069080"/>
            <a:ext cx="2167128" cy="233355"/>
          </a:xfrm>
          <a:prstGeom prst="rect">
            <a:avLst/>
          </a:prstGeom>
          <a:noFill/>
          <a:ln/>
        </p:spPr>
        <p:txBody>
          <a:bodyPr wrap="square" lIns="0" tIns="0" rIns="0" bIns="0" rtlCol="0" anchor="t"/>
          <a:lstStyle/>
          <a:p>
            <a:pPr algn="ctr" indent="0" marL="0">
              <a:buNone/>
            </a:pPr>
            <a:r>
              <a:rPr lang="en-US" sz="940" b="1" dirty="0">
                <a:solidFill>
                  <a:srgbClr val="FFFFFF"/>
                </a:solidFill>
                <a:latin typeface="Montserrat" pitchFamily="34" charset="0"/>
                <a:ea typeface="Montserrat" pitchFamily="34" charset="-122"/>
                <a:cs typeface="Montserrat" pitchFamily="34" charset="-120"/>
              </a:rPr>
              <a:t>Incident + evidence</a:t>
            </a:r>
            <a:endParaRPr lang="en-US" sz="940" dirty="0"/>
          </a:p>
        </p:txBody>
      </p:sp>
      <p:sp>
        <p:nvSpPr>
          <p:cNvPr id="43" name="Text 40"/>
          <p:cNvSpPr/>
          <p:nvPr/>
        </p:nvSpPr>
        <p:spPr>
          <a:xfrm>
            <a:off x="1508760" y="4302435"/>
            <a:ext cx="2167128" cy="168981"/>
          </a:xfrm>
          <a:prstGeom prst="rect">
            <a:avLst/>
          </a:prstGeom>
          <a:noFill/>
          <a:ln/>
        </p:spPr>
        <p:txBody>
          <a:bodyPr wrap="square" lIns="0" tIns="0" rIns="0" bIns="0" rtlCol="0" anchor="t"/>
          <a:lstStyle/>
          <a:p>
            <a:pPr algn="ctr" indent="0" marL="0">
              <a:buNone/>
            </a:pPr>
            <a:r>
              <a:rPr lang="en-US" sz="760" dirty="0">
                <a:solidFill>
                  <a:srgbClr val="E8E8F0"/>
                </a:solidFill>
                <a:latin typeface="Montserrat" pitchFamily="34" charset="0"/>
                <a:ea typeface="Montserrat" pitchFamily="34" charset="-122"/>
                <a:cs typeface="Montserrat" pitchFamily="34" charset="-120"/>
              </a:rPr>
              <a:t>ServiceNow · Splunk MCP</a:t>
            </a:r>
            <a:endParaRPr lang="en-US" sz="760" dirty="0"/>
          </a:p>
        </p:txBody>
      </p:sp>
      <p:sp>
        <p:nvSpPr>
          <p:cNvPr id="44" name="Shape 41"/>
          <p:cNvSpPr/>
          <p:nvPr/>
        </p:nvSpPr>
        <p:spPr>
          <a:xfrm>
            <a:off x="3904488" y="4014216"/>
            <a:ext cx="2331720" cy="530352"/>
          </a:xfrm>
          <a:prstGeom prst="rect">
            <a:avLst/>
          </a:prstGeom>
          <a:solidFill>
            <a:srgbClr val="0D1554"/>
          </a:solidFill>
          <a:ln w="12700">
            <a:solidFill>
              <a:srgbClr val="1A1A6A"/>
            </a:solidFill>
            <a:prstDash val="solid"/>
          </a:ln>
        </p:spPr>
      </p:sp>
      <p:sp>
        <p:nvSpPr>
          <p:cNvPr id="45" name="Text 42"/>
          <p:cNvSpPr/>
          <p:nvPr/>
        </p:nvSpPr>
        <p:spPr>
          <a:xfrm>
            <a:off x="3995928" y="4069080"/>
            <a:ext cx="2167128" cy="233355"/>
          </a:xfrm>
          <a:prstGeom prst="rect">
            <a:avLst/>
          </a:prstGeom>
          <a:noFill/>
          <a:ln/>
        </p:spPr>
        <p:txBody>
          <a:bodyPr wrap="square" lIns="0" tIns="0" rIns="0" bIns="0" rtlCol="0" anchor="t"/>
          <a:lstStyle/>
          <a:p>
            <a:pPr algn="ctr" indent="0" marL="0">
              <a:buNone/>
            </a:pPr>
            <a:r>
              <a:rPr lang="en-US" sz="940" b="1" dirty="0">
                <a:solidFill>
                  <a:srgbClr val="FFFFFF"/>
                </a:solidFill>
                <a:latin typeface="Montserrat" pitchFamily="34" charset="0"/>
                <a:ea typeface="Montserrat" pitchFamily="34" charset="-122"/>
                <a:cs typeface="Montserrat" pitchFamily="34" charset="-120"/>
              </a:rPr>
              <a:t>Dashboards</a:t>
            </a:r>
            <a:endParaRPr lang="en-US" sz="940" dirty="0"/>
          </a:p>
        </p:txBody>
      </p:sp>
      <p:sp>
        <p:nvSpPr>
          <p:cNvPr id="46" name="Text 43"/>
          <p:cNvSpPr/>
          <p:nvPr/>
        </p:nvSpPr>
        <p:spPr>
          <a:xfrm>
            <a:off x="3995928" y="4302435"/>
            <a:ext cx="2167128" cy="168981"/>
          </a:xfrm>
          <a:prstGeom prst="rect">
            <a:avLst/>
          </a:prstGeom>
          <a:noFill/>
          <a:ln/>
        </p:spPr>
        <p:txBody>
          <a:bodyPr wrap="square" lIns="0" tIns="0" rIns="0" bIns="0" rtlCol="0" anchor="t"/>
          <a:lstStyle/>
          <a:p>
            <a:pPr algn="ctr" indent="0" marL="0">
              <a:buNone/>
            </a:pPr>
            <a:r>
              <a:rPr lang="en-US" sz="760" dirty="0">
                <a:solidFill>
                  <a:srgbClr val="E8E8F0"/>
                </a:solidFill>
                <a:latin typeface="Montserrat" pitchFamily="34" charset="0"/>
                <a:ea typeface="Montserrat" pitchFamily="34" charset="-122"/>
                <a:cs typeface="Montserrat" pitchFamily="34" charset="-120"/>
              </a:rPr>
              <a:t>QuickSight · Tableau</a:t>
            </a:r>
            <a:endParaRPr lang="en-US" sz="760" dirty="0"/>
          </a:p>
        </p:txBody>
      </p:sp>
      <p:sp>
        <p:nvSpPr>
          <p:cNvPr id="47" name="Shape 44"/>
          <p:cNvSpPr/>
          <p:nvPr/>
        </p:nvSpPr>
        <p:spPr>
          <a:xfrm>
            <a:off x="6391656" y="4014216"/>
            <a:ext cx="2386584" cy="530352"/>
          </a:xfrm>
          <a:prstGeom prst="rect">
            <a:avLst/>
          </a:prstGeom>
          <a:solidFill>
            <a:srgbClr val="0D1554"/>
          </a:solidFill>
          <a:ln w="12700">
            <a:solidFill>
              <a:srgbClr val="1A1A6A"/>
            </a:solidFill>
            <a:prstDash val="solid"/>
          </a:ln>
        </p:spPr>
      </p:sp>
      <p:sp>
        <p:nvSpPr>
          <p:cNvPr id="48" name="Text 45"/>
          <p:cNvSpPr/>
          <p:nvPr/>
        </p:nvSpPr>
        <p:spPr>
          <a:xfrm>
            <a:off x="6483096" y="4069080"/>
            <a:ext cx="2221992" cy="233355"/>
          </a:xfrm>
          <a:prstGeom prst="rect">
            <a:avLst/>
          </a:prstGeom>
          <a:noFill/>
          <a:ln/>
        </p:spPr>
        <p:txBody>
          <a:bodyPr wrap="square" lIns="0" tIns="0" rIns="0" bIns="0" rtlCol="0" anchor="t"/>
          <a:lstStyle/>
          <a:p>
            <a:pPr algn="ctr" indent="0" marL="0">
              <a:buNone/>
            </a:pPr>
            <a:r>
              <a:rPr lang="en-US" sz="940" b="1" dirty="0">
                <a:solidFill>
                  <a:srgbClr val="FFFFFF"/>
                </a:solidFill>
                <a:latin typeface="Montserrat" pitchFamily="34" charset="0"/>
                <a:ea typeface="Montserrat" pitchFamily="34" charset="-122"/>
                <a:cs typeface="Montserrat" pitchFamily="34" charset="-120"/>
              </a:rPr>
              <a:t>Platform providers</a:t>
            </a:r>
            <a:endParaRPr lang="en-US" sz="940" dirty="0"/>
          </a:p>
        </p:txBody>
      </p:sp>
      <p:sp>
        <p:nvSpPr>
          <p:cNvPr id="49" name="Text 46"/>
          <p:cNvSpPr/>
          <p:nvPr/>
        </p:nvSpPr>
        <p:spPr>
          <a:xfrm>
            <a:off x="6483096" y="4302435"/>
            <a:ext cx="2221992" cy="168981"/>
          </a:xfrm>
          <a:prstGeom prst="rect">
            <a:avLst/>
          </a:prstGeom>
          <a:noFill/>
          <a:ln/>
        </p:spPr>
        <p:txBody>
          <a:bodyPr wrap="square" lIns="0" tIns="0" rIns="0" bIns="0" rtlCol="0" anchor="t"/>
          <a:lstStyle/>
          <a:p>
            <a:pPr algn="ctr" indent="0" marL="0">
              <a:buNone/>
            </a:pPr>
            <a:r>
              <a:rPr lang="en-US" sz="760" dirty="0">
                <a:solidFill>
                  <a:srgbClr val="E8E8F0"/>
                </a:solidFill>
                <a:latin typeface="Montserrat" pitchFamily="34" charset="0"/>
                <a:ea typeface="Montserrat" pitchFamily="34" charset="-122"/>
                <a:cs typeface="Montserrat" pitchFamily="34" charset="-120"/>
              </a:rPr>
              <a:t>Models · secrets · storage</a:t>
            </a:r>
            <a:endParaRPr lang="en-US" sz="760" dirty="0"/>
          </a:p>
        </p:txBody>
      </p:sp>
      <p:sp>
        <p:nvSpPr>
          <p:cNvPr id="50" name="Text 47"/>
          <p:cNvSpPr/>
          <p:nvPr/>
        </p:nvSpPr>
        <p:spPr>
          <a:xfrm>
            <a:off x="365760" y="4773168"/>
            <a:ext cx="8412480" cy="182880"/>
          </a:xfrm>
          <a:prstGeom prst="rect">
            <a:avLst/>
          </a:prstGeom>
          <a:noFill/>
          <a:ln/>
        </p:spPr>
        <p:txBody>
          <a:bodyPr wrap="square" lIns="0" tIns="0" rIns="0" bIns="0" rtlCol="0" anchor="ctr"/>
          <a:lstStyle/>
          <a:p>
            <a:pPr algn="ctr" indent="0" marL="0">
              <a:buNone/>
            </a:pPr>
            <a:r>
              <a:rPr lang="en-US" sz="750" dirty="0">
                <a:solidFill>
                  <a:srgbClr val="8888AA"/>
                </a:solidFill>
                <a:latin typeface="Montserrat" pitchFamily="34" charset="0"/>
                <a:ea typeface="Montserrat" pitchFamily="34" charset="-122"/>
                <a:cs typeface="Montserrat" pitchFamily="34" charset="-120"/>
              </a:rPr>
              <a:t>Build-time modules · runtime feature flags · out-of-process connectors for client-specific access</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40038"/>
        </a:solidFill>
      </p:bgPr>
    </p:bg>
    <p:spTree>
      <p:nvGrpSpPr>
        <p:cNvPr id="1" name=""/>
        <p:cNvGrpSpPr/>
        <p:nvPr/>
      </p:nvGrpSpPr>
      <p:grpSpPr>
        <a:xfrm>
          <a:off x="0" y="0"/>
          <a:ext cx="0" cy="0"/>
          <a:chOff x="0" y="0"/>
          <a:chExt cx="0" cy="0"/>
        </a:xfrm>
      </p:grpSpPr>
      <p:sp>
        <p:nvSpPr>
          <p:cNvPr id="3" name="Text 0"/>
          <p:cNvSpPr/>
          <p:nvPr/>
        </p:nvSpPr>
        <p:spPr>
          <a:xfrm>
            <a:off x="365760" y="256032"/>
            <a:ext cx="8229600" cy="201168"/>
          </a:xfrm>
          <a:prstGeom prst="rect">
            <a:avLst/>
          </a:prstGeom>
          <a:noFill/>
          <a:ln/>
        </p:spPr>
        <p:txBody>
          <a:bodyPr wrap="square" lIns="0" tIns="0" rIns="0" bIns="0" rtlCol="0" anchor="ctr"/>
          <a:lstStyle/>
          <a:p>
            <a:pPr indent="0" marL="0">
              <a:buNone/>
            </a:pPr>
            <a:r>
              <a:rPr lang="en-US" sz="850" b="1" spc="200" kern="0" dirty="0">
                <a:solidFill>
                  <a:srgbClr val="18FFFF"/>
                </a:solidFill>
                <a:latin typeface="Montserrat" pitchFamily="34" charset="0"/>
                <a:ea typeface="Montserrat" pitchFamily="34" charset="-122"/>
                <a:cs typeface="Montserrat" pitchFamily="34" charset="-120"/>
              </a:rPr>
              <a:t>SHARED OPERATIONAL SPINE</a:t>
            </a:r>
            <a:endParaRPr lang="en-US" sz="850" dirty="0"/>
          </a:p>
        </p:txBody>
      </p:sp>
      <p:sp>
        <p:nvSpPr>
          <p:cNvPr id="4" name="Text 1"/>
          <p:cNvSpPr/>
          <p:nvPr/>
        </p:nvSpPr>
        <p:spPr>
          <a:xfrm>
            <a:off x="365760" y="512064"/>
            <a:ext cx="8412480" cy="914400"/>
          </a:xfrm>
          <a:prstGeom prst="rect">
            <a:avLst/>
          </a:prstGeom>
          <a:noFill/>
          <a:ln/>
        </p:spPr>
        <p:txBody>
          <a:bodyPr wrap="square" lIns="0" tIns="0" rIns="0" bIns="0" rtlCol="0" anchor="ctr"/>
          <a:lstStyle/>
          <a:p>
            <a:pPr indent="0" marL="0">
              <a:buNone/>
            </a:pPr>
            <a:r>
              <a:rPr lang="en-US" sz="2600" b="1" dirty="0">
                <a:solidFill>
                  <a:srgbClr val="FFFFFF"/>
                </a:solidFill>
                <a:latin typeface="Montserrat" pitchFamily="34" charset="0"/>
                <a:ea typeface="Montserrat" pitchFamily="34" charset="-122"/>
                <a:cs typeface="Montserrat" pitchFamily="34" charset="-120"/>
              </a:rPr>
              <a:t>The application catalog connects every capability without merging their domains.</a:t>
            </a:r>
            <a:endParaRPr lang="en-US" sz="2600" dirty="0"/>
          </a:p>
        </p:txBody>
      </p:sp>
      <p:sp>
        <p:nvSpPr>
          <p:cNvPr id="5" name="Text 2"/>
          <p:cNvSpPr/>
          <p:nvPr/>
        </p:nvSpPr>
        <p:spPr>
          <a:xfrm>
            <a:off x="365760" y="1627632"/>
            <a:ext cx="8412480" cy="256032"/>
          </a:xfrm>
          <a:prstGeom prst="rect">
            <a:avLst/>
          </a:prstGeom>
          <a:noFill/>
          <a:ln/>
        </p:spPr>
        <p:txBody>
          <a:bodyPr wrap="square" lIns="0" tIns="0" rIns="0" bIns="0" rtlCol="0" anchor="t"/>
          <a:lstStyle/>
          <a:p>
            <a:pPr indent="0" marL="0">
              <a:buNone/>
            </a:pPr>
            <a:r>
              <a:rPr lang="en-US" sz="1050" dirty="0">
                <a:solidFill>
                  <a:srgbClr val="E8E8F0"/>
                </a:solidFill>
                <a:latin typeface="Montserrat" pitchFamily="34" charset="0"/>
                <a:ea typeface="Montserrat" pitchFamily="34" charset="-122"/>
                <a:cs typeface="Montserrat" pitchFamily="34" charset="-120"/>
              </a:rPr>
              <a:t>Each module attaches its own records to a stable application and environment identity. The platform does not grow one unbounded configuration document.</a:t>
            </a:r>
            <a:endParaRPr lang="en-US" sz="1050" dirty="0"/>
          </a:p>
        </p:txBody>
      </p:sp>
      <p:sp>
        <p:nvSpPr>
          <p:cNvPr id="6" name="Text 3"/>
          <p:cNvSpPr/>
          <p:nvPr/>
        </p:nvSpPr>
        <p:spPr>
          <a:xfrm>
            <a:off x="365760" y="1993392"/>
            <a:ext cx="8412480" cy="219456"/>
          </a:xfrm>
          <a:prstGeom prst="rect">
            <a:avLst/>
          </a:prstGeom>
          <a:noFill/>
          <a:ln/>
        </p:spPr>
        <p:txBody>
          <a:bodyPr wrap="square" lIns="0" tIns="0" rIns="0" bIns="0" rtlCol="0" anchor="ctr"/>
          <a:lstStyle/>
          <a:p>
            <a:pPr indent="0" marL="0">
              <a:buNone/>
            </a:pPr>
            <a:r>
              <a:rPr lang="en-US" sz="900" b="1" spc="150" kern="0" dirty="0">
                <a:solidFill>
                  <a:srgbClr val="18FFFF"/>
                </a:solidFill>
                <a:latin typeface="Montserrat" pitchFamily="34" charset="0"/>
                <a:ea typeface="Montserrat" pitchFamily="34" charset="-122"/>
                <a:cs typeface="Montserrat" pitchFamily="34" charset="-120"/>
              </a:rPr>
              <a:t>PLATFORM OWNS</a:t>
            </a:r>
            <a:endParaRPr lang="en-US" sz="900" dirty="0"/>
          </a:p>
        </p:txBody>
      </p:sp>
      <p:sp>
        <p:nvSpPr>
          <p:cNvPr id="7" name="Shape 4"/>
          <p:cNvSpPr/>
          <p:nvPr/>
        </p:nvSpPr>
        <p:spPr>
          <a:xfrm>
            <a:off x="365760" y="2249424"/>
            <a:ext cx="2749296" cy="1044702"/>
          </a:xfrm>
          <a:prstGeom prst="rect">
            <a:avLst/>
          </a:prstGeom>
          <a:solidFill>
            <a:srgbClr val="0D1554"/>
          </a:solidFill>
          <a:ln w="12700">
            <a:solidFill>
              <a:srgbClr val="0D1554"/>
            </a:solidFill>
            <a:prstDash val="solid"/>
          </a:ln>
        </p:spPr>
      </p:sp>
      <p:sp>
        <p:nvSpPr>
          <p:cNvPr id="8" name="Shape 5"/>
          <p:cNvSpPr/>
          <p:nvPr/>
        </p:nvSpPr>
        <p:spPr>
          <a:xfrm>
            <a:off x="365760" y="2249424"/>
            <a:ext cx="2749296" cy="45720"/>
          </a:xfrm>
          <a:prstGeom prst="rect">
            <a:avLst/>
          </a:prstGeom>
          <a:solidFill>
            <a:srgbClr val="18FFFF"/>
          </a:solidFill>
          <a:ln w="12700">
            <a:solidFill>
              <a:srgbClr val="18FFFF"/>
            </a:solidFill>
            <a:prstDash val="solid"/>
          </a:ln>
        </p:spPr>
      </p:sp>
      <p:sp>
        <p:nvSpPr>
          <p:cNvPr id="9" name="Text 6"/>
          <p:cNvSpPr/>
          <p:nvPr/>
        </p:nvSpPr>
        <p:spPr>
          <a:xfrm>
            <a:off x="493776" y="2359152"/>
            <a:ext cx="2493264" cy="365760"/>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Application identity</a:t>
            </a:r>
            <a:endParaRPr lang="en-US" sz="1200" dirty="0"/>
          </a:p>
        </p:txBody>
      </p:sp>
      <p:sp>
        <p:nvSpPr>
          <p:cNvPr id="10" name="Text 7"/>
          <p:cNvSpPr/>
          <p:nvPr/>
        </p:nvSpPr>
        <p:spPr>
          <a:xfrm>
            <a:off x="493776" y="2743200"/>
            <a:ext cx="2493264" cy="459486"/>
          </a:xfrm>
          <a:prstGeom prst="rect">
            <a:avLst/>
          </a:prstGeom>
          <a:noFill/>
          <a:ln/>
        </p:spPr>
        <p:txBody>
          <a:bodyPr wrap="square" lIns="0" tIns="0" rIns="0" bIns="0" rtlCol="0" anchor="t"/>
          <a:lstStyle/>
          <a:p>
            <a:pPr indent="0" marL="0">
              <a:buNone/>
            </a:pPr>
            <a:r>
              <a:rPr lang="en-US" sz="1000" dirty="0">
                <a:solidFill>
                  <a:srgbClr val="E8E8F0"/>
                </a:solidFill>
                <a:latin typeface="Montserrat" pitchFamily="34" charset="0"/>
                <a:ea typeface="Montserrat" pitchFamily="34" charset="-122"/>
                <a:cs typeface="Montserrat" pitchFamily="34" charset="-120"/>
              </a:rPr>
              <a:t>Stable application, environment and workspace references.</a:t>
            </a:r>
            <a:endParaRPr lang="en-US" sz="1000" dirty="0"/>
          </a:p>
        </p:txBody>
      </p:sp>
      <p:sp>
        <p:nvSpPr>
          <p:cNvPr id="11" name="Shape 8"/>
          <p:cNvSpPr/>
          <p:nvPr/>
        </p:nvSpPr>
        <p:spPr>
          <a:xfrm>
            <a:off x="3197352" y="2249424"/>
            <a:ext cx="2749296" cy="1044702"/>
          </a:xfrm>
          <a:prstGeom prst="rect">
            <a:avLst/>
          </a:prstGeom>
          <a:solidFill>
            <a:srgbClr val="0D1554"/>
          </a:solidFill>
          <a:ln w="12700">
            <a:solidFill>
              <a:srgbClr val="0D1554"/>
            </a:solidFill>
            <a:prstDash val="solid"/>
          </a:ln>
        </p:spPr>
      </p:sp>
      <p:sp>
        <p:nvSpPr>
          <p:cNvPr id="12" name="Shape 9"/>
          <p:cNvSpPr/>
          <p:nvPr/>
        </p:nvSpPr>
        <p:spPr>
          <a:xfrm>
            <a:off x="3197352" y="2249424"/>
            <a:ext cx="2749296" cy="45720"/>
          </a:xfrm>
          <a:prstGeom prst="rect">
            <a:avLst/>
          </a:prstGeom>
          <a:solidFill>
            <a:srgbClr val="18FFFF"/>
          </a:solidFill>
          <a:ln w="12700">
            <a:solidFill>
              <a:srgbClr val="18FFFF"/>
            </a:solidFill>
            <a:prstDash val="solid"/>
          </a:ln>
        </p:spPr>
      </p:sp>
      <p:sp>
        <p:nvSpPr>
          <p:cNvPr id="13" name="Text 10"/>
          <p:cNvSpPr/>
          <p:nvPr/>
        </p:nvSpPr>
        <p:spPr>
          <a:xfrm>
            <a:off x="3325368" y="2359152"/>
            <a:ext cx="2493264" cy="365760"/>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Shared metadata</a:t>
            </a:r>
            <a:endParaRPr lang="en-US" sz="1200" dirty="0"/>
          </a:p>
        </p:txBody>
      </p:sp>
      <p:sp>
        <p:nvSpPr>
          <p:cNvPr id="14" name="Text 11"/>
          <p:cNvSpPr/>
          <p:nvPr/>
        </p:nvSpPr>
        <p:spPr>
          <a:xfrm>
            <a:off x="3325368" y="2743200"/>
            <a:ext cx="2493264" cy="459486"/>
          </a:xfrm>
          <a:prstGeom prst="rect">
            <a:avLst/>
          </a:prstGeom>
          <a:noFill/>
          <a:ln/>
        </p:spPr>
        <p:txBody>
          <a:bodyPr wrap="square" lIns="0" tIns="0" rIns="0" bIns="0" rtlCol="0" anchor="t"/>
          <a:lstStyle/>
          <a:p>
            <a:pPr indent="0" marL="0">
              <a:buNone/>
            </a:pPr>
            <a:r>
              <a:rPr lang="en-US" sz="1000" dirty="0">
                <a:solidFill>
                  <a:srgbClr val="E8E8F0"/>
                </a:solidFill>
                <a:latin typeface="Montserrat" pitchFamily="34" charset="0"/>
                <a:ea typeface="Montserrat" pitchFamily="34" charset="-122"/>
                <a:cs typeface="Montserrat" pitchFamily="34" charset="-120"/>
              </a:rPr>
              <a:t>Owners, tier, lifecycle and authoritative-system references.</a:t>
            </a:r>
            <a:endParaRPr lang="en-US" sz="1000" dirty="0"/>
          </a:p>
        </p:txBody>
      </p:sp>
      <p:sp>
        <p:nvSpPr>
          <p:cNvPr id="15" name="Shape 12"/>
          <p:cNvSpPr/>
          <p:nvPr/>
        </p:nvSpPr>
        <p:spPr>
          <a:xfrm>
            <a:off x="6028944" y="2249424"/>
            <a:ext cx="2749296" cy="1044702"/>
          </a:xfrm>
          <a:prstGeom prst="rect">
            <a:avLst/>
          </a:prstGeom>
          <a:solidFill>
            <a:srgbClr val="0D1554"/>
          </a:solidFill>
          <a:ln w="12700">
            <a:solidFill>
              <a:srgbClr val="0D1554"/>
            </a:solidFill>
            <a:prstDash val="solid"/>
          </a:ln>
        </p:spPr>
      </p:sp>
      <p:sp>
        <p:nvSpPr>
          <p:cNvPr id="16" name="Shape 13"/>
          <p:cNvSpPr/>
          <p:nvPr/>
        </p:nvSpPr>
        <p:spPr>
          <a:xfrm>
            <a:off x="6028944" y="2249424"/>
            <a:ext cx="2749296" cy="45720"/>
          </a:xfrm>
          <a:prstGeom prst="rect">
            <a:avLst/>
          </a:prstGeom>
          <a:solidFill>
            <a:srgbClr val="18FFFF"/>
          </a:solidFill>
          <a:ln w="12700">
            <a:solidFill>
              <a:srgbClr val="18FFFF"/>
            </a:solidFill>
            <a:prstDash val="solid"/>
          </a:ln>
        </p:spPr>
      </p:sp>
      <p:sp>
        <p:nvSpPr>
          <p:cNvPr id="17" name="Text 14"/>
          <p:cNvSpPr/>
          <p:nvPr/>
        </p:nvSpPr>
        <p:spPr>
          <a:xfrm>
            <a:off x="6156960" y="2359152"/>
            <a:ext cx="2493264" cy="365760"/>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Provenance</a:t>
            </a:r>
            <a:endParaRPr lang="en-US" sz="1200" dirty="0"/>
          </a:p>
        </p:txBody>
      </p:sp>
      <p:sp>
        <p:nvSpPr>
          <p:cNvPr id="18" name="Text 15"/>
          <p:cNvSpPr/>
          <p:nvPr/>
        </p:nvSpPr>
        <p:spPr>
          <a:xfrm>
            <a:off x="6156960" y="2743200"/>
            <a:ext cx="2493264" cy="459486"/>
          </a:xfrm>
          <a:prstGeom prst="rect">
            <a:avLst/>
          </a:prstGeom>
          <a:noFill/>
          <a:ln/>
        </p:spPr>
        <p:txBody>
          <a:bodyPr wrap="square" lIns="0" tIns="0" rIns="0" bIns="0" rtlCol="0" anchor="t"/>
          <a:lstStyle/>
          <a:p>
            <a:pPr indent="0" marL="0">
              <a:buNone/>
            </a:pPr>
            <a:r>
              <a:rPr lang="en-US" sz="1000" dirty="0">
                <a:solidFill>
                  <a:srgbClr val="E8E8F0"/>
                </a:solidFill>
                <a:latin typeface="Montserrat" pitchFamily="34" charset="0"/>
                <a:ea typeface="Montserrat" pitchFamily="34" charset="-122"/>
                <a:cs typeface="Montserrat" pitchFamily="34" charset="-120"/>
              </a:rPr>
              <a:t>Records which values are owned, configured or mirrored.</a:t>
            </a:r>
            <a:endParaRPr lang="en-US" sz="1000" dirty="0"/>
          </a:p>
        </p:txBody>
      </p:sp>
      <p:sp>
        <p:nvSpPr>
          <p:cNvPr id="19" name="Text 16"/>
          <p:cNvSpPr/>
          <p:nvPr/>
        </p:nvSpPr>
        <p:spPr>
          <a:xfrm>
            <a:off x="365760" y="3403854"/>
            <a:ext cx="8412480" cy="219456"/>
          </a:xfrm>
          <a:prstGeom prst="rect">
            <a:avLst/>
          </a:prstGeom>
          <a:noFill/>
          <a:ln/>
        </p:spPr>
        <p:txBody>
          <a:bodyPr wrap="square" lIns="0" tIns="0" rIns="0" bIns="0" rtlCol="0" anchor="ctr"/>
          <a:lstStyle/>
          <a:p>
            <a:pPr indent="0" marL="0">
              <a:buNone/>
            </a:pPr>
            <a:r>
              <a:rPr lang="en-US" sz="900" b="1" spc="150" kern="0" dirty="0">
                <a:solidFill>
                  <a:srgbClr val="18FFFF"/>
                </a:solidFill>
                <a:latin typeface="Montserrat" pitchFamily="34" charset="0"/>
                <a:ea typeface="Montserrat" pitchFamily="34" charset="-122"/>
                <a:cs typeface="Montserrat" pitchFamily="34" charset="-120"/>
              </a:rPr>
              <a:t>MODULES ATTACH</a:t>
            </a:r>
            <a:endParaRPr lang="en-US" sz="900" dirty="0"/>
          </a:p>
        </p:txBody>
      </p:sp>
      <p:sp>
        <p:nvSpPr>
          <p:cNvPr id="20" name="Shape 17"/>
          <p:cNvSpPr/>
          <p:nvPr/>
        </p:nvSpPr>
        <p:spPr>
          <a:xfrm>
            <a:off x="365760" y="3659886"/>
            <a:ext cx="2749296" cy="1044702"/>
          </a:xfrm>
          <a:prstGeom prst="rect">
            <a:avLst/>
          </a:prstGeom>
          <a:solidFill>
            <a:srgbClr val="0D1554"/>
          </a:solidFill>
          <a:ln w="12700">
            <a:solidFill>
              <a:srgbClr val="0D1554"/>
            </a:solidFill>
            <a:prstDash val="solid"/>
          </a:ln>
        </p:spPr>
      </p:sp>
      <p:sp>
        <p:nvSpPr>
          <p:cNvPr id="21" name="Shape 18"/>
          <p:cNvSpPr/>
          <p:nvPr/>
        </p:nvSpPr>
        <p:spPr>
          <a:xfrm>
            <a:off x="365760" y="3659886"/>
            <a:ext cx="2749296" cy="45720"/>
          </a:xfrm>
          <a:prstGeom prst="rect">
            <a:avLst/>
          </a:prstGeom>
          <a:solidFill>
            <a:srgbClr val="18FFFF"/>
          </a:solidFill>
          <a:ln w="12700">
            <a:solidFill>
              <a:srgbClr val="18FFFF"/>
            </a:solidFill>
            <a:prstDash val="solid"/>
          </a:ln>
        </p:spPr>
      </p:sp>
      <p:sp>
        <p:nvSpPr>
          <p:cNvPr id="22" name="Text 19"/>
          <p:cNvSpPr/>
          <p:nvPr/>
        </p:nvSpPr>
        <p:spPr>
          <a:xfrm>
            <a:off x="493776" y="3769614"/>
            <a:ext cx="2493264" cy="365760"/>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Sentinel</a:t>
            </a:r>
            <a:endParaRPr lang="en-US" sz="1200" dirty="0"/>
          </a:p>
        </p:txBody>
      </p:sp>
      <p:sp>
        <p:nvSpPr>
          <p:cNvPr id="23" name="Text 20"/>
          <p:cNvSpPr/>
          <p:nvPr/>
        </p:nvSpPr>
        <p:spPr>
          <a:xfrm>
            <a:off x="493776" y="4153662"/>
            <a:ext cx="2493264" cy="459486"/>
          </a:xfrm>
          <a:prstGeom prst="rect">
            <a:avLst/>
          </a:prstGeom>
          <a:noFill/>
          <a:ln/>
        </p:spPr>
        <p:txBody>
          <a:bodyPr wrap="square" lIns="0" tIns="0" rIns="0" bIns="0" rtlCol="0" anchor="t"/>
          <a:lstStyle/>
          <a:p>
            <a:pPr indent="0" marL="0">
              <a:buNone/>
            </a:pPr>
            <a:r>
              <a:rPr lang="en-US" sz="1000" dirty="0">
                <a:solidFill>
                  <a:srgbClr val="E8E8F0"/>
                </a:solidFill>
                <a:latin typeface="Montserrat" pitchFamily="34" charset="0"/>
                <a:ea typeface="Montserrat" pitchFamily="34" charset="-122"/>
                <a:cs typeface="Montserrat" pitchFamily="34" charset="-120"/>
              </a:rPr>
              <a:t>Signals, playbooks, evidence sources, cases and findings.</a:t>
            </a:r>
            <a:endParaRPr lang="en-US" sz="1000" dirty="0"/>
          </a:p>
        </p:txBody>
      </p:sp>
      <p:sp>
        <p:nvSpPr>
          <p:cNvPr id="24" name="Shape 21"/>
          <p:cNvSpPr/>
          <p:nvPr/>
        </p:nvSpPr>
        <p:spPr>
          <a:xfrm>
            <a:off x="3197352" y="3659886"/>
            <a:ext cx="2749296" cy="1044702"/>
          </a:xfrm>
          <a:prstGeom prst="rect">
            <a:avLst/>
          </a:prstGeom>
          <a:solidFill>
            <a:srgbClr val="0D1554"/>
          </a:solidFill>
          <a:ln w="12700">
            <a:solidFill>
              <a:srgbClr val="0D1554"/>
            </a:solidFill>
            <a:prstDash val="solid"/>
          </a:ln>
        </p:spPr>
      </p:sp>
      <p:sp>
        <p:nvSpPr>
          <p:cNvPr id="25" name="Shape 22"/>
          <p:cNvSpPr/>
          <p:nvPr/>
        </p:nvSpPr>
        <p:spPr>
          <a:xfrm>
            <a:off x="3197352" y="3659886"/>
            <a:ext cx="2749296" cy="45720"/>
          </a:xfrm>
          <a:prstGeom prst="rect">
            <a:avLst/>
          </a:prstGeom>
          <a:solidFill>
            <a:srgbClr val="18FFFF"/>
          </a:solidFill>
          <a:ln w="12700">
            <a:solidFill>
              <a:srgbClr val="18FFFF"/>
            </a:solidFill>
            <a:prstDash val="solid"/>
          </a:ln>
        </p:spPr>
      </p:sp>
      <p:sp>
        <p:nvSpPr>
          <p:cNvPr id="26" name="Text 23"/>
          <p:cNvSpPr/>
          <p:nvPr/>
        </p:nvSpPr>
        <p:spPr>
          <a:xfrm>
            <a:off x="3325368" y="3769614"/>
            <a:ext cx="2493264" cy="365760"/>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Dashboard Hub</a:t>
            </a:r>
            <a:endParaRPr lang="en-US" sz="1200" dirty="0"/>
          </a:p>
        </p:txBody>
      </p:sp>
      <p:sp>
        <p:nvSpPr>
          <p:cNvPr id="27" name="Text 24"/>
          <p:cNvSpPr/>
          <p:nvPr/>
        </p:nvSpPr>
        <p:spPr>
          <a:xfrm>
            <a:off x="3325368" y="4153662"/>
            <a:ext cx="2493264" cy="459486"/>
          </a:xfrm>
          <a:prstGeom prst="rect">
            <a:avLst/>
          </a:prstGeom>
          <a:noFill/>
          <a:ln/>
        </p:spPr>
        <p:txBody>
          <a:bodyPr wrap="square" lIns="0" tIns="0" rIns="0" bIns="0" rtlCol="0" anchor="t"/>
          <a:lstStyle/>
          <a:p>
            <a:pPr indent="0" marL="0">
              <a:buNone/>
            </a:pPr>
            <a:r>
              <a:rPr lang="en-US" sz="1000" dirty="0">
                <a:solidFill>
                  <a:srgbClr val="E8E8F0"/>
                </a:solidFill>
                <a:latin typeface="Montserrat" pitchFamily="34" charset="0"/>
                <a:ea typeface="Montserrat" pitchFamily="34" charset="-122"/>
                <a:cs typeface="Montserrat" pitchFamily="34" charset="-120"/>
              </a:rPr>
              <a:t>QuickSight and Tableau bindings per application.</a:t>
            </a:r>
            <a:endParaRPr lang="en-US" sz="1000" dirty="0"/>
          </a:p>
        </p:txBody>
      </p:sp>
      <p:sp>
        <p:nvSpPr>
          <p:cNvPr id="28" name="Shape 25"/>
          <p:cNvSpPr/>
          <p:nvPr/>
        </p:nvSpPr>
        <p:spPr>
          <a:xfrm>
            <a:off x="6028944" y="3659886"/>
            <a:ext cx="2749296" cy="1044702"/>
          </a:xfrm>
          <a:prstGeom prst="rect">
            <a:avLst/>
          </a:prstGeom>
          <a:solidFill>
            <a:srgbClr val="0D1554"/>
          </a:solidFill>
          <a:ln w="12700">
            <a:solidFill>
              <a:srgbClr val="0D1554"/>
            </a:solidFill>
            <a:prstDash val="solid"/>
          </a:ln>
        </p:spPr>
      </p:sp>
      <p:sp>
        <p:nvSpPr>
          <p:cNvPr id="29" name="Shape 26"/>
          <p:cNvSpPr/>
          <p:nvPr/>
        </p:nvSpPr>
        <p:spPr>
          <a:xfrm>
            <a:off x="6028944" y="3659886"/>
            <a:ext cx="2749296" cy="45720"/>
          </a:xfrm>
          <a:prstGeom prst="rect">
            <a:avLst/>
          </a:prstGeom>
          <a:solidFill>
            <a:srgbClr val="18FFFF"/>
          </a:solidFill>
          <a:ln w="12700">
            <a:solidFill>
              <a:srgbClr val="18FFFF"/>
            </a:solidFill>
            <a:prstDash val="solid"/>
          </a:ln>
        </p:spPr>
      </p:sp>
      <p:sp>
        <p:nvSpPr>
          <p:cNvPr id="30" name="Text 27"/>
          <p:cNvSpPr/>
          <p:nvPr/>
        </p:nvSpPr>
        <p:spPr>
          <a:xfrm>
            <a:off x="6156960" y="3769614"/>
            <a:ext cx="2493264" cy="365760"/>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Future modules</a:t>
            </a:r>
            <a:endParaRPr lang="en-US" sz="1200" dirty="0"/>
          </a:p>
        </p:txBody>
      </p:sp>
      <p:sp>
        <p:nvSpPr>
          <p:cNvPr id="31" name="Text 28"/>
          <p:cNvSpPr/>
          <p:nvPr/>
        </p:nvSpPr>
        <p:spPr>
          <a:xfrm>
            <a:off x="6156960" y="4153662"/>
            <a:ext cx="2493264" cy="459486"/>
          </a:xfrm>
          <a:prstGeom prst="rect">
            <a:avLst/>
          </a:prstGeom>
          <a:noFill/>
          <a:ln/>
        </p:spPr>
        <p:txBody>
          <a:bodyPr wrap="square" lIns="0" tIns="0" rIns="0" bIns="0" rtlCol="0" anchor="t"/>
          <a:lstStyle/>
          <a:p>
            <a:pPr indent="0" marL="0">
              <a:buNone/>
            </a:pPr>
            <a:r>
              <a:rPr lang="en-US" sz="1000" dirty="0">
                <a:solidFill>
                  <a:srgbClr val="E8E8F0"/>
                </a:solidFill>
                <a:latin typeface="Montserrat" pitchFamily="34" charset="0"/>
                <a:ea typeface="Montserrat" pitchFamily="34" charset="-122"/>
                <a:cs typeface="Montserrat" pitchFamily="34" charset="-120"/>
              </a:rPr>
              <a:t>Evaluation, documentation and analytics data in their own schemas.</a:t>
            </a:r>
            <a:endParaRPr lang="en-US" sz="1000" dirty="0"/>
          </a:p>
        </p:txBody>
      </p:sp>
      <p:sp>
        <p:nvSpPr>
          <p:cNvPr id="32" name="Text 29"/>
          <p:cNvSpPr/>
          <p:nvPr/>
        </p:nvSpPr>
        <p:spPr>
          <a:xfrm>
            <a:off x="365760" y="4832604"/>
            <a:ext cx="8412480" cy="182880"/>
          </a:xfrm>
          <a:prstGeom prst="rect">
            <a:avLst/>
          </a:prstGeom>
          <a:noFill/>
          <a:ln/>
        </p:spPr>
        <p:txBody>
          <a:bodyPr wrap="square" lIns="0" tIns="0" rIns="0" bIns="0" rtlCol="0" anchor="ctr"/>
          <a:lstStyle/>
          <a:p>
            <a:pPr indent="0" marL="0">
              <a:buNone/>
            </a:pPr>
            <a:r>
              <a:rPr lang="en-US" sz="800" dirty="0">
                <a:solidFill>
                  <a:srgbClr val="8888AA"/>
                </a:solidFill>
                <a:latin typeface="Montserrat" pitchFamily="34" charset="0"/>
                <a:ea typeface="Montserrat" pitchFamily="34" charset="-122"/>
                <a:cs typeface="Montserrat" pitchFamily="34" charset="-120"/>
              </a:rPr>
              <a:t>Modules can reference platform IDs. They cannot write another module's tables.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40038"/>
        </a:solidFill>
      </p:bgPr>
    </p:bg>
    <p:spTree>
      <p:nvGrpSpPr>
        <p:cNvPr id="1" name=""/>
        <p:cNvGrpSpPr/>
        <p:nvPr/>
      </p:nvGrpSpPr>
      <p:grpSpPr>
        <a:xfrm>
          <a:off x="0" y="0"/>
          <a:ext cx="0" cy="0"/>
          <a:chOff x="0" y="0"/>
          <a:chExt cx="0" cy="0"/>
        </a:xfrm>
      </p:grpSpPr>
      <p:sp>
        <p:nvSpPr>
          <p:cNvPr id="3" name="Text 0"/>
          <p:cNvSpPr/>
          <p:nvPr/>
        </p:nvSpPr>
        <p:spPr>
          <a:xfrm>
            <a:off x="365760" y="256032"/>
            <a:ext cx="8229600" cy="201168"/>
          </a:xfrm>
          <a:prstGeom prst="rect">
            <a:avLst/>
          </a:prstGeom>
          <a:noFill/>
          <a:ln/>
        </p:spPr>
        <p:txBody>
          <a:bodyPr wrap="square" lIns="0" tIns="0" rIns="0" bIns="0" rtlCol="0" anchor="ctr"/>
          <a:lstStyle/>
          <a:p>
            <a:pPr indent="0" marL="0">
              <a:buNone/>
            </a:pPr>
            <a:r>
              <a:rPr lang="en-US" sz="850" b="1" spc="200" kern="0" dirty="0">
                <a:solidFill>
                  <a:srgbClr val="18FFFF"/>
                </a:solidFill>
                <a:latin typeface="Montserrat" pitchFamily="34" charset="0"/>
                <a:ea typeface="Montserrat" pitchFamily="34" charset="-122"/>
                <a:cs typeface="Montserrat" pitchFamily="34" charset="-120"/>
              </a:rPr>
              <a:t>SENTINEL FIRST</a:t>
            </a:r>
            <a:endParaRPr lang="en-US" sz="850" dirty="0"/>
          </a:p>
        </p:txBody>
      </p:sp>
      <p:sp>
        <p:nvSpPr>
          <p:cNvPr id="4" name="Text 1"/>
          <p:cNvSpPr/>
          <p:nvPr/>
        </p:nvSpPr>
        <p:spPr>
          <a:xfrm>
            <a:off x="365760" y="512064"/>
            <a:ext cx="8412480" cy="914400"/>
          </a:xfrm>
          <a:prstGeom prst="rect">
            <a:avLst/>
          </a:prstGeom>
          <a:noFill/>
          <a:ln/>
        </p:spPr>
        <p:txBody>
          <a:bodyPr wrap="square" lIns="0" tIns="0" rIns="0" bIns="0" rtlCol="0" anchor="ctr"/>
          <a:lstStyle/>
          <a:p>
            <a:pPr indent="0" marL="0">
              <a:buNone/>
            </a:pPr>
            <a:r>
              <a:rPr lang="en-US" sz="2600" b="1" dirty="0">
                <a:solidFill>
                  <a:srgbClr val="FFFFFF"/>
                </a:solidFill>
                <a:latin typeface="Montserrat" pitchFamily="34" charset="0"/>
                <a:ea typeface="Montserrat" pitchFamily="34" charset="-122"/>
                <a:cs typeface="Montserrat" pitchFamily="34" charset="-120"/>
              </a:rPr>
              <a:t>Sentinel proves the shared investigation lifecycle before we generalise it further.</a:t>
            </a:r>
            <a:endParaRPr lang="en-US" sz="2600" dirty="0"/>
          </a:p>
        </p:txBody>
      </p:sp>
      <p:sp>
        <p:nvSpPr>
          <p:cNvPr id="5" name="Text 2"/>
          <p:cNvSpPr/>
          <p:nvPr/>
        </p:nvSpPr>
        <p:spPr>
          <a:xfrm>
            <a:off x="365760" y="1627632"/>
            <a:ext cx="8412480" cy="429768"/>
          </a:xfrm>
          <a:prstGeom prst="rect">
            <a:avLst/>
          </a:prstGeom>
          <a:noFill/>
          <a:ln/>
        </p:spPr>
        <p:txBody>
          <a:bodyPr wrap="square" lIns="0" tIns="0" rIns="0" bIns="0" rtlCol="0" anchor="t"/>
          <a:lstStyle/>
          <a:p>
            <a:pPr indent="0" marL="0">
              <a:buNone/>
            </a:pPr>
            <a:r>
              <a:rPr lang="en-US" sz="1050" dirty="0">
                <a:solidFill>
                  <a:srgbClr val="E8E8F0"/>
                </a:solidFill>
                <a:latin typeface="Montserrat" pitchFamily="34" charset="0"/>
                <a:ea typeface="Montserrat" pitchFamily="34" charset="-122"/>
                <a:cs typeface="Montserrat" pitchFamily="34" charset="-120"/>
              </a:rPr>
              <a:t>The reusable capability owns state, budgets, trace and review. Sentinel supplies incident schemas, tools, prompts and publication rules.</a:t>
            </a:r>
            <a:endParaRPr lang="en-US" sz="1050" dirty="0"/>
          </a:p>
        </p:txBody>
      </p:sp>
      <p:sp>
        <p:nvSpPr>
          <p:cNvPr id="6" name="Shape 3"/>
          <p:cNvSpPr/>
          <p:nvPr/>
        </p:nvSpPr>
        <p:spPr>
          <a:xfrm>
            <a:off x="365760" y="2298573"/>
            <a:ext cx="2749296" cy="914400"/>
          </a:xfrm>
          <a:prstGeom prst="rect">
            <a:avLst/>
          </a:prstGeom>
          <a:solidFill>
            <a:srgbClr val="0D1554"/>
          </a:solidFill>
          <a:ln w="12700">
            <a:solidFill>
              <a:srgbClr val="0D1554"/>
            </a:solidFill>
            <a:prstDash val="solid"/>
          </a:ln>
        </p:spPr>
      </p:sp>
      <p:sp>
        <p:nvSpPr>
          <p:cNvPr id="7" name="Shape 4"/>
          <p:cNvSpPr/>
          <p:nvPr/>
        </p:nvSpPr>
        <p:spPr>
          <a:xfrm>
            <a:off x="365760" y="2298573"/>
            <a:ext cx="2749296" cy="36576"/>
          </a:xfrm>
          <a:prstGeom prst="rect">
            <a:avLst/>
          </a:prstGeom>
          <a:solidFill>
            <a:srgbClr val="18FFFF"/>
          </a:solidFill>
          <a:ln w="12700">
            <a:solidFill>
              <a:srgbClr val="18FFFF"/>
            </a:solidFill>
            <a:prstDash val="solid"/>
          </a:ln>
        </p:spPr>
      </p:sp>
      <p:sp>
        <p:nvSpPr>
          <p:cNvPr id="8" name="Text 5"/>
          <p:cNvSpPr/>
          <p:nvPr/>
        </p:nvSpPr>
        <p:spPr>
          <a:xfrm>
            <a:off x="475488" y="2371725"/>
            <a:ext cx="548640" cy="320040"/>
          </a:xfrm>
          <a:prstGeom prst="rect">
            <a:avLst/>
          </a:prstGeom>
          <a:noFill/>
          <a:ln/>
        </p:spPr>
        <p:txBody>
          <a:bodyPr wrap="square" lIns="0" tIns="0" rIns="0" bIns="0" rtlCol="0" anchor="ctr"/>
          <a:lstStyle/>
          <a:p>
            <a:pPr indent="0" marL="0">
              <a:buNone/>
            </a:pPr>
            <a:r>
              <a:rPr lang="en-US" sz="2800" b="1" dirty="0">
                <a:solidFill>
                  <a:srgbClr val="18FFFF"/>
                </a:solidFill>
                <a:latin typeface="Montserrat" pitchFamily="34" charset="0"/>
                <a:ea typeface="Montserrat" pitchFamily="34" charset="-122"/>
                <a:cs typeface="Montserrat" pitchFamily="34" charset="-120"/>
              </a:rPr>
              <a:t>1</a:t>
            </a:r>
            <a:endParaRPr lang="en-US" sz="2800" dirty="0"/>
          </a:p>
        </p:txBody>
      </p:sp>
      <p:sp>
        <p:nvSpPr>
          <p:cNvPr id="9" name="Text 6"/>
          <p:cNvSpPr/>
          <p:nvPr/>
        </p:nvSpPr>
        <p:spPr>
          <a:xfrm>
            <a:off x="475488" y="2691765"/>
            <a:ext cx="2529840" cy="274320"/>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Normalize</a:t>
            </a:r>
            <a:endParaRPr lang="en-US" sz="1100" dirty="0"/>
          </a:p>
        </p:txBody>
      </p:sp>
      <p:sp>
        <p:nvSpPr>
          <p:cNvPr id="10" name="Text 7"/>
          <p:cNvSpPr/>
          <p:nvPr/>
        </p:nvSpPr>
        <p:spPr>
          <a:xfrm>
            <a:off x="475488" y="2966085"/>
            <a:ext cx="2529840" cy="173736"/>
          </a:xfrm>
          <a:prstGeom prst="rect">
            <a:avLst/>
          </a:prstGeom>
          <a:noFill/>
          <a:ln/>
        </p:spPr>
        <p:txBody>
          <a:bodyPr wrap="square" lIns="0" tIns="0" rIns="0" bIns="0" rtlCol="0" anchor="t"/>
          <a:lstStyle/>
          <a:p>
            <a:pPr indent="0" marL="0">
              <a:buNone/>
            </a:pPr>
            <a:r>
              <a:rPr lang="en-US" sz="950" dirty="0">
                <a:solidFill>
                  <a:srgbClr val="8888AA"/>
                </a:solidFill>
                <a:latin typeface="Montserrat" pitchFamily="34" charset="0"/>
                <a:ea typeface="Montserrat" pitchFamily="34" charset="-122"/>
                <a:cs typeface="Montserrat" pitchFamily="34" charset="-120"/>
              </a:rPr>
              <a:t>Create a versioned signal</a:t>
            </a:r>
            <a:endParaRPr lang="en-US" sz="950" dirty="0"/>
          </a:p>
        </p:txBody>
      </p:sp>
      <p:sp>
        <p:nvSpPr>
          <p:cNvPr id="11" name="Shape 8"/>
          <p:cNvSpPr/>
          <p:nvPr/>
        </p:nvSpPr>
        <p:spPr>
          <a:xfrm>
            <a:off x="3197352" y="2298573"/>
            <a:ext cx="2749296" cy="914400"/>
          </a:xfrm>
          <a:prstGeom prst="rect">
            <a:avLst/>
          </a:prstGeom>
          <a:solidFill>
            <a:srgbClr val="0D1554"/>
          </a:solidFill>
          <a:ln w="12700">
            <a:solidFill>
              <a:srgbClr val="0D1554"/>
            </a:solidFill>
            <a:prstDash val="solid"/>
          </a:ln>
        </p:spPr>
      </p:sp>
      <p:sp>
        <p:nvSpPr>
          <p:cNvPr id="12" name="Shape 9"/>
          <p:cNvSpPr/>
          <p:nvPr/>
        </p:nvSpPr>
        <p:spPr>
          <a:xfrm>
            <a:off x="3197352" y="2298573"/>
            <a:ext cx="2749296" cy="36576"/>
          </a:xfrm>
          <a:prstGeom prst="rect">
            <a:avLst/>
          </a:prstGeom>
          <a:solidFill>
            <a:srgbClr val="18FFFF"/>
          </a:solidFill>
          <a:ln w="12700">
            <a:solidFill>
              <a:srgbClr val="18FFFF"/>
            </a:solidFill>
            <a:prstDash val="solid"/>
          </a:ln>
        </p:spPr>
      </p:sp>
      <p:sp>
        <p:nvSpPr>
          <p:cNvPr id="13" name="Text 10"/>
          <p:cNvSpPr/>
          <p:nvPr/>
        </p:nvSpPr>
        <p:spPr>
          <a:xfrm>
            <a:off x="3307080" y="2371725"/>
            <a:ext cx="548640" cy="320040"/>
          </a:xfrm>
          <a:prstGeom prst="rect">
            <a:avLst/>
          </a:prstGeom>
          <a:noFill/>
          <a:ln/>
        </p:spPr>
        <p:txBody>
          <a:bodyPr wrap="square" lIns="0" tIns="0" rIns="0" bIns="0" rtlCol="0" anchor="ctr"/>
          <a:lstStyle/>
          <a:p>
            <a:pPr indent="0" marL="0">
              <a:buNone/>
            </a:pPr>
            <a:r>
              <a:rPr lang="en-US" sz="2800" b="1" dirty="0">
                <a:solidFill>
                  <a:srgbClr val="18FFFF"/>
                </a:solidFill>
                <a:latin typeface="Montserrat" pitchFamily="34" charset="0"/>
                <a:ea typeface="Montserrat" pitchFamily="34" charset="-122"/>
                <a:cs typeface="Montserrat" pitchFamily="34" charset="-120"/>
              </a:rPr>
              <a:t>2</a:t>
            </a:r>
            <a:endParaRPr lang="en-US" sz="2800" dirty="0"/>
          </a:p>
        </p:txBody>
      </p:sp>
      <p:sp>
        <p:nvSpPr>
          <p:cNvPr id="14" name="Text 11"/>
          <p:cNvSpPr/>
          <p:nvPr/>
        </p:nvSpPr>
        <p:spPr>
          <a:xfrm>
            <a:off x="3307080" y="2691765"/>
            <a:ext cx="2529840" cy="274320"/>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Scope</a:t>
            </a:r>
            <a:endParaRPr lang="en-US" sz="1100" dirty="0"/>
          </a:p>
        </p:txBody>
      </p:sp>
      <p:sp>
        <p:nvSpPr>
          <p:cNvPr id="15" name="Text 12"/>
          <p:cNvSpPr/>
          <p:nvPr/>
        </p:nvSpPr>
        <p:spPr>
          <a:xfrm>
            <a:off x="3307080" y="2966085"/>
            <a:ext cx="2529840" cy="173736"/>
          </a:xfrm>
          <a:prstGeom prst="rect">
            <a:avLst/>
          </a:prstGeom>
          <a:noFill/>
          <a:ln/>
        </p:spPr>
        <p:txBody>
          <a:bodyPr wrap="square" lIns="0" tIns="0" rIns="0" bIns="0" rtlCol="0" anchor="t"/>
          <a:lstStyle/>
          <a:p>
            <a:pPr indent="0" marL="0">
              <a:buNone/>
            </a:pPr>
            <a:r>
              <a:rPr lang="en-US" sz="950" dirty="0">
                <a:solidFill>
                  <a:srgbClr val="8888AA"/>
                </a:solidFill>
                <a:latin typeface="Montserrat" pitchFamily="34" charset="0"/>
                <a:ea typeface="Montserrat" pitchFamily="34" charset="-122"/>
                <a:cs typeface="Montserrat" pitchFamily="34" charset="-120"/>
              </a:rPr>
              <a:t>Bind app and playbook</a:t>
            </a:r>
            <a:endParaRPr lang="en-US" sz="950" dirty="0"/>
          </a:p>
        </p:txBody>
      </p:sp>
      <p:sp>
        <p:nvSpPr>
          <p:cNvPr id="16" name="Shape 13"/>
          <p:cNvSpPr/>
          <p:nvPr/>
        </p:nvSpPr>
        <p:spPr>
          <a:xfrm>
            <a:off x="6028944" y="2298573"/>
            <a:ext cx="2749296" cy="914400"/>
          </a:xfrm>
          <a:prstGeom prst="rect">
            <a:avLst/>
          </a:prstGeom>
          <a:solidFill>
            <a:srgbClr val="0D1554"/>
          </a:solidFill>
          <a:ln w="12700">
            <a:solidFill>
              <a:srgbClr val="0D1554"/>
            </a:solidFill>
            <a:prstDash val="solid"/>
          </a:ln>
        </p:spPr>
      </p:sp>
      <p:sp>
        <p:nvSpPr>
          <p:cNvPr id="17" name="Shape 14"/>
          <p:cNvSpPr/>
          <p:nvPr/>
        </p:nvSpPr>
        <p:spPr>
          <a:xfrm>
            <a:off x="6028944" y="2298573"/>
            <a:ext cx="2749296" cy="36576"/>
          </a:xfrm>
          <a:prstGeom prst="rect">
            <a:avLst/>
          </a:prstGeom>
          <a:solidFill>
            <a:srgbClr val="18FFFF"/>
          </a:solidFill>
          <a:ln w="12700">
            <a:solidFill>
              <a:srgbClr val="18FFFF"/>
            </a:solidFill>
            <a:prstDash val="solid"/>
          </a:ln>
        </p:spPr>
      </p:sp>
      <p:sp>
        <p:nvSpPr>
          <p:cNvPr id="18" name="Text 15"/>
          <p:cNvSpPr/>
          <p:nvPr/>
        </p:nvSpPr>
        <p:spPr>
          <a:xfrm>
            <a:off x="6138672" y="2371725"/>
            <a:ext cx="548640" cy="320040"/>
          </a:xfrm>
          <a:prstGeom prst="rect">
            <a:avLst/>
          </a:prstGeom>
          <a:noFill/>
          <a:ln/>
        </p:spPr>
        <p:txBody>
          <a:bodyPr wrap="square" lIns="0" tIns="0" rIns="0" bIns="0" rtlCol="0" anchor="ctr"/>
          <a:lstStyle/>
          <a:p>
            <a:pPr indent="0" marL="0">
              <a:buNone/>
            </a:pPr>
            <a:r>
              <a:rPr lang="en-US" sz="2800" b="1" dirty="0">
                <a:solidFill>
                  <a:srgbClr val="18FFFF"/>
                </a:solidFill>
                <a:latin typeface="Montserrat" pitchFamily="34" charset="0"/>
                <a:ea typeface="Montserrat" pitchFamily="34" charset="-122"/>
                <a:cs typeface="Montserrat" pitchFamily="34" charset="-120"/>
              </a:rPr>
              <a:t>3</a:t>
            </a:r>
            <a:endParaRPr lang="en-US" sz="2800" dirty="0"/>
          </a:p>
        </p:txBody>
      </p:sp>
      <p:sp>
        <p:nvSpPr>
          <p:cNvPr id="19" name="Text 16"/>
          <p:cNvSpPr/>
          <p:nvPr/>
        </p:nvSpPr>
        <p:spPr>
          <a:xfrm>
            <a:off x="6138672" y="2691765"/>
            <a:ext cx="2529840" cy="274320"/>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Plan</a:t>
            </a:r>
            <a:endParaRPr lang="en-US" sz="1100" dirty="0"/>
          </a:p>
        </p:txBody>
      </p:sp>
      <p:sp>
        <p:nvSpPr>
          <p:cNvPr id="20" name="Text 17"/>
          <p:cNvSpPr/>
          <p:nvPr/>
        </p:nvSpPr>
        <p:spPr>
          <a:xfrm>
            <a:off x="6138672" y="2966085"/>
            <a:ext cx="2529840" cy="173736"/>
          </a:xfrm>
          <a:prstGeom prst="rect">
            <a:avLst/>
          </a:prstGeom>
          <a:noFill/>
          <a:ln/>
        </p:spPr>
        <p:txBody>
          <a:bodyPr wrap="square" lIns="0" tIns="0" rIns="0" bIns="0" rtlCol="0" anchor="t"/>
          <a:lstStyle/>
          <a:p>
            <a:pPr indent="0" marL="0">
              <a:buNone/>
            </a:pPr>
            <a:r>
              <a:rPr lang="en-US" sz="950" dirty="0">
                <a:solidFill>
                  <a:srgbClr val="8888AA"/>
                </a:solidFill>
                <a:latin typeface="Montserrat" pitchFamily="34" charset="0"/>
                <a:ea typeface="Montserrat" pitchFamily="34" charset="-122"/>
                <a:cs typeface="Montserrat" pitchFamily="34" charset="-120"/>
              </a:rPr>
              <a:t>Define evidence needs</a:t>
            </a:r>
            <a:endParaRPr lang="en-US" sz="950" dirty="0"/>
          </a:p>
        </p:txBody>
      </p:sp>
      <p:sp>
        <p:nvSpPr>
          <p:cNvPr id="21" name="Shape 18"/>
          <p:cNvSpPr/>
          <p:nvPr/>
        </p:nvSpPr>
        <p:spPr>
          <a:xfrm>
            <a:off x="365760" y="3640455"/>
            <a:ext cx="2749296" cy="914400"/>
          </a:xfrm>
          <a:prstGeom prst="rect">
            <a:avLst/>
          </a:prstGeom>
          <a:solidFill>
            <a:srgbClr val="0D1554"/>
          </a:solidFill>
          <a:ln w="12700">
            <a:solidFill>
              <a:srgbClr val="0D1554"/>
            </a:solidFill>
            <a:prstDash val="solid"/>
          </a:ln>
        </p:spPr>
      </p:sp>
      <p:sp>
        <p:nvSpPr>
          <p:cNvPr id="22" name="Shape 19"/>
          <p:cNvSpPr/>
          <p:nvPr/>
        </p:nvSpPr>
        <p:spPr>
          <a:xfrm>
            <a:off x="365760" y="3640455"/>
            <a:ext cx="2749296" cy="36576"/>
          </a:xfrm>
          <a:prstGeom prst="rect">
            <a:avLst/>
          </a:prstGeom>
          <a:solidFill>
            <a:srgbClr val="18FFFF"/>
          </a:solidFill>
          <a:ln w="12700">
            <a:solidFill>
              <a:srgbClr val="18FFFF"/>
            </a:solidFill>
            <a:prstDash val="solid"/>
          </a:ln>
        </p:spPr>
      </p:sp>
      <p:sp>
        <p:nvSpPr>
          <p:cNvPr id="23" name="Text 20"/>
          <p:cNvSpPr/>
          <p:nvPr/>
        </p:nvSpPr>
        <p:spPr>
          <a:xfrm>
            <a:off x="475488" y="3713607"/>
            <a:ext cx="548640" cy="320040"/>
          </a:xfrm>
          <a:prstGeom prst="rect">
            <a:avLst/>
          </a:prstGeom>
          <a:noFill/>
          <a:ln/>
        </p:spPr>
        <p:txBody>
          <a:bodyPr wrap="square" lIns="0" tIns="0" rIns="0" bIns="0" rtlCol="0" anchor="ctr"/>
          <a:lstStyle/>
          <a:p>
            <a:pPr indent="0" marL="0">
              <a:buNone/>
            </a:pPr>
            <a:r>
              <a:rPr lang="en-US" sz="2800" b="1" dirty="0">
                <a:solidFill>
                  <a:srgbClr val="18FFFF"/>
                </a:solidFill>
                <a:latin typeface="Montserrat" pitchFamily="34" charset="0"/>
                <a:ea typeface="Montserrat" pitchFamily="34" charset="-122"/>
                <a:cs typeface="Montserrat" pitchFamily="34" charset="-120"/>
              </a:rPr>
              <a:t>4</a:t>
            </a:r>
            <a:endParaRPr lang="en-US" sz="2800" dirty="0"/>
          </a:p>
        </p:txBody>
      </p:sp>
      <p:sp>
        <p:nvSpPr>
          <p:cNvPr id="24" name="Text 21"/>
          <p:cNvSpPr/>
          <p:nvPr/>
        </p:nvSpPr>
        <p:spPr>
          <a:xfrm>
            <a:off x="475488" y="4033647"/>
            <a:ext cx="2529840" cy="274320"/>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Collect</a:t>
            </a:r>
            <a:endParaRPr lang="en-US" sz="1100" dirty="0"/>
          </a:p>
        </p:txBody>
      </p:sp>
      <p:sp>
        <p:nvSpPr>
          <p:cNvPr id="25" name="Text 22"/>
          <p:cNvSpPr/>
          <p:nvPr/>
        </p:nvSpPr>
        <p:spPr>
          <a:xfrm>
            <a:off x="475488" y="4307967"/>
            <a:ext cx="2529840" cy="173736"/>
          </a:xfrm>
          <a:prstGeom prst="rect">
            <a:avLst/>
          </a:prstGeom>
          <a:noFill/>
          <a:ln/>
        </p:spPr>
        <p:txBody>
          <a:bodyPr wrap="square" lIns="0" tIns="0" rIns="0" bIns="0" rtlCol="0" anchor="t"/>
          <a:lstStyle/>
          <a:p>
            <a:pPr indent="0" marL="0">
              <a:buNone/>
            </a:pPr>
            <a:r>
              <a:rPr lang="en-US" sz="950" dirty="0">
                <a:solidFill>
                  <a:srgbClr val="8888AA"/>
                </a:solidFill>
                <a:latin typeface="Montserrat" pitchFamily="34" charset="0"/>
                <a:ea typeface="Montserrat" pitchFamily="34" charset="-122"/>
                <a:cs typeface="Montserrat" pitchFamily="34" charset="-120"/>
              </a:rPr>
              <a:t>Use read-only tools</a:t>
            </a:r>
            <a:endParaRPr lang="en-US" sz="950" dirty="0"/>
          </a:p>
        </p:txBody>
      </p:sp>
      <p:sp>
        <p:nvSpPr>
          <p:cNvPr id="26" name="Shape 23"/>
          <p:cNvSpPr/>
          <p:nvPr/>
        </p:nvSpPr>
        <p:spPr>
          <a:xfrm>
            <a:off x="3197352" y="3640455"/>
            <a:ext cx="2749296" cy="914400"/>
          </a:xfrm>
          <a:prstGeom prst="rect">
            <a:avLst/>
          </a:prstGeom>
          <a:solidFill>
            <a:srgbClr val="0D1554"/>
          </a:solidFill>
          <a:ln w="12700">
            <a:solidFill>
              <a:srgbClr val="0D1554"/>
            </a:solidFill>
            <a:prstDash val="solid"/>
          </a:ln>
        </p:spPr>
      </p:sp>
      <p:sp>
        <p:nvSpPr>
          <p:cNvPr id="27" name="Shape 24"/>
          <p:cNvSpPr/>
          <p:nvPr/>
        </p:nvSpPr>
        <p:spPr>
          <a:xfrm>
            <a:off x="3197352" y="3640455"/>
            <a:ext cx="2749296" cy="36576"/>
          </a:xfrm>
          <a:prstGeom prst="rect">
            <a:avLst/>
          </a:prstGeom>
          <a:solidFill>
            <a:srgbClr val="18FFFF"/>
          </a:solidFill>
          <a:ln w="12700">
            <a:solidFill>
              <a:srgbClr val="18FFFF"/>
            </a:solidFill>
            <a:prstDash val="solid"/>
          </a:ln>
        </p:spPr>
      </p:sp>
      <p:sp>
        <p:nvSpPr>
          <p:cNvPr id="28" name="Text 25"/>
          <p:cNvSpPr/>
          <p:nvPr/>
        </p:nvSpPr>
        <p:spPr>
          <a:xfrm>
            <a:off x="3307080" y="3713607"/>
            <a:ext cx="548640" cy="320040"/>
          </a:xfrm>
          <a:prstGeom prst="rect">
            <a:avLst/>
          </a:prstGeom>
          <a:noFill/>
          <a:ln/>
        </p:spPr>
        <p:txBody>
          <a:bodyPr wrap="square" lIns="0" tIns="0" rIns="0" bIns="0" rtlCol="0" anchor="ctr"/>
          <a:lstStyle/>
          <a:p>
            <a:pPr indent="0" marL="0">
              <a:buNone/>
            </a:pPr>
            <a:r>
              <a:rPr lang="en-US" sz="2800" b="1" dirty="0">
                <a:solidFill>
                  <a:srgbClr val="18FFFF"/>
                </a:solidFill>
                <a:latin typeface="Montserrat" pitchFamily="34" charset="0"/>
                <a:ea typeface="Montserrat" pitchFamily="34" charset="-122"/>
                <a:cs typeface="Montserrat" pitchFamily="34" charset="-120"/>
              </a:rPr>
              <a:t>5</a:t>
            </a:r>
            <a:endParaRPr lang="en-US" sz="2800" dirty="0"/>
          </a:p>
        </p:txBody>
      </p:sp>
      <p:sp>
        <p:nvSpPr>
          <p:cNvPr id="29" name="Text 26"/>
          <p:cNvSpPr/>
          <p:nvPr/>
        </p:nvSpPr>
        <p:spPr>
          <a:xfrm>
            <a:off x="3307080" y="4033647"/>
            <a:ext cx="2529840" cy="274320"/>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Analyse</a:t>
            </a:r>
            <a:endParaRPr lang="en-US" sz="1100" dirty="0"/>
          </a:p>
        </p:txBody>
      </p:sp>
      <p:sp>
        <p:nvSpPr>
          <p:cNvPr id="30" name="Text 27"/>
          <p:cNvSpPr/>
          <p:nvPr/>
        </p:nvSpPr>
        <p:spPr>
          <a:xfrm>
            <a:off x="3307080" y="4307967"/>
            <a:ext cx="2529840" cy="173736"/>
          </a:xfrm>
          <a:prstGeom prst="rect">
            <a:avLst/>
          </a:prstGeom>
          <a:noFill/>
          <a:ln/>
        </p:spPr>
        <p:txBody>
          <a:bodyPr wrap="square" lIns="0" tIns="0" rIns="0" bIns="0" rtlCol="0" anchor="t"/>
          <a:lstStyle/>
          <a:p>
            <a:pPr indent="0" marL="0">
              <a:buNone/>
            </a:pPr>
            <a:r>
              <a:rPr lang="en-US" sz="950" dirty="0">
                <a:solidFill>
                  <a:srgbClr val="8888AA"/>
                </a:solidFill>
                <a:latin typeface="Montserrat" pitchFamily="34" charset="0"/>
                <a:ea typeface="Montserrat" pitchFamily="34" charset="-122"/>
                <a:cs typeface="Montserrat" pitchFamily="34" charset="-120"/>
              </a:rPr>
              <a:t>Find cause or synopsis</a:t>
            </a:r>
            <a:endParaRPr lang="en-US" sz="950" dirty="0"/>
          </a:p>
        </p:txBody>
      </p:sp>
      <p:sp>
        <p:nvSpPr>
          <p:cNvPr id="31" name="Shape 28"/>
          <p:cNvSpPr/>
          <p:nvPr/>
        </p:nvSpPr>
        <p:spPr>
          <a:xfrm>
            <a:off x="6028944" y="3640455"/>
            <a:ext cx="2749296" cy="914400"/>
          </a:xfrm>
          <a:prstGeom prst="rect">
            <a:avLst/>
          </a:prstGeom>
          <a:solidFill>
            <a:srgbClr val="0D1554"/>
          </a:solidFill>
          <a:ln w="12700">
            <a:solidFill>
              <a:srgbClr val="0D1554"/>
            </a:solidFill>
            <a:prstDash val="solid"/>
          </a:ln>
        </p:spPr>
      </p:sp>
      <p:sp>
        <p:nvSpPr>
          <p:cNvPr id="32" name="Shape 29"/>
          <p:cNvSpPr/>
          <p:nvPr/>
        </p:nvSpPr>
        <p:spPr>
          <a:xfrm>
            <a:off x="6028944" y="3640455"/>
            <a:ext cx="2749296" cy="36576"/>
          </a:xfrm>
          <a:prstGeom prst="rect">
            <a:avLst/>
          </a:prstGeom>
          <a:solidFill>
            <a:srgbClr val="18FFFF"/>
          </a:solidFill>
          <a:ln w="12700">
            <a:solidFill>
              <a:srgbClr val="18FFFF"/>
            </a:solidFill>
            <a:prstDash val="solid"/>
          </a:ln>
        </p:spPr>
      </p:sp>
      <p:sp>
        <p:nvSpPr>
          <p:cNvPr id="33" name="Text 30"/>
          <p:cNvSpPr/>
          <p:nvPr/>
        </p:nvSpPr>
        <p:spPr>
          <a:xfrm>
            <a:off x="6138672" y="3713607"/>
            <a:ext cx="548640" cy="320040"/>
          </a:xfrm>
          <a:prstGeom prst="rect">
            <a:avLst/>
          </a:prstGeom>
          <a:noFill/>
          <a:ln/>
        </p:spPr>
        <p:txBody>
          <a:bodyPr wrap="square" lIns="0" tIns="0" rIns="0" bIns="0" rtlCol="0" anchor="ctr"/>
          <a:lstStyle/>
          <a:p>
            <a:pPr indent="0" marL="0">
              <a:buNone/>
            </a:pPr>
            <a:r>
              <a:rPr lang="en-US" sz="2800" b="1" dirty="0">
                <a:solidFill>
                  <a:srgbClr val="18FFFF"/>
                </a:solidFill>
                <a:latin typeface="Montserrat" pitchFamily="34" charset="0"/>
                <a:ea typeface="Montserrat" pitchFamily="34" charset="-122"/>
                <a:cs typeface="Montserrat" pitchFamily="34" charset="-120"/>
              </a:rPr>
              <a:t>6</a:t>
            </a:r>
            <a:endParaRPr lang="en-US" sz="2800" dirty="0"/>
          </a:p>
        </p:txBody>
      </p:sp>
      <p:sp>
        <p:nvSpPr>
          <p:cNvPr id="34" name="Text 31"/>
          <p:cNvSpPr/>
          <p:nvPr/>
        </p:nvSpPr>
        <p:spPr>
          <a:xfrm>
            <a:off x="6138672" y="4033647"/>
            <a:ext cx="2529840" cy="274320"/>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Review</a:t>
            </a:r>
            <a:endParaRPr lang="en-US" sz="1100" dirty="0"/>
          </a:p>
        </p:txBody>
      </p:sp>
      <p:sp>
        <p:nvSpPr>
          <p:cNvPr id="35" name="Text 32"/>
          <p:cNvSpPr/>
          <p:nvPr/>
        </p:nvSpPr>
        <p:spPr>
          <a:xfrm>
            <a:off x="6138672" y="4307967"/>
            <a:ext cx="2529840" cy="173736"/>
          </a:xfrm>
          <a:prstGeom prst="rect">
            <a:avLst/>
          </a:prstGeom>
          <a:noFill/>
          <a:ln/>
        </p:spPr>
        <p:txBody>
          <a:bodyPr wrap="square" lIns="0" tIns="0" rIns="0" bIns="0" rtlCol="0" anchor="t"/>
          <a:lstStyle/>
          <a:p>
            <a:pPr indent="0" marL="0">
              <a:buNone/>
            </a:pPr>
            <a:r>
              <a:rPr lang="en-US" sz="950" dirty="0">
                <a:solidFill>
                  <a:srgbClr val="8888AA"/>
                </a:solidFill>
                <a:latin typeface="Montserrat" pitchFamily="34" charset="0"/>
                <a:ea typeface="Montserrat" pitchFamily="34" charset="-122"/>
                <a:cs typeface="Montserrat" pitchFamily="34" charset="-120"/>
              </a:rPr>
              <a:t>Approve before publish</a:t>
            </a:r>
            <a:endParaRPr lang="en-US" sz="950" dirty="0"/>
          </a:p>
        </p:txBody>
      </p:sp>
      <p:sp>
        <p:nvSpPr>
          <p:cNvPr id="36" name="Text 33"/>
          <p:cNvSpPr/>
          <p:nvPr/>
        </p:nvSpPr>
        <p:spPr>
          <a:xfrm>
            <a:off x="365760" y="4832604"/>
            <a:ext cx="8412480" cy="182880"/>
          </a:xfrm>
          <a:prstGeom prst="rect">
            <a:avLst/>
          </a:prstGeom>
          <a:noFill/>
          <a:ln/>
        </p:spPr>
        <p:txBody>
          <a:bodyPr wrap="square" lIns="0" tIns="0" rIns="0" bIns="0" rtlCol="0" anchor="ctr"/>
          <a:lstStyle/>
          <a:p>
            <a:pPr indent="0" marL="0">
              <a:buNone/>
            </a:pPr>
            <a:r>
              <a:rPr lang="en-US" sz="800" dirty="0">
                <a:solidFill>
                  <a:srgbClr val="8888AA"/>
                </a:solidFill>
                <a:latin typeface="Montserrat" pitchFamily="34" charset="0"/>
                <a:ea typeface="Montserrat" pitchFamily="34" charset="-122"/>
                <a:cs typeface="Montserrat" pitchFamily="34" charset="-120"/>
              </a:rPr>
              <a:t>The OpenAI Agents SDK remains inside the Sentinel orchestration adapter. Splunk and ServiceNow fields stay out of shared contracts.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40038"/>
        </a:solidFill>
      </p:bgPr>
    </p:bg>
    <p:spTree>
      <p:nvGrpSpPr>
        <p:cNvPr id="1" name=""/>
        <p:cNvGrpSpPr/>
        <p:nvPr/>
      </p:nvGrpSpPr>
      <p:grpSpPr>
        <a:xfrm>
          <a:off x="0" y="0"/>
          <a:ext cx="0" cy="0"/>
          <a:chOff x="0" y="0"/>
          <a:chExt cx="0" cy="0"/>
        </a:xfrm>
      </p:grpSpPr>
      <p:sp>
        <p:nvSpPr>
          <p:cNvPr id="3" name="Text 0"/>
          <p:cNvSpPr/>
          <p:nvPr/>
        </p:nvSpPr>
        <p:spPr>
          <a:xfrm>
            <a:off x="365760" y="256032"/>
            <a:ext cx="8229600" cy="201168"/>
          </a:xfrm>
          <a:prstGeom prst="rect">
            <a:avLst/>
          </a:prstGeom>
          <a:noFill/>
          <a:ln/>
        </p:spPr>
        <p:txBody>
          <a:bodyPr wrap="square" lIns="0" tIns="0" rIns="0" bIns="0" rtlCol="0" anchor="ctr"/>
          <a:lstStyle/>
          <a:p>
            <a:pPr indent="0" marL="0">
              <a:buNone/>
            </a:pPr>
            <a:r>
              <a:rPr lang="en-US" sz="850" b="1" spc="200" kern="0" dirty="0">
                <a:solidFill>
                  <a:srgbClr val="18FFFF"/>
                </a:solidFill>
                <a:latin typeface="Montserrat" pitchFamily="34" charset="0"/>
                <a:ea typeface="Montserrat" pitchFamily="34" charset="-122"/>
                <a:cs typeface="Montserrat" pitchFamily="34" charset="-120"/>
              </a:rPr>
              <a:t>SECOND PROOF OF MODULARITY</a:t>
            </a:r>
            <a:endParaRPr lang="en-US" sz="850" dirty="0"/>
          </a:p>
        </p:txBody>
      </p:sp>
      <p:sp>
        <p:nvSpPr>
          <p:cNvPr id="4" name="Text 1"/>
          <p:cNvSpPr/>
          <p:nvPr/>
        </p:nvSpPr>
        <p:spPr>
          <a:xfrm>
            <a:off x="365760" y="512064"/>
            <a:ext cx="8412480" cy="786384"/>
          </a:xfrm>
          <a:prstGeom prst="rect">
            <a:avLst/>
          </a:prstGeom>
          <a:noFill/>
          <a:ln/>
        </p:spPr>
        <p:txBody>
          <a:bodyPr wrap="square" lIns="0" tIns="0" rIns="0" bIns="0" rtlCol="0" anchor="ctr"/>
          <a:lstStyle/>
          <a:p>
            <a:pPr indent="0" marL="0">
              <a:buNone/>
            </a:pPr>
            <a:r>
              <a:rPr lang="en-US" sz="2200" b="1" dirty="0">
                <a:solidFill>
                  <a:srgbClr val="FFFFFF"/>
                </a:solidFill>
                <a:latin typeface="Montserrat" pitchFamily="34" charset="0"/>
                <a:ea typeface="Montserrat" pitchFamily="34" charset="-122"/>
                <a:cs typeface="Montserrat" pitchFamily="34" charset="-120"/>
              </a:rPr>
              <a:t>Dashboard Hub should land without changing Sentinel.</a:t>
            </a:r>
            <a:endParaRPr lang="en-US" sz="2200" dirty="0"/>
          </a:p>
        </p:txBody>
      </p:sp>
      <p:sp>
        <p:nvSpPr>
          <p:cNvPr id="5" name="Shape 2"/>
          <p:cNvSpPr/>
          <p:nvPr/>
        </p:nvSpPr>
        <p:spPr>
          <a:xfrm>
            <a:off x="365760" y="1499616"/>
            <a:ext cx="4283050" cy="3204972"/>
          </a:xfrm>
          <a:prstGeom prst="rect">
            <a:avLst/>
          </a:prstGeom>
          <a:solidFill>
            <a:srgbClr val="0D1554"/>
          </a:solidFill>
          <a:ln w="12700">
            <a:solidFill>
              <a:srgbClr val="0D1554"/>
            </a:solidFill>
            <a:prstDash val="solid"/>
          </a:ln>
        </p:spPr>
      </p:sp>
      <p:sp>
        <p:nvSpPr>
          <p:cNvPr id="6" name="Shape 3"/>
          <p:cNvSpPr/>
          <p:nvPr/>
        </p:nvSpPr>
        <p:spPr>
          <a:xfrm>
            <a:off x="365760" y="1499616"/>
            <a:ext cx="4283050" cy="54864"/>
          </a:xfrm>
          <a:prstGeom prst="rect">
            <a:avLst/>
          </a:prstGeom>
          <a:solidFill>
            <a:srgbClr val="18FFFF"/>
          </a:solidFill>
          <a:ln w="12700">
            <a:solidFill>
              <a:srgbClr val="18FFFF"/>
            </a:solidFill>
            <a:prstDash val="solid"/>
          </a:ln>
        </p:spPr>
      </p:sp>
      <p:sp>
        <p:nvSpPr>
          <p:cNvPr id="7" name="Text 4"/>
          <p:cNvSpPr/>
          <p:nvPr/>
        </p:nvSpPr>
        <p:spPr>
          <a:xfrm>
            <a:off x="512064" y="1682496"/>
            <a:ext cx="3990442" cy="256032"/>
          </a:xfrm>
          <a:prstGeom prst="rect">
            <a:avLst/>
          </a:prstGeom>
          <a:noFill/>
          <a:ln/>
        </p:spPr>
        <p:txBody>
          <a:bodyPr wrap="square" lIns="0" tIns="0" rIns="0" bIns="0" rtlCol="0" anchor="ctr"/>
          <a:lstStyle/>
          <a:p>
            <a:pPr indent="0" marL="0">
              <a:buNone/>
            </a:pPr>
            <a:r>
              <a:rPr lang="en-US" sz="1100" b="1" dirty="0">
                <a:solidFill>
                  <a:srgbClr val="18FFFF"/>
                </a:solidFill>
                <a:latin typeface="Montserrat" pitchFamily="34" charset="0"/>
                <a:ea typeface="Montserrat" pitchFamily="34" charset="-122"/>
                <a:cs typeface="Montserrat" pitchFamily="34" charset="-120"/>
              </a:rPr>
              <a:t>DESIGN TEST</a:t>
            </a:r>
            <a:endParaRPr lang="en-US" sz="1100" dirty="0"/>
          </a:p>
        </p:txBody>
      </p:sp>
      <p:sp>
        <p:nvSpPr>
          <p:cNvPr id="8" name="Text 5"/>
          <p:cNvSpPr/>
          <p:nvPr/>
        </p:nvSpPr>
        <p:spPr>
          <a:xfrm>
            <a:off x="512064" y="1975104"/>
            <a:ext cx="3990442" cy="722376"/>
          </a:xfrm>
          <a:prstGeom prst="rect">
            <a:avLst/>
          </a:prstGeom>
          <a:noFill/>
          <a:ln/>
        </p:spPr>
        <p:txBody>
          <a:bodyPr wrap="square" lIns="0" tIns="0" rIns="0" bIns="0" rtlCol="0" anchor="t"/>
          <a:lstStyle/>
          <a:p>
            <a:pPr indent="0" marL="0">
              <a:buNone/>
            </a:pPr>
            <a:r>
              <a:rPr lang="en-US" sz="1050" dirty="0">
                <a:solidFill>
                  <a:srgbClr val="E8E8F0"/>
                </a:solidFill>
                <a:latin typeface="Montserrat" pitchFamily="34" charset="0"/>
                <a:ea typeface="Montserrat" pitchFamily="34" charset="-122"/>
                <a:cs typeface="Montserrat" pitchFamily="34" charset="-120"/>
              </a:rPr>
              <a:t>Add a materially different capability that still reuses application identity, access control, integration health, feature flags and the Mission Control shell.</a:t>
            </a:r>
            <a:endParaRPr lang="en-US" sz="1050" dirty="0"/>
          </a:p>
        </p:txBody>
      </p:sp>
      <p:sp>
        <p:nvSpPr>
          <p:cNvPr id="9" name="Text 6"/>
          <p:cNvSpPr/>
          <p:nvPr/>
        </p:nvSpPr>
        <p:spPr>
          <a:xfrm>
            <a:off x="512064" y="2825496"/>
            <a:ext cx="3990442" cy="256032"/>
          </a:xfrm>
          <a:prstGeom prst="rect">
            <a:avLst/>
          </a:prstGeom>
          <a:noFill/>
          <a:ln/>
        </p:spPr>
        <p:txBody>
          <a:bodyPr wrap="square" lIns="0" tIns="0" rIns="0" bIns="0" rtlCol="0" anchor="ctr"/>
          <a:lstStyle/>
          <a:p>
            <a:pPr indent="0" marL="0">
              <a:buNone/>
            </a:pPr>
            <a:r>
              <a:rPr lang="en-US" sz="1100" b="1" dirty="0">
                <a:solidFill>
                  <a:srgbClr val="18FFFF"/>
                </a:solidFill>
                <a:latin typeface="Montserrat" pitchFamily="34" charset="0"/>
                <a:ea typeface="Montserrat" pitchFamily="34" charset="-122"/>
                <a:cs typeface="Montserrat" pitchFamily="34" charset="-120"/>
              </a:rPr>
              <a:t>PROVIDER BOUNDARY</a:t>
            </a:r>
            <a:endParaRPr lang="en-US" sz="1100" dirty="0"/>
          </a:p>
        </p:txBody>
      </p:sp>
      <p:sp>
        <p:nvSpPr>
          <p:cNvPr id="10" name="Text 7"/>
          <p:cNvSpPr/>
          <p:nvPr/>
        </p:nvSpPr>
        <p:spPr>
          <a:xfrm>
            <a:off x="512064" y="3118104"/>
            <a:ext cx="3990442" cy="539496"/>
          </a:xfrm>
          <a:prstGeom prst="rect">
            <a:avLst/>
          </a:prstGeom>
          <a:noFill/>
          <a:ln/>
        </p:spPr>
        <p:txBody>
          <a:bodyPr wrap="square" lIns="0" tIns="0" rIns="0" bIns="0" rtlCol="0" anchor="t"/>
          <a:lstStyle/>
          <a:p>
            <a:pPr indent="0" marL="0">
              <a:buNone/>
            </a:pPr>
            <a:r>
              <a:rPr lang="en-US" sz="1050" dirty="0">
                <a:solidFill>
                  <a:srgbClr val="E8E8F0"/>
                </a:solidFill>
                <a:latin typeface="Montserrat" pitchFamily="34" charset="0"/>
                <a:ea typeface="Montserrat" pitchFamily="34" charset="-122"/>
                <a:cs typeface="Montserrat" pitchFamily="34" charset="-120"/>
              </a:rPr>
              <a:t>Dashboard Hub owns dashboard bindings. QuickSight and Tableau implement a provider-neutral link and embed-session port.</a:t>
            </a:r>
            <a:endParaRPr lang="en-US" sz="1050" dirty="0"/>
          </a:p>
        </p:txBody>
      </p:sp>
      <p:sp>
        <p:nvSpPr>
          <p:cNvPr id="11" name="Text 8"/>
          <p:cNvSpPr/>
          <p:nvPr/>
        </p:nvSpPr>
        <p:spPr>
          <a:xfrm>
            <a:off x="512064" y="3785616"/>
            <a:ext cx="3990442" cy="256032"/>
          </a:xfrm>
          <a:prstGeom prst="rect">
            <a:avLst/>
          </a:prstGeom>
          <a:noFill/>
          <a:ln/>
        </p:spPr>
        <p:txBody>
          <a:bodyPr wrap="square" lIns="0" tIns="0" rIns="0" bIns="0" rtlCol="0" anchor="ctr"/>
          <a:lstStyle/>
          <a:p>
            <a:pPr indent="0" marL="0">
              <a:buNone/>
            </a:pPr>
            <a:r>
              <a:rPr lang="en-US" sz="1100" b="1" dirty="0">
                <a:solidFill>
                  <a:srgbClr val="18FFFF"/>
                </a:solidFill>
                <a:latin typeface="Montserrat" pitchFamily="34" charset="0"/>
                <a:ea typeface="Montserrat" pitchFamily="34" charset="-122"/>
                <a:cs typeface="Montserrat" pitchFamily="34" charset="-120"/>
              </a:rPr>
              <a:t>FIRST INCREMENT</a:t>
            </a:r>
            <a:endParaRPr lang="en-US" sz="1100" dirty="0"/>
          </a:p>
        </p:txBody>
      </p:sp>
      <p:sp>
        <p:nvSpPr>
          <p:cNvPr id="12" name="Text 9"/>
          <p:cNvSpPr/>
          <p:nvPr/>
        </p:nvSpPr>
        <p:spPr>
          <a:xfrm>
            <a:off x="512064" y="4078224"/>
            <a:ext cx="3990442" cy="539496"/>
          </a:xfrm>
          <a:prstGeom prst="rect">
            <a:avLst/>
          </a:prstGeom>
          <a:noFill/>
          <a:ln/>
        </p:spPr>
        <p:txBody>
          <a:bodyPr wrap="square" lIns="0" tIns="0" rIns="0" bIns="0" rtlCol="0" anchor="t"/>
          <a:lstStyle/>
          <a:p>
            <a:pPr indent="0" marL="0">
              <a:buNone/>
            </a:pPr>
            <a:r>
              <a:rPr lang="en-US" sz="1050" dirty="0">
                <a:solidFill>
                  <a:srgbClr val="E8E8F0"/>
                </a:solidFill>
                <a:latin typeface="Montserrat" pitchFamily="34" charset="0"/>
                <a:ea typeface="Montserrat" pitchFamily="34" charset="-122"/>
                <a:cs typeface="Montserrat" pitchFamily="34" charset="-120"/>
              </a:rPr>
              <a:t>Start with provider-aware deep links. Add embedding only after provider identity, licensing and short-lived token controls are approved.</a:t>
            </a:r>
            <a:endParaRPr lang="en-US" sz="1050" dirty="0"/>
          </a:p>
        </p:txBody>
      </p:sp>
      <p:sp>
        <p:nvSpPr>
          <p:cNvPr id="13" name="Text 10"/>
          <p:cNvSpPr/>
          <p:nvPr/>
        </p:nvSpPr>
        <p:spPr>
          <a:xfrm>
            <a:off x="4831690" y="1499616"/>
            <a:ext cx="3946550" cy="274320"/>
          </a:xfrm>
          <a:prstGeom prst="rect">
            <a:avLst/>
          </a:prstGeom>
          <a:noFill/>
          <a:ln/>
        </p:spPr>
        <p:txBody>
          <a:bodyPr wrap="square" lIns="0" tIns="0" rIns="0" bIns="0" rtlCol="0" anchor="ctr"/>
          <a:lstStyle/>
          <a:p>
            <a:pPr indent="0" marL="0">
              <a:buNone/>
            </a:pPr>
            <a:r>
              <a:rPr lang="en-US" sz="850" b="1" spc="200" kern="0" dirty="0">
                <a:solidFill>
                  <a:srgbClr val="18FFFF"/>
                </a:solidFill>
                <a:latin typeface="Montserrat" pitchFamily="34" charset="0"/>
                <a:ea typeface="Montserrat" pitchFamily="34" charset="-122"/>
                <a:cs typeface="Montserrat" pitchFamily="34" charset="-120"/>
              </a:rPr>
              <a:t>OUTCOMES</a:t>
            </a:r>
            <a:endParaRPr lang="en-US" sz="850" dirty="0"/>
          </a:p>
        </p:txBody>
      </p:sp>
      <p:sp>
        <p:nvSpPr>
          <p:cNvPr id="14" name="Shape 11"/>
          <p:cNvSpPr/>
          <p:nvPr/>
        </p:nvSpPr>
        <p:spPr>
          <a:xfrm>
            <a:off x="4831690" y="1773936"/>
            <a:ext cx="3946550" cy="691515"/>
          </a:xfrm>
          <a:prstGeom prst="rect">
            <a:avLst/>
          </a:prstGeom>
          <a:solidFill>
            <a:srgbClr val="0D1554"/>
          </a:solidFill>
          <a:ln w="12700">
            <a:solidFill>
              <a:srgbClr val="0D1554"/>
            </a:solidFill>
            <a:prstDash val="solid"/>
          </a:ln>
        </p:spPr>
      </p:sp>
      <p:sp>
        <p:nvSpPr>
          <p:cNvPr id="15" name="Shape 12"/>
          <p:cNvSpPr/>
          <p:nvPr/>
        </p:nvSpPr>
        <p:spPr>
          <a:xfrm>
            <a:off x="4831690" y="1773936"/>
            <a:ext cx="45720" cy="691515"/>
          </a:xfrm>
          <a:prstGeom prst="rect">
            <a:avLst/>
          </a:prstGeom>
          <a:solidFill>
            <a:srgbClr val="18FFFF"/>
          </a:solidFill>
          <a:ln w="12700">
            <a:solidFill>
              <a:srgbClr val="18FFFF"/>
            </a:solidFill>
            <a:prstDash val="solid"/>
          </a:ln>
        </p:spPr>
      </p:sp>
      <p:sp>
        <p:nvSpPr>
          <p:cNvPr id="16" name="Text 13"/>
          <p:cNvSpPr/>
          <p:nvPr/>
        </p:nvSpPr>
        <p:spPr>
          <a:xfrm>
            <a:off x="4959706" y="1810512"/>
            <a:ext cx="457200" cy="618363"/>
          </a:xfrm>
          <a:prstGeom prst="rect">
            <a:avLst/>
          </a:prstGeom>
          <a:noFill/>
          <a:ln/>
        </p:spPr>
        <p:txBody>
          <a:bodyPr wrap="square" lIns="0" tIns="0" rIns="0" bIns="0" rtlCol="0" anchor="ctr"/>
          <a:lstStyle/>
          <a:p>
            <a:pPr indent="0" marL="0">
              <a:buNone/>
            </a:pPr>
            <a:r>
              <a:rPr lang="en-US" sz="2200" b="1" dirty="0">
                <a:solidFill>
                  <a:srgbClr val="FFFFFF"/>
                </a:solidFill>
                <a:latin typeface="Montserrat" pitchFamily="34" charset="0"/>
                <a:ea typeface="Montserrat" pitchFamily="34" charset="-122"/>
                <a:cs typeface="Montserrat" pitchFamily="34" charset="-120"/>
              </a:rPr>
              <a:t>✓</a:t>
            </a:r>
            <a:endParaRPr lang="en-US" sz="2200" dirty="0"/>
          </a:p>
        </p:txBody>
      </p:sp>
      <p:sp>
        <p:nvSpPr>
          <p:cNvPr id="17" name="Text 14"/>
          <p:cNvSpPr/>
          <p:nvPr/>
        </p:nvSpPr>
        <p:spPr>
          <a:xfrm>
            <a:off x="5471770" y="1810512"/>
            <a:ext cx="3178454" cy="618363"/>
          </a:xfrm>
          <a:prstGeom prst="rect">
            <a:avLst/>
          </a:prstGeom>
          <a:noFill/>
          <a:ln/>
        </p:spPr>
        <p:txBody>
          <a:bodyPr wrap="square" lIns="0" tIns="0" rIns="0" bIns="0" rtlCol="0" anchor="ctr"/>
          <a:lstStyle/>
          <a:p>
            <a:pPr indent="0" marL="0">
              <a:buNone/>
            </a:pPr>
            <a:r>
              <a:rPr lang="en-US" sz="1100" dirty="0">
                <a:solidFill>
                  <a:srgbClr val="E8E8F0"/>
                </a:solidFill>
                <a:latin typeface="Montserrat" pitchFamily="34" charset="0"/>
                <a:ea typeface="Montserrat" pitchFamily="34" charset="-122"/>
                <a:cs typeface="Montserrat" pitchFamily="34" charset="-120"/>
              </a:rPr>
              <a:t>No Sentinel package changes</a:t>
            </a:r>
            <a:endParaRPr lang="en-US" sz="1100" dirty="0"/>
          </a:p>
        </p:txBody>
      </p:sp>
      <p:sp>
        <p:nvSpPr>
          <p:cNvPr id="18" name="Shape 15"/>
          <p:cNvSpPr/>
          <p:nvPr/>
        </p:nvSpPr>
        <p:spPr>
          <a:xfrm>
            <a:off x="4831690" y="2520315"/>
            <a:ext cx="3946550" cy="691515"/>
          </a:xfrm>
          <a:prstGeom prst="rect">
            <a:avLst/>
          </a:prstGeom>
          <a:solidFill>
            <a:srgbClr val="0D1554"/>
          </a:solidFill>
          <a:ln w="12700">
            <a:solidFill>
              <a:srgbClr val="0D1554"/>
            </a:solidFill>
            <a:prstDash val="solid"/>
          </a:ln>
        </p:spPr>
      </p:sp>
      <p:sp>
        <p:nvSpPr>
          <p:cNvPr id="19" name="Shape 16"/>
          <p:cNvSpPr/>
          <p:nvPr/>
        </p:nvSpPr>
        <p:spPr>
          <a:xfrm>
            <a:off x="4831690" y="2520315"/>
            <a:ext cx="45720" cy="691515"/>
          </a:xfrm>
          <a:prstGeom prst="rect">
            <a:avLst/>
          </a:prstGeom>
          <a:solidFill>
            <a:srgbClr val="18FFFF"/>
          </a:solidFill>
          <a:ln w="12700">
            <a:solidFill>
              <a:srgbClr val="18FFFF"/>
            </a:solidFill>
            <a:prstDash val="solid"/>
          </a:ln>
        </p:spPr>
      </p:sp>
      <p:sp>
        <p:nvSpPr>
          <p:cNvPr id="20" name="Text 17"/>
          <p:cNvSpPr/>
          <p:nvPr/>
        </p:nvSpPr>
        <p:spPr>
          <a:xfrm>
            <a:off x="4959706" y="2556891"/>
            <a:ext cx="457200" cy="618363"/>
          </a:xfrm>
          <a:prstGeom prst="rect">
            <a:avLst/>
          </a:prstGeom>
          <a:noFill/>
          <a:ln/>
        </p:spPr>
        <p:txBody>
          <a:bodyPr wrap="square" lIns="0" tIns="0" rIns="0" bIns="0" rtlCol="0" anchor="ctr"/>
          <a:lstStyle/>
          <a:p>
            <a:pPr indent="0" marL="0">
              <a:buNone/>
            </a:pPr>
            <a:r>
              <a:rPr lang="en-US" sz="2200" b="1" dirty="0">
                <a:solidFill>
                  <a:srgbClr val="FFFFFF"/>
                </a:solidFill>
                <a:latin typeface="Montserrat" pitchFamily="34" charset="0"/>
                <a:ea typeface="Montserrat" pitchFamily="34" charset="-122"/>
                <a:cs typeface="Montserrat" pitchFamily="34" charset="-120"/>
              </a:rPr>
              <a:t>✓</a:t>
            </a:r>
            <a:endParaRPr lang="en-US" sz="2200" dirty="0"/>
          </a:p>
        </p:txBody>
      </p:sp>
      <p:sp>
        <p:nvSpPr>
          <p:cNvPr id="21" name="Text 18"/>
          <p:cNvSpPr/>
          <p:nvPr/>
        </p:nvSpPr>
        <p:spPr>
          <a:xfrm>
            <a:off x="5471770" y="2556891"/>
            <a:ext cx="3178454" cy="618363"/>
          </a:xfrm>
          <a:prstGeom prst="rect">
            <a:avLst/>
          </a:prstGeom>
          <a:noFill/>
          <a:ln/>
        </p:spPr>
        <p:txBody>
          <a:bodyPr wrap="square" lIns="0" tIns="0" rIns="0" bIns="0" rtlCol="0" anchor="ctr"/>
          <a:lstStyle/>
          <a:p>
            <a:pPr indent="0" marL="0">
              <a:buNone/>
            </a:pPr>
            <a:r>
              <a:rPr lang="en-US" sz="1100" dirty="0">
                <a:solidFill>
                  <a:srgbClr val="E8E8F0"/>
                </a:solidFill>
                <a:latin typeface="Montserrat" pitchFamily="34" charset="0"/>
                <a:ea typeface="Montserrat" pitchFamily="34" charset="-122"/>
                <a:cs typeface="Montserrat" pitchFamily="34" charset="-120"/>
              </a:rPr>
              <a:t>Separate module data and API</a:t>
            </a:r>
            <a:endParaRPr lang="en-US" sz="1100" dirty="0"/>
          </a:p>
        </p:txBody>
      </p:sp>
      <p:sp>
        <p:nvSpPr>
          <p:cNvPr id="22" name="Shape 19"/>
          <p:cNvSpPr/>
          <p:nvPr/>
        </p:nvSpPr>
        <p:spPr>
          <a:xfrm>
            <a:off x="4831690" y="3266694"/>
            <a:ext cx="3946550" cy="691515"/>
          </a:xfrm>
          <a:prstGeom prst="rect">
            <a:avLst/>
          </a:prstGeom>
          <a:solidFill>
            <a:srgbClr val="0D1554"/>
          </a:solidFill>
          <a:ln w="12700">
            <a:solidFill>
              <a:srgbClr val="0D1554"/>
            </a:solidFill>
            <a:prstDash val="solid"/>
          </a:ln>
        </p:spPr>
      </p:sp>
      <p:sp>
        <p:nvSpPr>
          <p:cNvPr id="23" name="Shape 20"/>
          <p:cNvSpPr/>
          <p:nvPr/>
        </p:nvSpPr>
        <p:spPr>
          <a:xfrm>
            <a:off x="4831690" y="3266694"/>
            <a:ext cx="45720" cy="691515"/>
          </a:xfrm>
          <a:prstGeom prst="rect">
            <a:avLst/>
          </a:prstGeom>
          <a:solidFill>
            <a:srgbClr val="18FFFF"/>
          </a:solidFill>
          <a:ln w="12700">
            <a:solidFill>
              <a:srgbClr val="18FFFF"/>
            </a:solidFill>
            <a:prstDash val="solid"/>
          </a:ln>
        </p:spPr>
      </p:sp>
      <p:sp>
        <p:nvSpPr>
          <p:cNvPr id="24" name="Text 21"/>
          <p:cNvSpPr/>
          <p:nvPr/>
        </p:nvSpPr>
        <p:spPr>
          <a:xfrm>
            <a:off x="4959706" y="3303270"/>
            <a:ext cx="457200" cy="618363"/>
          </a:xfrm>
          <a:prstGeom prst="rect">
            <a:avLst/>
          </a:prstGeom>
          <a:noFill/>
          <a:ln/>
        </p:spPr>
        <p:txBody>
          <a:bodyPr wrap="square" lIns="0" tIns="0" rIns="0" bIns="0" rtlCol="0" anchor="ctr"/>
          <a:lstStyle/>
          <a:p>
            <a:pPr indent="0" marL="0">
              <a:buNone/>
            </a:pPr>
            <a:r>
              <a:rPr lang="en-US" sz="2200" b="1" dirty="0">
                <a:solidFill>
                  <a:srgbClr val="FFFFFF"/>
                </a:solidFill>
                <a:latin typeface="Montserrat" pitchFamily="34" charset="0"/>
                <a:ea typeface="Montserrat" pitchFamily="34" charset="-122"/>
                <a:cs typeface="Montserrat" pitchFamily="34" charset="-120"/>
              </a:rPr>
              <a:t>✓</a:t>
            </a:r>
            <a:endParaRPr lang="en-US" sz="2200" dirty="0"/>
          </a:p>
        </p:txBody>
      </p:sp>
      <p:sp>
        <p:nvSpPr>
          <p:cNvPr id="25" name="Text 22"/>
          <p:cNvSpPr/>
          <p:nvPr/>
        </p:nvSpPr>
        <p:spPr>
          <a:xfrm>
            <a:off x="5471770" y="3303270"/>
            <a:ext cx="3178454" cy="618363"/>
          </a:xfrm>
          <a:prstGeom prst="rect">
            <a:avLst/>
          </a:prstGeom>
          <a:noFill/>
          <a:ln/>
        </p:spPr>
        <p:txBody>
          <a:bodyPr wrap="square" lIns="0" tIns="0" rIns="0" bIns="0" rtlCol="0" anchor="ctr"/>
          <a:lstStyle/>
          <a:p>
            <a:pPr indent="0" marL="0">
              <a:buNone/>
            </a:pPr>
            <a:r>
              <a:rPr lang="en-US" sz="1100" dirty="0">
                <a:solidFill>
                  <a:srgbClr val="E8E8F0"/>
                </a:solidFill>
                <a:latin typeface="Montserrat" pitchFamily="34" charset="0"/>
                <a:ea typeface="Montserrat" pitchFamily="34" charset="-122"/>
                <a:cs typeface="Montserrat" pitchFamily="34" charset="-120"/>
              </a:rPr>
              <a:t>QuickSight and Tableau enabled independently</a:t>
            </a:r>
            <a:endParaRPr lang="en-US" sz="1100" dirty="0"/>
          </a:p>
        </p:txBody>
      </p:sp>
      <p:sp>
        <p:nvSpPr>
          <p:cNvPr id="26" name="Shape 23"/>
          <p:cNvSpPr/>
          <p:nvPr/>
        </p:nvSpPr>
        <p:spPr>
          <a:xfrm>
            <a:off x="4831690" y="4013073"/>
            <a:ext cx="3946550" cy="691515"/>
          </a:xfrm>
          <a:prstGeom prst="rect">
            <a:avLst/>
          </a:prstGeom>
          <a:solidFill>
            <a:srgbClr val="0D1554"/>
          </a:solidFill>
          <a:ln w="12700">
            <a:solidFill>
              <a:srgbClr val="0D1554"/>
            </a:solidFill>
            <a:prstDash val="solid"/>
          </a:ln>
        </p:spPr>
      </p:sp>
      <p:sp>
        <p:nvSpPr>
          <p:cNvPr id="27" name="Shape 24"/>
          <p:cNvSpPr/>
          <p:nvPr/>
        </p:nvSpPr>
        <p:spPr>
          <a:xfrm>
            <a:off x="4831690" y="4013073"/>
            <a:ext cx="45720" cy="691515"/>
          </a:xfrm>
          <a:prstGeom prst="rect">
            <a:avLst/>
          </a:prstGeom>
          <a:solidFill>
            <a:srgbClr val="18FFFF"/>
          </a:solidFill>
          <a:ln w="12700">
            <a:solidFill>
              <a:srgbClr val="18FFFF"/>
            </a:solidFill>
            <a:prstDash val="solid"/>
          </a:ln>
        </p:spPr>
      </p:sp>
      <p:sp>
        <p:nvSpPr>
          <p:cNvPr id="28" name="Text 25"/>
          <p:cNvSpPr/>
          <p:nvPr/>
        </p:nvSpPr>
        <p:spPr>
          <a:xfrm>
            <a:off x="4959706" y="4049649"/>
            <a:ext cx="457200" cy="618363"/>
          </a:xfrm>
          <a:prstGeom prst="rect">
            <a:avLst/>
          </a:prstGeom>
          <a:noFill/>
          <a:ln/>
        </p:spPr>
        <p:txBody>
          <a:bodyPr wrap="square" lIns="0" tIns="0" rIns="0" bIns="0" rtlCol="0" anchor="ctr"/>
          <a:lstStyle/>
          <a:p>
            <a:pPr indent="0" marL="0">
              <a:buNone/>
            </a:pPr>
            <a:r>
              <a:rPr lang="en-US" sz="2200" b="1" dirty="0">
                <a:solidFill>
                  <a:srgbClr val="FFFFFF"/>
                </a:solidFill>
                <a:latin typeface="Montserrat" pitchFamily="34" charset="0"/>
                <a:ea typeface="Montserrat" pitchFamily="34" charset="-122"/>
                <a:cs typeface="Montserrat" pitchFamily="34" charset="-120"/>
              </a:rPr>
              <a:t>✓</a:t>
            </a:r>
            <a:endParaRPr lang="en-US" sz="2200" dirty="0"/>
          </a:p>
        </p:txBody>
      </p:sp>
      <p:sp>
        <p:nvSpPr>
          <p:cNvPr id="29" name="Text 26"/>
          <p:cNvSpPr/>
          <p:nvPr/>
        </p:nvSpPr>
        <p:spPr>
          <a:xfrm>
            <a:off x="5471770" y="4049649"/>
            <a:ext cx="3178454" cy="618363"/>
          </a:xfrm>
          <a:prstGeom prst="rect">
            <a:avLst/>
          </a:prstGeom>
          <a:noFill/>
          <a:ln/>
        </p:spPr>
        <p:txBody>
          <a:bodyPr wrap="square" lIns="0" tIns="0" rIns="0" bIns="0" rtlCol="0" anchor="ctr"/>
          <a:lstStyle/>
          <a:p>
            <a:pPr indent="0" marL="0">
              <a:buNone/>
            </a:pPr>
            <a:r>
              <a:rPr lang="en-US" sz="1100" dirty="0">
                <a:solidFill>
                  <a:srgbClr val="E8E8F0"/>
                </a:solidFill>
                <a:latin typeface="Montserrat" pitchFamily="34" charset="0"/>
                <a:ea typeface="Montserrat" pitchFamily="34" charset="-122"/>
                <a:cs typeface="Montserrat" pitchFamily="34" charset="-120"/>
              </a:rPr>
              <a:t>Provider permissions remain authoritative</a:t>
            </a:r>
            <a:endParaRPr lang="en-US" sz="1100" dirty="0"/>
          </a:p>
        </p:txBody>
      </p:sp>
      <p:sp>
        <p:nvSpPr>
          <p:cNvPr id="30" name="Text 27"/>
          <p:cNvSpPr/>
          <p:nvPr/>
        </p:nvSpPr>
        <p:spPr>
          <a:xfrm>
            <a:off x="365760" y="4832604"/>
            <a:ext cx="8412480" cy="182880"/>
          </a:xfrm>
          <a:prstGeom prst="rect">
            <a:avLst/>
          </a:prstGeom>
          <a:noFill/>
          <a:ln/>
        </p:spPr>
        <p:txBody>
          <a:bodyPr wrap="square" lIns="0" tIns="0" rIns="0" bIns="0" rtlCol="0" anchor="ctr"/>
          <a:lstStyle/>
          <a:p>
            <a:pPr indent="0" marL="0">
              <a:buNone/>
            </a:pPr>
            <a:r>
              <a:rPr lang="en-US" sz="800" dirty="0">
                <a:solidFill>
                  <a:srgbClr val="8888AA"/>
                </a:solidFill>
                <a:latin typeface="Montserrat" pitchFamily="34" charset="0"/>
                <a:ea typeface="Montserrat" pitchFamily="34" charset="-122"/>
                <a:cs typeface="Montserrat" pitchFamily="34" charset="-120"/>
              </a:rPr>
              <a:t>If this requires restructuring Sentinel, the platform boundary is wrong.</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40038"/>
        </a:solidFill>
      </p:bgPr>
    </p:bg>
    <p:spTree>
      <p:nvGrpSpPr>
        <p:cNvPr id="1" name=""/>
        <p:cNvGrpSpPr/>
        <p:nvPr/>
      </p:nvGrpSpPr>
      <p:grpSpPr>
        <a:xfrm>
          <a:off x="0" y="0"/>
          <a:ext cx="0" cy="0"/>
          <a:chOff x="0" y="0"/>
          <a:chExt cx="0" cy="0"/>
        </a:xfrm>
      </p:grpSpPr>
      <p:sp>
        <p:nvSpPr>
          <p:cNvPr id="3" name="Text 0"/>
          <p:cNvSpPr/>
          <p:nvPr/>
        </p:nvSpPr>
        <p:spPr>
          <a:xfrm>
            <a:off x="365760" y="256032"/>
            <a:ext cx="8229600" cy="201168"/>
          </a:xfrm>
          <a:prstGeom prst="rect">
            <a:avLst/>
          </a:prstGeom>
          <a:noFill/>
          <a:ln/>
        </p:spPr>
        <p:txBody>
          <a:bodyPr wrap="square" lIns="0" tIns="0" rIns="0" bIns="0" rtlCol="0" anchor="ctr"/>
          <a:lstStyle/>
          <a:p>
            <a:pPr indent="0" marL="0">
              <a:buNone/>
            </a:pPr>
            <a:r>
              <a:rPr lang="en-US" sz="850" b="1" spc="200" kern="0" dirty="0">
                <a:solidFill>
                  <a:srgbClr val="18FFFF"/>
                </a:solidFill>
                <a:latin typeface="Montserrat" pitchFamily="34" charset="0"/>
                <a:ea typeface="Montserrat" pitchFamily="34" charset="-122"/>
                <a:cs typeface="Montserrat" pitchFamily="34" charset="-120"/>
              </a:rPr>
              <a:t>DEPLOYMENT CONFIGURATION</a:t>
            </a:r>
            <a:endParaRPr lang="en-US" sz="850" dirty="0"/>
          </a:p>
        </p:txBody>
      </p:sp>
      <p:sp>
        <p:nvSpPr>
          <p:cNvPr id="4" name="Text 1"/>
          <p:cNvSpPr/>
          <p:nvPr/>
        </p:nvSpPr>
        <p:spPr>
          <a:xfrm>
            <a:off x="365760" y="512064"/>
            <a:ext cx="8412480" cy="914400"/>
          </a:xfrm>
          <a:prstGeom prst="rect">
            <a:avLst/>
          </a:prstGeom>
          <a:noFill/>
          <a:ln/>
        </p:spPr>
        <p:txBody>
          <a:bodyPr wrap="square" lIns="0" tIns="0" rIns="0" bIns="0" rtlCol="0" anchor="ctr"/>
          <a:lstStyle/>
          <a:p>
            <a:pPr indent="0" marL="0">
              <a:buNone/>
            </a:pPr>
            <a:r>
              <a:rPr lang="en-US" sz="2600" b="1" dirty="0">
                <a:solidFill>
                  <a:srgbClr val="FFFFFF"/>
                </a:solidFill>
                <a:latin typeface="Montserrat" pitchFamily="34" charset="0"/>
                <a:ea typeface="Montserrat" pitchFamily="34" charset="-122"/>
                <a:cs typeface="Montserrat" pitchFamily="34" charset="-120"/>
              </a:rPr>
              <a:t>Feature flags change runtime composition, not authorization.</a:t>
            </a:r>
            <a:endParaRPr lang="en-US" sz="2600" dirty="0"/>
          </a:p>
        </p:txBody>
      </p:sp>
      <p:sp>
        <p:nvSpPr>
          <p:cNvPr id="5" name="Text 2"/>
          <p:cNvSpPr/>
          <p:nvPr/>
        </p:nvSpPr>
        <p:spPr>
          <a:xfrm>
            <a:off x="365760" y="1627632"/>
            <a:ext cx="3662172" cy="256032"/>
          </a:xfrm>
          <a:prstGeom prst="rect">
            <a:avLst/>
          </a:prstGeom>
          <a:noFill/>
          <a:ln/>
        </p:spPr>
        <p:txBody>
          <a:bodyPr wrap="square" lIns="0" tIns="0" rIns="0" bIns="0" rtlCol="0" anchor="ctr"/>
          <a:lstStyle/>
          <a:p>
            <a:pPr indent="0" marL="0">
              <a:buNone/>
            </a:pPr>
            <a:r>
              <a:rPr lang="en-US" sz="850" b="1" spc="150" kern="0" dirty="0">
                <a:solidFill>
                  <a:srgbClr val="18FFFF"/>
                </a:solidFill>
                <a:latin typeface="Montserrat" pitchFamily="34" charset="0"/>
                <a:ea typeface="Montserrat" pitchFamily="34" charset="-122"/>
                <a:cs typeface="Montserrat" pitchFamily="34" charset="-120"/>
              </a:rPr>
              <a:t>CONFIGURATION GATE</a:t>
            </a:r>
            <a:endParaRPr lang="en-US" sz="850" dirty="0"/>
          </a:p>
        </p:txBody>
      </p:sp>
      <p:sp>
        <p:nvSpPr>
          <p:cNvPr id="6" name="Text 3"/>
          <p:cNvSpPr/>
          <p:nvPr/>
        </p:nvSpPr>
        <p:spPr>
          <a:xfrm>
            <a:off x="4302252" y="1627632"/>
            <a:ext cx="4475988" cy="256032"/>
          </a:xfrm>
          <a:prstGeom prst="rect">
            <a:avLst/>
          </a:prstGeom>
          <a:noFill/>
          <a:ln/>
        </p:spPr>
        <p:txBody>
          <a:bodyPr wrap="square" lIns="0" tIns="0" rIns="0" bIns="0" rtlCol="0" anchor="ctr"/>
          <a:lstStyle/>
          <a:p>
            <a:pPr indent="0" marL="0">
              <a:buNone/>
            </a:pPr>
            <a:r>
              <a:rPr lang="en-US" sz="850" b="1" spc="150" kern="0" dirty="0">
                <a:solidFill>
                  <a:srgbClr val="18FFFF"/>
                </a:solidFill>
                <a:latin typeface="Montserrat" pitchFamily="34" charset="0"/>
                <a:ea typeface="Montserrat" pitchFamily="34" charset="-122"/>
                <a:cs typeface="Montserrat" pitchFamily="34" charset="-120"/>
              </a:rPr>
              <a:t>AUTHORITATIVE RUNTIME EFFECT</a:t>
            </a:r>
            <a:endParaRPr lang="en-US" sz="850" dirty="0"/>
          </a:p>
        </p:txBody>
      </p:sp>
      <p:sp>
        <p:nvSpPr>
          <p:cNvPr id="7" name="Shape 4"/>
          <p:cNvSpPr/>
          <p:nvPr/>
        </p:nvSpPr>
        <p:spPr>
          <a:xfrm>
            <a:off x="365760" y="2064258"/>
            <a:ext cx="8412480" cy="466344"/>
          </a:xfrm>
          <a:prstGeom prst="rect">
            <a:avLst/>
          </a:prstGeom>
          <a:solidFill>
            <a:srgbClr val="0D1554"/>
          </a:solidFill>
          <a:ln w="12700">
            <a:solidFill>
              <a:srgbClr val="0D1554"/>
            </a:solidFill>
            <a:prstDash val="solid"/>
          </a:ln>
        </p:spPr>
      </p:sp>
      <p:sp>
        <p:nvSpPr>
          <p:cNvPr id="8" name="Text 5"/>
          <p:cNvSpPr/>
          <p:nvPr/>
        </p:nvSpPr>
        <p:spPr>
          <a:xfrm>
            <a:off x="457200" y="2100834"/>
            <a:ext cx="3479292" cy="393192"/>
          </a:xfrm>
          <a:prstGeom prst="rect">
            <a:avLst/>
          </a:prstGeom>
          <a:noFill/>
          <a:ln/>
        </p:spPr>
        <p:txBody>
          <a:bodyPr wrap="square" lIns="0" tIns="0" rIns="0" bIns="0" rtlCol="0" anchor="ctr"/>
          <a:lstStyle/>
          <a:p>
            <a:pPr indent="0" marL="0">
              <a:buNone/>
            </a:pPr>
            <a:r>
              <a:rPr lang="en-US" sz="1000" dirty="0">
                <a:solidFill>
                  <a:srgbClr val="E8E8F0"/>
                </a:solidFill>
                <a:latin typeface="Montserrat" pitchFamily="34" charset="0"/>
                <a:ea typeface="Montserrat" pitchFamily="34" charset="-122"/>
                <a:cs typeface="Montserrat" pitchFamily="34" charset="-120"/>
              </a:rPr>
              <a:t>Sentinel disabled</a:t>
            </a:r>
            <a:endParaRPr lang="en-US" sz="1000" dirty="0"/>
          </a:p>
        </p:txBody>
      </p:sp>
      <p:sp>
        <p:nvSpPr>
          <p:cNvPr id="9" name="Text 6"/>
          <p:cNvSpPr/>
          <p:nvPr/>
        </p:nvSpPr>
        <p:spPr>
          <a:xfrm>
            <a:off x="4027932" y="2064258"/>
            <a:ext cx="274320" cy="466344"/>
          </a:xfrm>
          <a:prstGeom prst="rect">
            <a:avLst/>
          </a:prstGeom>
          <a:noFill/>
          <a:ln/>
        </p:spPr>
        <p:txBody>
          <a:bodyPr wrap="square" lIns="0" tIns="0" rIns="0" bIns="0" rtlCol="0" anchor="ctr"/>
          <a:lstStyle/>
          <a:p>
            <a:pPr algn="ctr" indent="0" marL="0">
              <a:buNone/>
            </a:pPr>
            <a:r>
              <a:rPr lang="en-US" sz="1200" b="1" dirty="0">
                <a:solidFill>
                  <a:srgbClr val="18FFFF"/>
                </a:solidFill>
                <a:latin typeface="Montserrat" pitchFamily="34" charset="0"/>
                <a:ea typeface="Montserrat" pitchFamily="34" charset="-122"/>
                <a:cs typeface="Montserrat" pitchFamily="34" charset="-120"/>
              </a:rPr>
              <a:t>→</a:t>
            </a:r>
            <a:endParaRPr lang="en-US" sz="1200" dirty="0"/>
          </a:p>
        </p:txBody>
      </p:sp>
      <p:sp>
        <p:nvSpPr>
          <p:cNvPr id="10" name="Text 7"/>
          <p:cNvSpPr/>
          <p:nvPr/>
        </p:nvSpPr>
        <p:spPr>
          <a:xfrm>
            <a:off x="4393692" y="2100834"/>
            <a:ext cx="4293108" cy="393192"/>
          </a:xfrm>
          <a:prstGeom prst="rect">
            <a:avLst/>
          </a:prstGeom>
          <a:noFill/>
          <a:ln/>
        </p:spPr>
        <p:txBody>
          <a:bodyPr wrap="square" lIns="0" tIns="0" rIns="0" bIns="0" rtlCol="0" anchor="ctr"/>
          <a:lstStyle/>
          <a:p>
            <a:pPr indent="0" marL="0">
              <a:buNone/>
            </a:pPr>
            <a:r>
              <a:rPr lang="en-US" sz="1000" dirty="0">
                <a:solidFill>
                  <a:srgbClr val="E8E8F0"/>
                </a:solidFill>
                <a:latin typeface="Montserrat" pitchFamily="34" charset="0"/>
                <a:ea typeface="Montserrat" pitchFamily="34" charset="-122"/>
                <a:cs typeface="Montserrat" pitchFamily="34" charset="-120"/>
              </a:rPr>
              <a:t>No Sentinel routes, jobs, event handlers or integration secrets are initialized</a:t>
            </a:r>
            <a:endParaRPr lang="en-US" sz="1000" dirty="0"/>
          </a:p>
        </p:txBody>
      </p:sp>
      <p:sp>
        <p:nvSpPr>
          <p:cNvPr id="11" name="Text 8"/>
          <p:cNvSpPr/>
          <p:nvPr/>
        </p:nvSpPr>
        <p:spPr>
          <a:xfrm>
            <a:off x="457200" y="2622042"/>
            <a:ext cx="3479292" cy="393192"/>
          </a:xfrm>
          <a:prstGeom prst="rect">
            <a:avLst/>
          </a:prstGeom>
          <a:noFill/>
          <a:ln/>
        </p:spPr>
        <p:txBody>
          <a:bodyPr wrap="square" lIns="0" tIns="0" rIns="0" bIns="0" rtlCol="0" anchor="ctr"/>
          <a:lstStyle/>
          <a:p>
            <a:pPr indent="0" marL="0">
              <a:buNone/>
            </a:pPr>
            <a:r>
              <a:rPr lang="en-US" sz="1000" dirty="0">
                <a:solidFill>
                  <a:srgbClr val="E8E8F0"/>
                </a:solidFill>
                <a:latin typeface="Montserrat" pitchFamily="34" charset="0"/>
                <a:ea typeface="Montserrat" pitchFamily="34" charset="-122"/>
                <a:cs typeface="Montserrat" pitchFamily="34" charset="-120"/>
              </a:rPr>
              <a:t>Dashboard Hub enabled</a:t>
            </a:r>
            <a:endParaRPr lang="en-US" sz="1000" dirty="0"/>
          </a:p>
        </p:txBody>
      </p:sp>
      <p:sp>
        <p:nvSpPr>
          <p:cNvPr id="12" name="Text 9"/>
          <p:cNvSpPr/>
          <p:nvPr/>
        </p:nvSpPr>
        <p:spPr>
          <a:xfrm>
            <a:off x="4027932" y="2585466"/>
            <a:ext cx="274320" cy="466344"/>
          </a:xfrm>
          <a:prstGeom prst="rect">
            <a:avLst/>
          </a:prstGeom>
          <a:noFill/>
          <a:ln/>
        </p:spPr>
        <p:txBody>
          <a:bodyPr wrap="square" lIns="0" tIns="0" rIns="0" bIns="0" rtlCol="0" anchor="ctr"/>
          <a:lstStyle/>
          <a:p>
            <a:pPr algn="ctr" indent="0" marL="0">
              <a:buNone/>
            </a:pPr>
            <a:r>
              <a:rPr lang="en-US" sz="1200" b="1" dirty="0">
                <a:solidFill>
                  <a:srgbClr val="18FFFF"/>
                </a:solidFill>
                <a:latin typeface="Montserrat" pitchFamily="34" charset="0"/>
                <a:ea typeface="Montserrat" pitchFamily="34" charset="-122"/>
                <a:cs typeface="Montserrat" pitchFamily="34" charset="-120"/>
              </a:rPr>
              <a:t>→</a:t>
            </a:r>
            <a:endParaRPr lang="en-US" sz="1200" dirty="0"/>
          </a:p>
        </p:txBody>
      </p:sp>
      <p:sp>
        <p:nvSpPr>
          <p:cNvPr id="13" name="Text 10"/>
          <p:cNvSpPr/>
          <p:nvPr/>
        </p:nvSpPr>
        <p:spPr>
          <a:xfrm>
            <a:off x="4393692" y="2622042"/>
            <a:ext cx="4293108" cy="393192"/>
          </a:xfrm>
          <a:prstGeom prst="rect">
            <a:avLst/>
          </a:prstGeom>
          <a:noFill/>
          <a:ln/>
        </p:spPr>
        <p:txBody>
          <a:bodyPr wrap="square" lIns="0" tIns="0" rIns="0" bIns="0" rtlCol="0" anchor="ctr"/>
          <a:lstStyle/>
          <a:p>
            <a:pPr indent="0" marL="0">
              <a:buNone/>
            </a:pPr>
            <a:r>
              <a:rPr lang="en-US" sz="1000" dirty="0">
                <a:solidFill>
                  <a:srgbClr val="E8E8F0"/>
                </a:solidFill>
                <a:latin typeface="Montserrat" pitchFamily="34" charset="0"/>
                <a:ea typeface="Montserrat" pitchFamily="34" charset="-122"/>
                <a:cs typeface="Montserrat" pitchFamily="34" charset="-120"/>
              </a:rPr>
              <a:t>The backend registers the module and exposes its panels through the capabilities API</a:t>
            </a:r>
            <a:endParaRPr lang="en-US" sz="1000" dirty="0"/>
          </a:p>
        </p:txBody>
      </p:sp>
      <p:sp>
        <p:nvSpPr>
          <p:cNvPr id="14" name="Shape 11"/>
          <p:cNvSpPr/>
          <p:nvPr/>
        </p:nvSpPr>
        <p:spPr>
          <a:xfrm>
            <a:off x="365760" y="3106674"/>
            <a:ext cx="8412480" cy="466344"/>
          </a:xfrm>
          <a:prstGeom prst="rect">
            <a:avLst/>
          </a:prstGeom>
          <a:solidFill>
            <a:srgbClr val="0D1554"/>
          </a:solidFill>
          <a:ln w="12700">
            <a:solidFill>
              <a:srgbClr val="0D1554"/>
            </a:solidFill>
            <a:prstDash val="solid"/>
          </a:ln>
        </p:spPr>
      </p:sp>
      <p:sp>
        <p:nvSpPr>
          <p:cNvPr id="15" name="Text 12"/>
          <p:cNvSpPr/>
          <p:nvPr/>
        </p:nvSpPr>
        <p:spPr>
          <a:xfrm>
            <a:off x="457200" y="3143250"/>
            <a:ext cx="3479292" cy="393192"/>
          </a:xfrm>
          <a:prstGeom prst="rect">
            <a:avLst/>
          </a:prstGeom>
          <a:noFill/>
          <a:ln/>
        </p:spPr>
        <p:txBody>
          <a:bodyPr wrap="square" lIns="0" tIns="0" rIns="0" bIns="0" rtlCol="0" anchor="ctr"/>
          <a:lstStyle/>
          <a:p>
            <a:pPr indent="0" marL="0">
              <a:buNone/>
            </a:pPr>
            <a:r>
              <a:rPr lang="en-US" sz="1000" dirty="0">
                <a:solidFill>
                  <a:srgbClr val="E8E8F0"/>
                </a:solidFill>
                <a:latin typeface="Montserrat" pitchFamily="34" charset="0"/>
                <a:ea typeface="Montserrat" pitchFamily="34" charset="-122"/>
                <a:cs typeface="Montserrat" pitchFamily="34" charset="-120"/>
              </a:rPr>
              <a:t>QuickSight enabled</a:t>
            </a:r>
            <a:endParaRPr lang="en-US" sz="1000" dirty="0"/>
          </a:p>
        </p:txBody>
      </p:sp>
      <p:sp>
        <p:nvSpPr>
          <p:cNvPr id="16" name="Text 13"/>
          <p:cNvSpPr/>
          <p:nvPr/>
        </p:nvSpPr>
        <p:spPr>
          <a:xfrm>
            <a:off x="4027932" y="3106674"/>
            <a:ext cx="274320" cy="466344"/>
          </a:xfrm>
          <a:prstGeom prst="rect">
            <a:avLst/>
          </a:prstGeom>
          <a:noFill/>
          <a:ln/>
        </p:spPr>
        <p:txBody>
          <a:bodyPr wrap="square" lIns="0" tIns="0" rIns="0" bIns="0" rtlCol="0" anchor="ctr"/>
          <a:lstStyle/>
          <a:p>
            <a:pPr algn="ctr" indent="0" marL="0">
              <a:buNone/>
            </a:pPr>
            <a:r>
              <a:rPr lang="en-US" sz="1200" b="1" dirty="0">
                <a:solidFill>
                  <a:srgbClr val="18FFFF"/>
                </a:solidFill>
                <a:latin typeface="Montserrat" pitchFamily="34" charset="0"/>
                <a:ea typeface="Montserrat" pitchFamily="34" charset="-122"/>
                <a:cs typeface="Montserrat" pitchFamily="34" charset="-120"/>
              </a:rPr>
              <a:t>→</a:t>
            </a:r>
            <a:endParaRPr lang="en-US" sz="1200" dirty="0"/>
          </a:p>
        </p:txBody>
      </p:sp>
      <p:sp>
        <p:nvSpPr>
          <p:cNvPr id="17" name="Text 14"/>
          <p:cNvSpPr/>
          <p:nvPr/>
        </p:nvSpPr>
        <p:spPr>
          <a:xfrm>
            <a:off x="4393692" y="3143250"/>
            <a:ext cx="4293108" cy="393192"/>
          </a:xfrm>
          <a:prstGeom prst="rect">
            <a:avLst/>
          </a:prstGeom>
          <a:noFill/>
          <a:ln/>
        </p:spPr>
        <p:txBody>
          <a:bodyPr wrap="square" lIns="0" tIns="0" rIns="0" bIns="0" rtlCol="0" anchor="ctr"/>
          <a:lstStyle/>
          <a:p>
            <a:pPr indent="0" marL="0">
              <a:buNone/>
            </a:pPr>
            <a:r>
              <a:rPr lang="en-US" sz="1000" dirty="0">
                <a:solidFill>
                  <a:srgbClr val="E8E8F0"/>
                </a:solidFill>
                <a:latin typeface="Montserrat" pitchFamily="34" charset="0"/>
                <a:ea typeface="Montserrat" pitchFamily="34" charset="-122"/>
                <a:cs typeface="Montserrat" pitchFamily="34" charset="-120"/>
              </a:rPr>
              <a:t>The adapter starts only when Dashboard Hub and its required configuration are valid</a:t>
            </a:r>
            <a:endParaRPr lang="en-US" sz="1000" dirty="0"/>
          </a:p>
        </p:txBody>
      </p:sp>
      <p:sp>
        <p:nvSpPr>
          <p:cNvPr id="18" name="Text 15"/>
          <p:cNvSpPr/>
          <p:nvPr/>
        </p:nvSpPr>
        <p:spPr>
          <a:xfrm>
            <a:off x="457200" y="3664458"/>
            <a:ext cx="3479292" cy="393192"/>
          </a:xfrm>
          <a:prstGeom prst="rect">
            <a:avLst/>
          </a:prstGeom>
          <a:noFill/>
          <a:ln/>
        </p:spPr>
        <p:txBody>
          <a:bodyPr wrap="square" lIns="0" tIns="0" rIns="0" bIns="0" rtlCol="0" anchor="ctr"/>
          <a:lstStyle/>
          <a:p>
            <a:pPr indent="0" marL="0">
              <a:buNone/>
            </a:pPr>
            <a:r>
              <a:rPr lang="en-US" sz="1000" dirty="0">
                <a:solidFill>
                  <a:srgbClr val="E8E8F0"/>
                </a:solidFill>
                <a:latin typeface="Montserrat" pitchFamily="34" charset="0"/>
                <a:ea typeface="Montserrat" pitchFamily="34" charset="-122"/>
                <a:cs typeface="Montserrat" pitchFamily="34" charset="-120"/>
              </a:rPr>
              <a:t>Auto-remediation disabled</a:t>
            </a:r>
            <a:endParaRPr lang="en-US" sz="1000" dirty="0"/>
          </a:p>
        </p:txBody>
      </p:sp>
      <p:sp>
        <p:nvSpPr>
          <p:cNvPr id="19" name="Text 16"/>
          <p:cNvSpPr/>
          <p:nvPr/>
        </p:nvSpPr>
        <p:spPr>
          <a:xfrm>
            <a:off x="4027932" y="3627882"/>
            <a:ext cx="274320" cy="466344"/>
          </a:xfrm>
          <a:prstGeom prst="rect">
            <a:avLst/>
          </a:prstGeom>
          <a:noFill/>
          <a:ln/>
        </p:spPr>
        <p:txBody>
          <a:bodyPr wrap="square" lIns="0" tIns="0" rIns="0" bIns="0" rtlCol="0" anchor="ctr"/>
          <a:lstStyle/>
          <a:p>
            <a:pPr algn="ctr" indent="0" marL="0">
              <a:buNone/>
            </a:pPr>
            <a:r>
              <a:rPr lang="en-US" sz="1200" b="1" dirty="0">
                <a:solidFill>
                  <a:srgbClr val="18FFFF"/>
                </a:solidFill>
                <a:latin typeface="Montserrat" pitchFamily="34" charset="0"/>
                <a:ea typeface="Montserrat" pitchFamily="34" charset="-122"/>
                <a:cs typeface="Montserrat" pitchFamily="34" charset="-120"/>
              </a:rPr>
              <a:t>→</a:t>
            </a:r>
            <a:endParaRPr lang="en-US" sz="1200" dirty="0"/>
          </a:p>
        </p:txBody>
      </p:sp>
      <p:sp>
        <p:nvSpPr>
          <p:cNvPr id="20" name="Text 17"/>
          <p:cNvSpPr/>
          <p:nvPr/>
        </p:nvSpPr>
        <p:spPr>
          <a:xfrm>
            <a:off x="4393692" y="3664458"/>
            <a:ext cx="4293108" cy="393192"/>
          </a:xfrm>
          <a:prstGeom prst="rect">
            <a:avLst/>
          </a:prstGeom>
          <a:noFill/>
          <a:ln/>
        </p:spPr>
        <p:txBody>
          <a:bodyPr wrap="square" lIns="0" tIns="0" rIns="0" bIns="0" rtlCol="0" anchor="ctr"/>
          <a:lstStyle/>
          <a:p>
            <a:pPr indent="0" marL="0">
              <a:buNone/>
            </a:pPr>
            <a:r>
              <a:rPr lang="en-US" sz="1000" dirty="0">
                <a:solidFill>
                  <a:srgbClr val="E8E8F0"/>
                </a:solidFill>
                <a:latin typeface="Montserrat" pitchFamily="34" charset="0"/>
                <a:ea typeface="Montserrat" pitchFamily="34" charset="-122"/>
                <a:cs typeface="Montserrat" pitchFamily="34" charset="-120"/>
              </a:rPr>
              <a:t>Human review remains mandatory even when Sentinel is available</a:t>
            </a:r>
            <a:endParaRPr lang="en-US" sz="1000" dirty="0"/>
          </a:p>
        </p:txBody>
      </p:sp>
      <p:sp>
        <p:nvSpPr>
          <p:cNvPr id="21" name="Shape 18"/>
          <p:cNvSpPr/>
          <p:nvPr/>
        </p:nvSpPr>
        <p:spPr>
          <a:xfrm>
            <a:off x="365760" y="4149090"/>
            <a:ext cx="8412480" cy="466344"/>
          </a:xfrm>
          <a:prstGeom prst="rect">
            <a:avLst/>
          </a:prstGeom>
          <a:solidFill>
            <a:srgbClr val="0D1554"/>
          </a:solidFill>
          <a:ln w="12700">
            <a:solidFill>
              <a:srgbClr val="0D1554"/>
            </a:solidFill>
            <a:prstDash val="solid"/>
          </a:ln>
        </p:spPr>
      </p:sp>
      <p:sp>
        <p:nvSpPr>
          <p:cNvPr id="22" name="Text 19"/>
          <p:cNvSpPr/>
          <p:nvPr/>
        </p:nvSpPr>
        <p:spPr>
          <a:xfrm>
            <a:off x="457200" y="4185666"/>
            <a:ext cx="3479292" cy="393192"/>
          </a:xfrm>
          <a:prstGeom prst="rect">
            <a:avLst/>
          </a:prstGeom>
          <a:noFill/>
          <a:ln/>
        </p:spPr>
        <p:txBody>
          <a:bodyPr wrap="square" lIns="0" tIns="0" rIns="0" bIns="0" rtlCol="0" anchor="ctr"/>
          <a:lstStyle/>
          <a:p>
            <a:pPr indent="0" marL="0">
              <a:buNone/>
            </a:pPr>
            <a:r>
              <a:rPr lang="en-US" sz="1000" dirty="0">
                <a:solidFill>
                  <a:srgbClr val="E8E8F0"/>
                </a:solidFill>
                <a:latin typeface="Montserrat" pitchFamily="34" charset="0"/>
                <a:ea typeface="Montserrat" pitchFamily="34" charset="-122"/>
                <a:cs typeface="Montserrat" pitchFamily="34" charset="-120"/>
              </a:rPr>
              <a:t>User lacks permission</a:t>
            </a:r>
            <a:endParaRPr lang="en-US" sz="1000" dirty="0"/>
          </a:p>
        </p:txBody>
      </p:sp>
      <p:sp>
        <p:nvSpPr>
          <p:cNvPr id="23" name="Text 20"/>
          <p:cNvSpPr/>
          <p:nvPr/>
        </p:nvSpPr>
        <p:spPr>
          <a:xfrm>
            <a:off x="4027932" y="4149090"/>
            <a:ext cx="274320" cy="466344"/>
          </a:xfrm>
          <a:prstGeom prst="rect">
            <a:avLst/>
          </a:prstGeom>
          <a:noFill/>
          <a:ln/>
        </p:spPr>
        <p:txBody>
          <a:bodyPr wrap="square" lIns="0" tIns="0" rIns="0" bIns="0" rtlCol="0" anchor="ctr"/>
          <a:lstStyle/>
          <a:p>
            <a:pPr algn="ctr" indent="0" marL="0">
              <a:buNone/>
            </a:pPr>
            <a:r>
              <a:rPr lang="en-US" sz="1200" b="1" dirty="0">
                <a:solidFill>
                  <a:srgbClr val="18FFFF"/>
                </a:solidFill>
                <a:latin typeface="Montserrat" pitchFamily="34" charset="0"/>
                <a:ea typeface="Montserrat" pitchFamily="34" charset="-122"/>
                <a:cs typeface="Montserrat" pitchFamily="34" charset="-120"/>
              </a:rPr>
              <a:t>→</a:t>
            </a:r>
            <a:endParaRPr lang="en-US" sz="1200" dirty="0"/>
          </a:p>
        </p:txBody>
      </p:sp>
      <p:sp>
        <p:nvSpPr>
          <p:cNvPr id="24" name="Text 21"/>
          <p:cNvSpPr/>
          <p:nvPr/>
        </p:nvSpPr>
        <p:spPr>
          <a:xfrm>
            <a:off x="4393692" y="4185666"/>
            <a:ext cx="4293108" cy="393192"/>
          </a:xfrm>
          <a:prstGeom prst="rect">
            <a:avLst/>
          </a:prstGeom>
          <a:noFill/>
          <a:ln/>
        </p:spPr>
        <p:txBody>
          <a:bodyPr wrap="square" lIns="0" tIns="0" rIns="0" bIns="0" rtlCol="0" anchor="ctr"/>
          <a:lstStyle/>
          <a:p>
            <a:pPr indent="0" marL="0">
              <a:buNone/>
            </a:pPr>
            <a:r>
              <a:rPr lang="en-US" sz="1000" dirty="0">
                <a:solidFill>
                  <a:srgbClr val="E8E8F0"/>
                </a:solidFill>
                <a:latin typeface="Montserrat" pitchFamily="34" charset="0"/>
                <a:ea typeface="Montserrat" pitchFamily="34" charset="-122"/>
                <a:cs typeface="Montserrat" pitchFamily="34" charset="-120"/>
              </a:rPr>
              <a:t>The API rejects the action regardless of frontend visibility or feature state</a:t>
            </a:r>
            <a:endParaRPr lang="en-US" sz="1000" dirty="0"/>
          </a:p>
        </p:txBody>
      </p:sp>
      <p:sp>
        <p:nvSpPr>
          <p:cNvPr id="25" name="Text 22"/>
          <p:cNvSpPr/>
          <p:nvPr/>
        </p:nvSpPr>
        <p:spPr>
          <a:xfrm>
            <a:off x="365760" y="4832604"/>
            <a:ext cx="8412480" cy="182880"/>
          </a:xfrm>
          <a:prstGeom prst="rect">
            <a:avLst/>
          </a:prstGeom>
          <a:noFill/>
          <a:ln/>
        </p:spPr>
        <p:txBody>
          <a:bodyPr wrap="square" lIns="0" tIns="0" rIns="0" bIns="0" rtlCol="0" anchor="ctr"/>
          <a:lstStyle/>
          <a:p>
            <a:pPr indent="0" marL="0">
              <a:buNone/>
            </a:pPr>
            <a:r>
              <a:rPr lang="en-US" sz="800" dirty="0">
                <a:solidFill>
                  <a:srgbClr val="8888AA"/>
                </a:solidFill>
                <a:latin typeface="Montserrat" pitchFamily="34" charset="0"/>
                <a:ea typeface="Montserrat" pitchFamily="34" charset="-122"/>
                <a:cs typeface="Montserrat" pitchFamily="34" charset="-120"/>
              </a:rPr>
              <a:t>Examples: MC_FEATURE_SENTINEL_ENABLED=true · MC_FEATURE_DASHBOARD_HUB_ENABLED=true · changes require restart or redeployment</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40038"/>
        </a:solidFill>
      </p:bgPr>
    </p:bg>
    <p:spTree>
      <p:nvGrpSpPr>
        <p:cNvPr id="1" name=""/>
        <p:cNvGrpSpPr/>
        <p:nvPr/>
      </p:nvGrpSpPr>
      <p:grpSpPr>
        <a:xfrm>
          <a:off x="0" y="0"/>
          <a:ext cx="0" cy="0"/>
          <a:chOff x="0" y="0"/>
          <a:chExt cx="0" cy="0"/>
        </a:xfrm>
      </p:grpSpPr>
      <p:sp>
        <p:nvSpPr>
          <p:cNvPr id="2" name="Text 0"/>
          <p:cNvSpPr/>
          <p:nvPr/>
        </p:nvSpPr>
        <p:spPr>
          <a:xfrm>
            <a:off x="365760" y="256032"/>
            <a:ext cx="8229600" cy="201168"/>
          </a:xfrm>
          <a:prstGeom prst="rect">
            <a:avLst/>
          </a:prstGeom>
          <a:noFill/>
          <a:ln/>
        </p:spPr>
        <p:txBody>
          <a:bodyPr wrap="square" lIns="0" tIns="0" rIns="0" bIns="0" rtlCol="0" anchor="ctr"/>
          <a:lstStyle/>
          <a:p>
            <a:pPr indent="0" marL="0">
              <a:buNone/>
            </a:pPr>
            <a:r>
              <a:rPr lang="en-US" sz="850" b="1" spc="200" kern="0" dirty="0">
                <a:solidFill>
                  <a:srgbClr val="18FFFF"/>
                </a:solidFill>
                <a:latin typeface="Montserrat" pitchFamily="34" charset="0"/>
                <a:ea typeface="Montserrat" pitchFamily="34" charset="-122"/>
                <a:cs typeface="Montserrat" pitchFamily="34" charset="-120"/>
              </a:rPr>
              <a:t>DEPLOYMENT AND TENANCY</a:t>
            </a:r>
            <a:endParaRPr lang="en-US" sz="850" dirty="0"/>
          </a:p>
        </p:txBody>
      </p:sp>
      <p:sp>
        <p:nvSpPr>
          <p:cNvPr id="3" name="Text 1"/>
          <p:cNvSpPr/>
          <p:nvPr/>
        </p:nvSpPr>
        <p:spPr>
          <a:xfrm>
            <a:off x="365760" y="512064"/>
            <a:ext cx="8412480" cy="658368"/>
          </a:xfrm>
          <a:prstGeom prst="rect">
            <a:avLst/>
          </a:prstGeom>
          <a:noFill/>
          <a:ln/>
        </p:spPr>
        <p:txBody>
          <a:bodyPr wrap="square" lIns="0" tIns="0" rIns="0" bIns="0" rtlCol="0" anchor="ctr"/>
          <a:lstStyle/>
          <a:p>
            <a:pPr indent="0" marL="0">
              <a:buNone/>
            </a:pPr>
            <a:r>
              <a:rPr lang="en-US" sz="2400" b="1" dirty="0">
                <a:solidFill>
                  <a:srgbClr val="FFFFFF"/>
                </a:solidFill>
                <a:latin typeface="Montserrat" pitchFamily="34" charset="0"/>
                <a:ea typeface="Montserrat" pitchFamily="34" charset="-122"/>
                <a:cs typeface="Montserrat" pitchFamily="34" charset="-120"/>
              </a:rPr>
              <a:t>Every client runs an isolated, immutable release with optional execution cells.</a:t>
            </a:r>
            <a:endParaRPr lang="en-US" sz="2400" dirty="0"/>
          </a:p>
        </p:txBody>
      </p:sp>
      <p:sp>
        <p:nvSpPr>
          <p:cNvPr id="5" name="Shape 2"/>
          <p:cNvSpPr/>
          <p:nvPr/>
        </p:nvSpPr>
        <p:spPr>
          <a:xfrm>
            <a:off x="411480" y="1828800"/>
            <a:ext cx="1417320" cy="1097280"/>
          </a:xfrm>
          <a:prstGeom prst="rect">
            <a:avLst/>
          </a:prstGeom>
          <a:solidFill>
            <a:srgbClr val="0D1554"/>
          </a:solidFill>
          <a:ln w="12700">
            <a:solidFill>
              <a:srgbClr val="18FFFF"/>
            </a:solidFill>
            <a:prstDash val="solid"/>
          </a:ln>
        </p:spPr>
      </p:sp>
      <p:sp>
        <p:nvSpPr>
          <p:cNvPr id="6" name="Shape 3"/>
          <p:cNvSpPr/>
          <p:nvPr/>
        </p:nvSpPr>
        <p:spPr>
          <a:xfrm>
            <a:off x="411480" y="1828800"/>
            <a:ext cx="45720" cy="1097280"/>
          </a:xfrm>
          <a:prstGeom prst="rect">
            <a:avLst/>
          </a:prstGeom>
          <a:solidFill>
            <a:srgbClr val="18FFFF"/>
          </a:solidFill>
          <a:ln w="12700">
            <a:solidFill>
              <a:srgbClr val="18FFFF"/>
            </a:solidFill>
            <a:prstDash val="solid"/>
          </a:ln>
        </p:spPr>
      </p:sp>
      <p:sp>
        <p:nvSpPr>
          <p:cNvPr id="7" name="Text 4"/>
          <p:cNvSpPr/>
          <p:nvPr/>
        </p:nvSpPr>
        <p:spPr>
          <a:xfrm>
            <a:off x="539496" y="1883664"/>
            <a:ext cx="1216152" cy="274320"/>
          </a:xfrm>
          <a:prstGeom prst="rect">
            <a:avLst/>
          </a:prstGeom>
          <a:noFill/>
          <a:ln/>
        </p:spPr>
        <p:txBody>
          <a:bodyPr wrap="square" lIns="0" tIns="0" rIns="0" bIns="0" rtlCol="0" anchor="t"/>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Signed release</a:t>
            </a:r>
            <a:endParaRPr lang="en-US" sz="1050" dirty="0"/>
          </a:p>
        </p:txBody>
      </p:sp>
      <p:sp>
        <p:nvSpPr>
          <p:cNvPr id="8" name="Text 5"/>
          <p:cNvSpPr/>
          <p:nvPr/>
        </p:nvSpPr>
        <p:spPr>
          <a:xfrm>
            <a:off x="539496" y="2157984"/>
            <a:ext cx="1216152" cy="694944"/>
          </a:xfrm>
          <a:prstGeom prst="rect">
            <a:avLst/>
          </a:prstGeom>
          <a:noFill/>
          <a:ln/>
        </p:spPr>
        <p:txBody>
          <a:bodyPr wrap="square" lIns="0" tIns="0" rIns="0" bIns="0" rtlCol="0" anchor="t"/>
          <a:lstStyle/>
          <a:p>
            <a:pPr algn="ctr" indent="0" marL="0">
              <a:buNone/>
            </a:pPr>
            <a:r>
              <a:rPr lang="en-US" sz="780" dirty="0">
                <a:solidFill>
                  <a:srgbClr val="E8E8F0"/>
                </a:solidFill>
                <a:latin typeface="Montserrat" pitchFamily="34" charset="0"/>
                <a:ea typeface="Montserrat" pitchFamily="34" charset="-122"/>
                <a:cs typeface="Montserrat" pitchFamily="34" charset="-120"/>
              </a:rPr>
              <a:t>Backend · frontend</a:t>
            </a:r>
            <a:endParaRPr lang="en-US" sz="780" dirty="0"/>
          </a:p>
          <a:p>
            <a:pPr algn="ctr" indent="0" marL="0">
              <a:buNone/>
            </a:pPr>
            <a:r>
              <a:rPr lang="en-US" sz="780" dirty="0">
                <a:solidFill>
                  <a:srgbClr val="E8E8F0"/>
                </a:solidFill>
                <a:latin typeface="Montserrat" pitchFamily="34" charset="0"/>
                <a:ea typeface="Montserrat" pitchFamily="34" charset="-122"/>
                <a:cs typeface="Montserrat" pitchFamily="34" charset="-120"/>
              </a:rPr>
              <a:t>connectors · deploy packs</a:t>
            </a:r>
            <a:endParaRPr lang="en-US" sz="780" dirty="0"/>
          </a:p>
          <a:p>
            <a:pPr algn="ctr" indent="0" marL="0">
              <a:buNone/>
            </a:pPr>
            <a:r>
              <a:rPr lang="en-US" sz="780" dirty="0">
                <a:solidFill>
                  <a:srgbClr val="E8E8F0"/>
                </a:solidFill>
                <a:latin typeface="Montserrat" pitchFamily="34" charset="0"/>
                <a:ea typeface="Montserrat" pitchFamily="34" charset="-122"/>
                <a:cs typeface="Montserrat" pitchFamily="34" charset="-120"/>
              </a:rPr>
              <a:t>SBOM · checksums</a:t>
            </a:r>
            <a:endParaRPr lang="en-US" sz="780" dirty="0"/>
          </a:p>
        </p:txBody>
      </p:sp>
      <p:sp>
        <p:nvSpPr>
          <p:cNvPr id="9" name="Text 6"/>
          <p:cNvSpPr/>
          <p:nvPr/>
        </p:nvSpPr>
        <p:spPr>
          <a:xfrm>
            <a:off x="1874520" y="2194560"/>
            <a:ext cx="320040" cy="320040"/>
          </a:xfrm>
          <a:prstGeom prst="rect">
            <a:avLst/>
          </a:prstGeom>
          <a:noFill/>
          <a:ln/>
        </p:spPr>
        <p:txBody>
          <a:bodyPr wrap="square" lIns="0" tIns="0" rIns="0" bIns="0" rtlCol="0" anchor="ctr"/>
          <a:lstStyle/>
          <a:p>
            <a:pPr algn="ctr" indent="0" marL="0">
              <a:buNone/>
            </a:pPr>
            <a:r>
              <a:rPr lang="en-US" sz="2200" b="1" dirty="0">
                <a:solidFill>
                  <a:srgbClr val="18FFFF"/>
                </a:solidFill>
                <a:latin typeface="Montserrat" pitchFamily="34" charset="0"/>
                <a:ea typeface="Montserrat" pitchFamily="34" charset="-122"/>
                <a:cs typeface="Montserrat" pitchFamily="34" charset="-120"/>
              </a:rPr>
              <a:t>→</a:t>
            </a:r>
            <a:endParaRPr lang="en-US" sz="2200" dirty="0"/>
          </a:p>
        </p:txBody>
      </p:sp>
      <p:sp>
        <p:nvSpPr>
          <p:cNvPr id="10" name="Shape 7"/>
          <p:cNvSpPr/>
          <p:nvPr/>
        </p:nvSpPr>
        <p:spPr>
          <a:xfrm>
            <a:off x="2240280" y="1261872"/>
            <a:ext cx="6446520" cy="3246120"/>
          </a:xfrm>
          <a:prstGeom prst="rect">
            <a:avLst/>
          </a:prstGeom>
          <a:solidFill>
            <a:srgbClr val="040038"/>
          </a:solidFill>
          <a:ln w="17780">
            <a:solidFill>
              <a:srgbClr val="18FFFF"/>
            </a:solidFill>
            <a:prstDash val="solid"/>
          </a:ln>
        </p:spPr>
      </p:sp>
      <p:sp>
        <p:nvSpPr>
          <p:cNvPr id="11" name="Text 8"/>
          <p:cNvSpPr/>
          <p:nvPr/>
        </p:nvSpPr>
        <p:spPr>
          <a:xfrm>
            <a:off x="2468880" y="1389888"/>
            <a:ext cx="2011680" cy="164592"/>
          </a:xfrm>
          <a:prstGeom prst="rect">
            <a:avLst/>
          </a:prstGeom>
          <a:noFill/>
          <a:ln/>
        </p:spPr>
        <p:txBody>
          <a:bodyPr wrap="square" lIns="0" tIns="0" rIns="0" bIns="0" rtlCol="0" anchor="ctr"/>
          <a:lstStyle/>
          <a:p>
            <a:pPr indent="0" marL="0">
              <a:buNone/>
            </a:pPr>
            <a:r>
              <a:rPr lang="en-US" sz="750" b="1" spc="140" kern="0" dirty="0">
                <a:solidFill>
                  <a:srgbClr val="18FFFF"/>
                </a:solidFill>
                <a:latin typeface="Montserrat" pitchFamily="34" charset="0"/>
                <a:ea typeface="Montserrat" pitchFamily="34" charset="-122"/>
                <a:cs typeface="Montserrat" pitchFamily="34" charset="-120"/>
              </a:rPr>
              <a:t>ONE CLIENT BOUNDARY</a:t>
            </a:r>
            <a:endParaRPr lang="en-US" sz="750" dirty="0"/>
          </a:p>
        </p:txBody>
      </p:sp>
      <p:sp>
        <p:nvSpPr>
          <p:cNvPr id="12" name="Shape 9"/>
          <p:cNvSpPr/>
          <p:nvPr/>
        </p:nvSpPr>
        <p:spPr>
          <a:xfrm>
            <a:off x="2514600" y="1664208"/>
            <a:ext cx="5897880" cy="685800"/>
          </a:xfrm>
          <a:prstGeom prst="rect">
            <a:avLst/>
          </a:prstGeom>
          <a:solidFill>
            <a:srgbClr val="2A4A9E"/>
          </a:solidFill>
          <a:ln w="12700">
            <a:solidFill>
              <a:srgbClr val="3D5FBF"/>
            </a:solidFill>
            <a:prstDash val="solid"/>
          </a:ln>
        </p:spPr>
      </p:sp>
      <p:sp>
        <p:nvSpPr>
          <p:cNvPr id="13" name="Text 10"/>
          <p:cNvSpPr/>
          <p:nvPr/>
        </p:nvSpPr>
        <p:spPr>
          <a:xfrm>
            <a:off x="2606040" y="1719072"/>
            <a:ext cx="5733288" cy="274320"/>
          </a:xfrm>
          <a:prstGeom prst="rect">
            <a:avLst/>
          </a:prstGeom>
          <a:noFill/>
          <a:ln/>
        </p:spPr>
        <p:txBody>
          <a:bodyPr wrap="square" lIns="0" tIns="0" rIns="0" bIns="0" rtlCol="0" anchor="t"/>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Mission Control control plane</a:t>
            </a:r>
            <a:endParaRPr lang="en-US" sz="1100" dirty="0"/>
          </a:p>
        </p:txBody>
      </p:sp>
      <p:sp>
        <p:nvSpPr>
          <p:cNvPr id="14" name="Text 11"/>
          <p:cNvSpPr/>
          <p:nvPr/>
        </p:nvSpPr>
        <p:spPr>
          <a:xfrm>
            <a:off x="2606040" y="1993392"/>
            <a:ext cx="5733288" cy="283464"/>
          </a:xfrm>
          <a:prstGeom prst="rect">
            <a:avLst/>
          </a:prstGeom>
          <a:noFill/>
          <a:ln/>
        </p:spPr>
        <p:txBody>
          <a:bodyPr wrap="square" lIns="0" tIns="0" rIns="0" bIns="0" rtlCol="0" anchor="t"/>
          <a:lstStyle/>
          <a:p>
            <a:pPr algn="ctr" indent="0" marL="0">
              <a:buNone/>
            </a:pPr>
            <a:r>
              <a:rPr lang="en-US" sz="800" dirty="0">
                <a:solidFill>
                  <a:srgbClr val="E8E8F0"/>
                </a:solidFill>
                <a:latin typeface="Montserrat" pitchFamily="34" charset="0"/>
                <a:ea typeface="Montserrat" pitchFamily="34" charset="-122"/>
                <a:cs typeface="Montserrat" pitchFamily="34" charset="-120"/>
              </a:rPr>
              <a:t>UI · API · catalog · identity · policy · feature registry</a:t>
            </a:r>
            <a:endParaRPr lang="en-US" sz="800" dirty="0"/>
          </a:p>
        </p:txBody>
      </p:sp>
      <p:sp>
        <p:nvSpPr>
          <p:cNvPr id="15" name="Text 12"/>
          <p:cNvSpPr/>
          <p:nvPr/>
        </p:nvSpPr>
        <p:spPr>
          <a:xfrm>
            <a:off x="5340096" y="2350008"/>
            <a:ext cx="274320" cy="219456"/>
          </a:xfrm>
          <a:prstGeom prst="rect">
            <a:avLst/>
          </a:prstGeom>
          <a:noFill/>
          <a:ln/>
        </p:spPr>
        <p:txBody>
          <a:bodyPr wrap="square" lIns="0" tIns="0" rIns="0" bIns="0" rtlCol="0" anchor="ctr"/>
          <a:lstStyle/>
          <a:p>
            <a:pPr algn="ctr" indent="0" marL="0">
              <a:buNone/>
            </a:pPr>
            <a:r>
              <a:rPr lang="en-US" sz="1500" b="1" dirty="0">
                <a:solidFill>
                  <a:srgbClr val="18FFFF"/>
                </a:solidFill>
                <a:latin typeface="Montserrat" pitchFamily="34" charset="0"/>
                <a:ea typeface="Montserrat" pitchFamily="34" charset="-122"/>
                <a:cs typeface="Montserrat" pitchFamily="34" charset="-120"/>
              </a:rPr>
              <a:t>↓</a:t>
            </a:r>
            <a:endParaRPr lang="en-US" sz="1500" dirty="0"/>
          </a:p>
        </p:txBody>
      </p:sp>
      <p:sp>
        <p:nvSpPr>
          <p:cNvPr id="16" name="Shape 13"/>
          <p:cNvSpPr/>
          <p:nvPr/>
        </p:nvSpPr>
        <p:spPr>
          <a:xfrm>
            <a:off x="2514600" y="2615184"/>
            <a:ext cx="2788920" cy="1097280"/>
          </a:xfrm>
          <a:prstGeom prst="rect">
            <a:avLst/>
          </a:prstGeom>
          <a:solidFill>
            <a:srgbClr val="0D1554"/>
          </a:solidFill>
          <a:ln w="12700">
            <a:solidFill>
              <a:srgbClr val="1A1A6A"/>
            </a:solidFill>
            <a:prstDash val="solid"/>
          </a:ln>
        </p:spPr>
      </p:sp>
      <p:sp>
        <p:nvSpPr>
          <p:cNvPr id="17" name="Shape 14"/>
          <p:cNvSpPr/>
          <p:nvPr/>
        </p:nvSpPr>
        <p:spPr>
          <a:xfrm>
            <a:off x="2514600" y="2615184"/>
            <a:ext cx="45720" cy="1097280"/>
          </a:xfrm>
          <a:prstGeom prst="rect">
            <a:avLst/>
          </a:prstGeom>
          <a:solidFill>
            <a:srgbClr val="18FFFF"/>
          </a:solidFill>
          <a:ln w="12700">
            <a:solidFill>
              <a:srgbClr val="18FFFF"/>
            </a:solidFill>
            <a:prstDash val="solid"/>
          </a:ln>
        </p:spPr>
      </p:sp>
      <p:sp>
        <p:nvSpPr>
          <p:cNvPr id="18" name="Text 15"/>
          <p:cNvSpPr/>
          <p:nvPr/>
        </p:nvSpPr>
        <p:spPr>
          <a:xfrm>
            <a:off x="2642616" y="2670048"/>
            <a:ext cx="2587752" cy="274320"/>
          </a:xfrm>
          <a:prstGeom prst="rect">
            <a:avLst/>
          </a:prstGeom>
          <a:noFill/>
          <a:ln/>
        </p:spPr>
        <p:txBody>
          <a:bodyPr wrap="square" lIns="0" tIns="0" rIns="0" bIns="0" rtlCol="0" anchor="t"/>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Execution cell A</a:t>
            </a:r>
            <a:endParaRPr lang="en-US" sz="1050" dirty="0"/>
          </a:p>
        </p:txBody>
      </p:sp>
      <p:sp>
        <p:nvSpPr>
          <p:cNvPr id="19" name="Text 16"/>
          <p:cNvSpPr/>
          <p:nvPr/>
        </p:nvSpPr>
        <p:spPr>
          <a:xfrm>
            <a:off x="2642616" y="2944368"/>
            <a:ext cx="2587752" cy="694944"/>
          </a:xfrm>
          <a:prstGeom prst="rect">
            <a:avLst/>
          </a:prstGeom>
          <a:noFill/>
          <a:ln/>
        </p:spPr>
        <p:txBody>
          <a:bodyPr wrap="square" lIns="0" tIns="0" rIns="0" bIns="0" rtlCol="0" anchor="t"/>
          <a:lstStyle/>
          <a:p>
            <a:pPr algn="ctr" indent="0" marL="0">
              <a:buNone/>
            </a:pPr>
            <a:r>
              <a:rPr lang="en-US" sz="800" dirty="0">
                <a:solidFill>
                  <a:srgbClr val="E8E8F0"/>
                </a:solidFill>
                <a:latin typeface="Montserrat" pitchFamily="34" charset="0"/>
                <a:ea typeface="Montserrat" pitchFamily="34" charset="-122"/>
                <a:cs typeface="Montserrat" pitchFamily="34" charset="-120"/>
              </a:rPr>
              <a:t>Workers · MCP/connectors</a:t>
            </a:r>
            <a:endParaRPr lang="en-US" sz="800" dirty="0"/>
          </a:p>
          <a:p>
            <a:pPr algn="ctr" indent="0" marL="0">
              <a:buNone/>
            </a:pPr>
            <a:r>
              <a:rPr lang="en-US" sz="800" dirty="0">
                <a:solidFill>
                  <a:srgbClr val="E8E8F0"/>
                </a:solidFill>
                <a:latin typeface="Montserrat" pitchFamily="34" charset="0"/>
                <a:ea typeface="Montserrat" pitchFamily="34" charset="-122"/>
                <a:cs typeface="Montserrat" pitchFamily="34" charset="-120"/>
              </a:rPr>
              <a:t>approved model endpoint</a:t>
            </a:r>
            <a:endParaRPr lang="en-US" sz="800" dirty="0"/>
          </a:p>
          <a:p>
            <a:pPr algn="ctr" indent="0" marL="0">
              <a:buNone/>
            </a:pPr>
            <a:r>
              <a:rPr lang="en-US" sz="800" dirty="0">
                <a:solidFill>
                  <a:srgbClr val="E8E8F0"/>
                </a:solidFill>
                <a:latin typeface="Montserrat" pitchFamily="34" charset="0"/>
                <a:ea typeface="Montserrat" pitchFamily="34" charset="-122"/>
                <a:cs typeface="Montserrat" pitchFamily="34" charset="-120"/>
              </a:rPr>
              <a:t>scoped credentials + artifacts</a:t>
            </a:r>
            <a:endParaRPr lang="en-US" sz="800" dirty="0"/>
          </a:p>
        </p:txBody>
      </p:sp>
      <p:sp>
        <p:nvSpPr>
          <p:cNvPr id="20" name="Shape 17"/>
          <p:cNvSpPr/>
          <p:nvPr/>
        </p:nvSpPr>
        <p:spPr>
          <a:xfrm>
            <a:off x="5623560" y="2615184"/>
            <a:ext cx="2788920" cy="1097280"/>
          </a:xfrm>
          <a:prstGeom prst="rect">
            <a:avLst/>
          </a:prstGeom>
          <a:solidFill>
            <a:srgbClr val="0D1554"/>
          </a:solidFill>
          <a:ln w="12700">
            <a:solidFill>
              <a:srgbClr val="1A1A6A"/>
            </a:solidFill>
            <a:prstDash val="solid"/>
          </a:ln>
        </p:spPr>
      </p:sp>
      <p:sp>
        <p:nvSpPr>
          <p:cNvPr id="21" name="Text 18"/>
          <p:cNvSpPr/>
          <p:nvPr/>
        </p:nvSpPr>
        <p:spPr>
          <a:xfrm>
            <a:off x="5715000" y="2670048"/>
            <a:ext cx="2624328" cy="274320"/>
          </a:xfrm>
          <a:prstGeom prst="rect">
            <a:avLst/>
          </a:prstGeom>
          <a:noFill/>
          <a:ln/>
        </p:spPr>
        <p:txBody>
          <a:bodyPr wrap="square" lIns="0" tIns="0" rIns="0" bIns="0" rtlCol="0" anchor="t"/>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Execution cell B</a:t>
            </a:r>
            <a:endParaRPr lang="en-US" sz="1050" dirty="0"/>
          </a:p>
        </p:txBody>
      </p:sp>
      <p:sp>
        <p:nvSpPr>
          <p:cNvPr id="22" name="Text 19"/>
          <p:cNvSpPr/>
          <p:nvPr/>
        </p:nvSpPr>
        <p:spPr>
          <a:xfrm>
            <a:off x="5715000" y="2944368"/>
            <a:ext cx="2624328" cy="694944"/>
          </a:xfrm>
          <a:prstGeom prst="rect">
            <a:avLst/>
          </a:prstGeom>
          <a:noFill/>
          <a:ln/>
        </p:spPr>
        <p:txBody>
          <a:bodyPr wrap="square" lIns="0" tIns="0" rIns="0" bIns="0" rtlCol="0" anchor="t"/>
          <a:lstStyle/>
          <a:p>
            <a:pPr algn="ctr" indent="0" marL="0">
              <a:buNone/>
            </a:pPr>
            <a:r>
              <a:rPr lang="en-US" sz="800" dirty="0">
                <a:solidFill>
                  <a:srgbClr val="E8E8F0"/>
                </a:solidFill>
                <a:latin typeface="Montserrat" pitchFamily="34" charset="0"/>
                <a:ea typeface="Montserrat" pitchFamily="34" charset="-122"/>
                <a:cs typeface="Montserrat" pitchFamily="34" charset="-120"/>
              </a:rPr>
              <a:t>Optional second trust zone</a:t>
            </a:r>
            <a:endParaRPr lang="en-US" sz="800" dirty="0"/>
          </a:p>
          <a:p>
            <a:pPr algn="ctr" indent="0" marL="0">
              <a:buNone/>
            </a:pPr>
            <a:r>
              <a:rPr lang="en-US" sz="800" dirty="0">
                <a:solidFill>
                  <a:srgbClr val="E8E8F0"/>
                </a:solidFill>
                <a:latin typeface="Montserrat" pitchFamily="34" charset="0"/>
                <a:ea typeface="Montserrat" pitchFamily="34" charset="-122"/>
                <a:cs typeface="Montserrat" pitchFamily="34" charset="-120"/>
              </a:rPr>
              <a:t>separate jobs and secrets</a:t>
            </a:r>
            <a:endParaRPr lang="en-US" sz="800" dirty="0"/>
          </a:p>
          <a:p>
            <a:pPr algn="ctr" indent="0" marL="0">
              <a:buNone/>
            </a:pPr>
            <a:r>
              <a:rPr lang="en-US" sz="800" dirty="0">
                <a:solidFill>
                  <a:srgbClr val="E8E8F0"/>
                </a:solidFill>
                <a:latin typeface="Montserrat" pitchFamily="34" charset="0"/>
                <a:ea typeface="Montserrat" pitchFamily="34" charset="-122"/>
                <a:cs typeface="Montserrat" pitchFamily="34" charset="-120"/>
              </a:rPr>
              <a:t>separate network reach</a:t>
            </a:r>
            <a:endParaRPr lang="en-US" sz="800" dirty="0"/>
          </a:p>
        </p:txBody>
      </p:sp>
      <p:sp>
        <p:nvSpPr>
          <p:cNvPr id="23" name="Shape 20"/>
          <p:cNvSpPr/>
          <p:nvPr/>
        </p:nvSpPr>
        <p:spPr>
          <a:xfrm>
            <a:off x="2514600" y="3913632"/>
            <a:ext cx="5897880" cy="384048"/>
          </a:xfrm>
          <a:prstGeom prst="rect">
            <a:avLst/>
          </a:prstGeom>
          <a:solidFill>
            <a:srgbClr val="0D1554"/>
          </a:solidFill>
          <a:ln w="12700">
            <a:solidFill>
              <a:srgbClr val="1A1A6A"/>
            </a:solidFill>
            <a:prstDash val="solid"/>
          </a:ln>
        </p:spPr>
      </p:sp>
      <p:sp>
        <p:nvSpPr>
          <p:cNvPr id="24" name="Text 21"/>
          <p:cNvSpPr/>
          <p:nvPr/>
        </p:nvSpPr>
        <p:spPr>
          <a:xfrm>
            <a:off x="2606040" y="3968496"/>
            <a:ext cx="5733288" cy="310896"/>
          </a:xfrm>
          <a:prstGeom prst="rect">
            <a:avLst/>
          </a:prstGeom>
          <a:noFill/>
          <a:ln/>
        </p:spPr>
        <p:txBody>
          <a:bodyPr wrap="square" lIns="0" tIns="0" rIns="0" bIns="0" rtlCol="0" anchor="ctr"/>
          <a:lstStyle/>
          <a:p>
            <a:pPr algn="ctr" indent="0" marL="0">
              <a:buNone/>
            </a:pPr>
            <a:r>
              <a:rPr lang="en-US" sz="870" b="1" dirty="0">
                <a:solidFill>
                  <a:srgbClr val="FFFFFF"/>
                </a:solidFill>
                <a:latin typeface="Montserrat" pitchFamily="34" charset="0"/>
                <a:ea typeface="Montserrat" pitchFamily="34" charset="-122"/>
                <a:cs typeface="Montserrat" pitchFamily="34" charset="-120"/>
              </a:rPr>
              <a:t>Configuration + secret references select modules, providers and cell routing</a:t>
            </a:r>
            <a:endParaRPr lang="en-US" sz="870" dirty="0"/>
          </a:p>
        </p:txBody>
      </p:sp>
      <p:sp>
        <p:nvSpPr>
          <p:cNvPr id="25" name="Text 22"/>
          <p:cNvSpPr/>
          <p:nvPr/>
        </p:nvSpPr>
        <p:spPr>
          <a:xfrm>
            <a:off x="411480" y="3154680"/>
            <a:ext cx="1417320" cy="777240"/>
          </a:xfrm>
          <a:prstGeom prst="rect">
            <a:avLst/>
          </a:prstGeom>
          <a:noFill/>
          <a:ln/>
        </p:spPr>
        <p:txBody>
          <a:bodyPr wrap="square" lIns="0" tIns="0" rIns="0" bIns="0" rtlCol="0" anchor="ctr"/>
          <a:lstStyle/>
          <a:p>
            <a:pPr algn="ctr" indent="0" marL="0">
              <a:buNone/>
            </a:pPr>
            <a:r>
              <a:rPr lang="en-US" sz="800" dirty="0">
                <a:solidFill>
                  <a:srgbClr val="8888AA"/>
                </a:solidFill>
                <a:latin typeface="Montserrat" pitchFamily="34" charset="0"/>
                <a:ea typeface="Montserrat" pitchFamily="34" charset="-122"/>
                <a:cs typeface="Montserrat" pitchFamily="34" charset="-120"/>
              </a:rPr>
              <a:t>AWS · Kubernetes · PCF · Docker/VM · air-gapped import</a:t>
            </a:r>
            <a:endParaRPr lang="en-US" sz="800" dirty="0"/>
          </a:p>
        </p:txBody>
      </p:sp>
      <p:sp>
        <p:nvSpPr>
          <p:cNvPr id="26" name="Text 23"/>
          <p:cNvSpPr/>
          <p:nvPr/>
        </p:nvSpPr>
        <p:spPr>
          <a:xfrm>
            <a:off x="365760" y="4773168"/>
            <a:ext cx="8412480" cy="182880"/>
          </a:xfrm>
          <a:prstGeom prst="rect">
            <a:avLst/>
          </a:prstGeom>
          <a:noFill/>
          <a:ln/>
        </p:spPr>
        <p:txBody>
          <a:bodyPr wrap="square" lIns="0" tIns="0" rIns="0" bIns="0" rtlCol="0" anchor="ctr"/>
          <a:lstStyle/>
          <a:p>
            <a:pPr algn="ctr" indent="0" marL="0">
              <a:buNone/>
            </a:pPr>
            <a:r>
              <a:rPr lang="en-US" sz="750" dirty="0">
                <a:solidFill>
                  <a:srgbClr val="8888AA"/>
                </a:solidFill>
                <a:latin typeface="Montserrat" pitchFamily="34" charset="0"/>
                <a:ea typeface="Montserrat" pitchFamily="34" charset="-122"/>
                <a:cs typeface="Montserrat" pitchFamily="34" charset="-120"/>
              </a:rPr>
              <a:t>Same image digest from development to production · no client image forks · sandbox delegated when the runtime cannot isolate it</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40038"/>
        </a:solidFill>
      </p:bgPr>
    </p:bg>
    <p:spTree>
      <p:nvGrpSpPr>
        <p:cNvPr id="1" name=""/>
        <p:cNvGrpSpPr/>
        <p:nvPr/>
      </p:nvGrpSpPr>
      <p:grpSpPr>
        <a:xfrm>
          <a:off x="0" y="0"/>
          <a:ext cx="0" cy="0"/>
          <a:chOff x="0" y="0"/>
          <a:chExt cx="0" cy="0"/>
        </a:xfrm>
      </p:grpSpPr>
      <p:sp>
        <p:nvSpPr>
          <p:cNvPr id="3" name="Text 0"/>
          <p:cNvSpPr/>
          <p:nvPr/>
        </p:nvSpPr>
        <p:spPr>
          <a:xfrm>
            <a:off x="365760" y="256032"/>
            <a:ext cx="8229600" cy="201168"/>
          </a:xfrm>
          <a:prstGeom prst="rect">
            <a:avLst/>
          </a:prstGeom>
          <a:noFill/>
          <a:ln/>
        </p:spPr>
        <p:txBody>
          <a:bodyPr wrap="square" lIns="0" tIns="0" rIns="0" bIns="0" rtlCol="0" anchor="ctr"/>
          <a:lstStyle/>
          <a:p>
            <a:pPr indent="0" marL="0">
              <a:buNone/>
            </a:pPr>
            <a:r>
              <a:rPr lang="en-US" sz="850" b="1" spc="200" kern="0" dirty="0">
                <a:solidFill>
                  <a:srgbClr val="18FFFF"/>
                </a:solidFill>
                <a:latin typeface="Montserrat" pitchFamily="34" charset="0"/>
                <a:ea typeface="Montserrat" pitchFamily="34" charset="-122"/>
                <a:cs typeface="Montserrat" pitchFamily="34" charset="-120"/>
              </a:rPr>
              <a:t>DELIVERY SEQUENCE</a:t>
            </a:r>
            <a:endParaRPr lang="en-US" sz="850" dirty="0"/>
          </a:p>
        </p:txBody>
      </p:sp>
      <p:sp>
        <p:nvSpPr>
          <p:cNvPr id="4" name="Text 1"/>
          <p:cNvSpPr/>
          <p:nvPr/>
        </p:nvSpPr>
        <p:spPr>
          <a:xfrm>
            <a:off x="365760" y="512064"/>
            <a:ext cx="8412480" cy="850392"/>
          </a:xfrm>
          <a:prstGeom prst="rect">
            <a:avLst/>
          </a:prstGeom>
          <a:noFill/>
          <a:ln/>
        </p:spPr>
        <p:txBody>
          <a:bodyPr wrap="square" lIns="0" tIns="0" rIns="0" bIns="0" rtlCol="0" anchor="ctr"/>
          <a:lstStyle/>
          <a:p>
            <a:pPr indent="0" marL="0">
              <a:buNone/>
            </a:pPr>
            <a:r>
              <a:rPr lang="en-US" sz="2400" b="1" dirty="0">
                <a:solidFill>
                  <a:srgbClr val="FFFFFF"/>
                </a:solidFill>
                <a:latin typeface="Montserrat" pitchFamily="34" charset="0"/>
                <a:ea typeface="Montserrat" pitchFamily="34" charset="-122"/>
                <a:cs typeface="Montserrat" pitchFamily="34" charset="-120"/>
              </a:rPr>
              <a:t>Four increments prove the architecture before we scale it.</a:t>
            </a:r>
            <a:endParaRPr lang="en-US" sz="2400" dirty="0"/>
          </a:p>
        </p:txBody>
      </p:sp>
      <p:sp>
        <p:nvSpPr>
          <p:cNvPr id="5" name="Shape 2"/>
          <p:cNvSpPr/>
          <p:nvPr/>
        </p:nvSpPr>
        <p:spPr>
          <a:xfrm>
            <a:off x="365760" y="1563624"/>
            <a:ext cx="2041398" cy="2738628"/>
          </a:xfrm>
          <a:prstGeom prst="rect">
            <a:avLst/>
          </a:prstGeom>
          <a:solidFill>
            <a:srgbClr val="0D1554"/>
          </a:solidFill>
          <a:ln w="12700">
            <a:solidFill>
              <a:srgbClr val="0D1554"/>
            </a:solidFill>
            <a:prstDash val="solid"/>
          </a:ln>
        </p:spPr>
      </p:sp>
      <p:sp>
        <p:nvSpPr>
          <p:cNvPr id="6" name="Shape 3"/>
          <p:cNvSpPr/>
          <p:nvPr/>
        </p:nvSpPr>
        <p:spPr>
          <a:xfrm>
            <a:off x="365760" y="1563624"/>
            <a:ext cx="2041398" cy="54864"/>
          </a:xfrm>
          <a:prstGeom prst="rect">
            <a:avLst/>
          </a:prstGeom>
          <a:solidFill>
            <a:srgbClr val="18FFFF"/>
          </a:solidFill>
          <a:ln w="12700">
            <a:solidFill>
              <a:srgbClr val="18FFFF"/>
            </a:solidFill>
            <a:prstDash val="solid"/>
          </a:ln>
        </p:spPr>
      </p:sp>
      <p:sp>
        <p:nvSpPr>
          <p:cNvPr id="7" name="Text 4"/>
          <p:cNvSpPr/>
          <p:nvPr/>
        </p:nvSpPr>
        <p:spPr>
          <a:xfrm>
            <a:off x="475488" y="1655064"/>
            <a:ext cx="457200" cy="408920"/>
          </a:xfrm>
          <a:prstGeom prst="rect">
            <a:avLst/>
          </a:prstGeom>
          <a:noFill/>
          <a:ln/>
        </p:spPr>
        <p:txBody>
          <a:bodyPr wrap="square" lIns="0" tIns="0" rIns="0" bIns="0" rtlCol="0" anchor="ctr"/>
          <a:lstStyle/>
          <a:p>
            <a:pPr indent="0" marL="0">
              <a:buNone/>
            </a:pPr>
            <a:r>
              <a:rPr lang="en-US" sz="3600" b="1" dirty="0">
                <a:solidFill>
                  <a:srgbClr val="18FFFF"/>
                </a:solidFill>
                <a:latin typeface="Montserrat" pitchFamily="34" charset="0"/>
                <a:ea typeface="Montserrat" pitchFamily="34" charset="-122"/>
                <a:cs typeface="Montserrat" pitchFamily="34" charset="-120"/>
              </a:rPr>
              <a:t>1</a:t>
            </a:r>
            <a:endParaRPr lang="en-US" sz="3600" dirty="0"/>
          </a:p>
        </p:txBody>
      </p:sp>
      <p:sp>
        <p:nvSpPr>
          <p:cNvPr id="8" name="Text 5"/>
          <p:cNvSpPr/>
          <p:nvPr/>
        </p:nvSpPr>
        <p:spPr>
          <a:xfrm>
            <a:off x="969264" y="1736848"/>
            <a:ext cx="1328166" cy="219456"/>
          </a:xfrm>
          <a:prstGeom prst="rect">
            <a:avLst/>
          </a:prstGeom>
          <a:noFill/>
          <a:ln/>
        </p:spPr>
        <p:txBody>
          <a:bodyPr wrap="square" lIns="0" tIns="0" rIns="0" bIns="0" rtlCol="0" anchor="ctr"/>
          <a:lstStyle/>
          <a:p>
            <a:pPr indent="0" marL="0">
              <a:buNone/>
            </a:pPr>
            <a:r>
              <a:rPr lang="en-US" sz="900" dirty="0">
                <a:solidFill>
                  <a:srgbClr val="8888AA"/>
                </a:solidFill>
                <a:latin typeface="Montserrat" pitchFamily="34" charset="0"/>
                <a:ea typeface="Montserrat" pitchFamily="34" charset="-122"/>
                <a:cs typeface="Montserrat" pitchFamily="34" charset="-120"/>
              </a:rPr>
              <a:t>Phase 0</a:t>
            </a:r>
            <a:endParaRPr lang="en-US" sz="900" dirty="0"/>
          </a:p>
        </p:txBody>
      </p:sp>
      <p:sp>
        <p:nvSpPr>
          <p:cNvPr id="9" name="Text 6"/>
          <p:cNvSpPr/>
          <p:nvPr/>
        </p:nvSpPr>
        <p:spPr>
          <a:xfrm>
            <a:off x="475488" y="2100560"/>
            <a:ext cx="1821942" cy="281132"/>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Platform skeleton</a:t>
            </a:r>
            <a:endParaRPr lang="en-US" sz="1200" dirty="0"/>
          </a:p>
        </p:txBody>
      </p:sp>
      <p:sp>
        <p:nvSpPr>
          <p:cNvPr id="10" name="Shape 7"/>
          <p:cNvSpPr/>
          <p:nvPr/>
        </p:nvSpPr>
        <p:spPr>
          <a:xfrm>
            <a:off x="475488" y="2418268"/>
            <a:ext cx="1821942" cy="9144"/>
          </a:xfrm>
          <a:prstGeom prst="rect">
            <a:avLst/>
          </a:prstGeom>
          <a:solidFill>
            <a:srgbClr val="1A1A6A"/>
          </a:solidFill>
          <a:ln w="12700">
            <a:solidFill>
              <a:srgbClr val="1A1A6A"/>
            </a:solidFill>
            <a:prstDash val="solid"/>
          </a:ln>
        </p:spPr>
      </p:sp>
      <p:sp>
        <p:nvSpPr>
          <p:cNvPr id="11" name="Text 8"/>
          <p:cNvSpPr/>
          <p:nvPr/>
        </p:nvSpPr>
        <p:spPr>
          <a:xfrm>
            <a:off x="475488" y="2482276"/>
            <a:ext cx="1821942" cy="1728536"/>
          </a:xfrm>
          <a:prstGeom prst="rect">
            <a:avLst/>
          </a:prstGeom>
          <a:noFill/>
          <a:ln/>
        </p:spPr>
        <p:txBody>
          <a:bodyPr wrap="square" lIns="0" tIns="0" rIns="0" bIns="0" rtlCol="0" anchor="t"/>
          <a:lstStyle/>
          <a:p>
            <a:pPr indent="0" marL="0">
              <a:spcAft>
                <a:spcPts val="400"/>
              </a:spcAft>
              <a:buNone/>
            </a:pPr>
            <a:r>
              <a:rPr lang="en-US" sz="950" dirty="0">
                <a:solidFill>
                  <a:srgbClr val="E8E8F0"/>
                </a:solidFill>
                <a:latin typeface="Montserrat" pitchFamily="34" charset="0"/>
                <a:ea typeface="Montserrat" pitchFamily="34" charset="-122"/>
                <a:cs typeface="Montserrat" pitchFamily="34" charset="-120"/>
              </a:rPr>
              <a:t>Shell, catalog, module registry, feature flags, contracts and architecture tests.</a:t>
            </a:r>
            <a:endParaRPr lang="en-US" sz="950" dirty="0"/>
          </a:p>
          <a:p>
            <a:pPr indent="0" marL="0">
              <a:spcAft>
                <a:spcPts val="400"/>
              </a:spcAft>
              <a:buNone/>
            </a:pPr>
            <a:r>
              <a:rPr lang="en-US" sz="950" i="1" dirty="0">
                <a:solidFill>
                  <a:srgbClr val="E8E8F0"/>
                </a:solidFill>
                <a:latin typeface="Montserrat" pitchFamily="34" charset="0"/>
                <a:ea typeface="Montserrat" pitchFamily="34" charset="-122"/>
                <a:cs typeface="Montserrat" pitchFamily="34" charset="-120"/>
              </a:rPr>
              <a:t>Gate: Sentinel can be absent and the platform still starts.</a:t>
            </a:r>
            <a:endParaRPr lang="en-US" sz="950" dirty="0"/>
          </a:p>
        </p:txBody>
      </p:sp>
      <p:sp>
        <p:nvSpPr>
          <p:cNvPr id="12" name="Shape 9"/>
          <p:cNvSpPr/>
          <p:nvPr/>
        </p:nvSpPr>
        <p:spPr>
          <a:xfrm>
            <a:off x="365760" y="4375404"/>
            <a:ext cx="2041398" cy="384048"/>
          </a:xfrm>
          <a:prstGeom prst="rect">
            <a:avLst/>
          </a:prstGeom>
          <a:solidFill>
            <a:srgbClr val="0D1554"/>
          </a:solidFill>
          <a:ln w="12700">
            <a:solidFill>
              <a:srgbClr val="0D1554"/>
            </a:solidFill>
            <a:prstDash val="solid"/>
          </a:ln>
        </p:spPr>
      </p:sp>
      <p:sp>
        <p:nvSpPr>
          <p:cNvPr id="13" name="Text 10"/>
          <p:cNvSpPr/>
          <p:nvPr/>
        </p:nvSpPr>
        <p:spPr>
          <a:xfrm>
            <a:off x="475488" y="4421124"/>
            <a:ext cx="1821942" cy="292608"/>
          </a:xfrm>
          <a:prstGeom prst="rect">
            <a:avLst/>
          </a:prstGeom>
          <a:noFill/>
          <a:ln/>
        </p:spPr>
        <p:txBody>
          <a:bodyPr wrap="square" lIns="0" tIns="0" rIns="0" bIns="0" rtlCol="0" anchor="ctr"/>
          <a:lstStyle/>
          <a:p>
            <a:pPr indent="0" marL="0">
              <a:buNone/>
            </a:pPr>
            <a:r>
              <a:rPr lang="en-US" sz="1400" b="1" dirty="0">
                <a:solidFill>
                  <a:srgbClr val="18FFFF"/>
                </a:solidFill>
                <a:latin typeface="Montserrat" pitchFamily="34" charset="0"/>
                <a:ea typeface="Montserrat" pitchFamily="34" charset="-122"/>
                <a:cs typeface="Montserrat" pitchFamily="34" charset="-120"/>
              </a:rPr>
              <a:t>BOUNDARIES</a:t>
            </a:r>
            <a:endParaRPr lang="en-US" sz="1400" dirty="0"/>
          </a:p>
        </p:txBody>
      </p:sp>
      <p:sp>
        <p:nvSpPr>
          <p:cNvPr id="14" name="Shape 11"/>
          <p:cNvSpPr/>
          <p:nvPr/>
        </p:nvSpPr>
        <p:spPr>
          <a:xfrm>
            <a:off x="2489454" y="1563624"/>
            <a:ext cx="2041398" cy="2738628"/>
          </a:xfrm>
          <a:prstGeom prst="rect">
            <a:avLst/>
          </a:prstGeom>
          <a:solidFill>
            <a:srgbClr val="0D1554"/>
          </a:solidFill>
          <a:ln w="12700">
            <a:solidFill>
              <a:srgbClr val="0D1554"/>
            </a:solidFill>
            <a:prstDash val="solid"/>
          </a:ln>
        </p:spPr>
      </p:sp>
      <p:sp>
        <p:nvSpPr>
          <p:cNvPr id="15" name="Shape 12"/>
          <p:cNvSpPr/>
          <p:nvPr/>
        </p:nvSpPr>
        <p:spPr>
          <a:xfrm>
            <a:off x="2489454" y="1563624"/>
            <a:ext cx="2041398" cy="54864"/>
          </a:xfrm>
          <a:prstGeom prst="rect">
            <a:avLst/>
          </a:prstGeom>
          <a:solidFill>
            <a:srgbClr val="18FFFF"/>
          </a:solidFill>
          <a:ln w="12700">
            <a:solidFill>
              <a:srgbClr val="18FFFF"/>
            </a:solidFill>
            <a:prstDash val="solid"/>
          </a:ln>
        </p:spPr>
      </p:sp>
      <p:sp>
        <p:nvSpPr>
          <p:cNvPr id="16" name="Text 13"/>
          <p:cNvSpPr/>
          <p:nvPr/>
        </p:nvSpPr>
        <p:spPr>
          <a:xfrm>
            <a:off x="2599182" y="1655064"/>
            <a:ext cx="457200" cy="408920"/>
          </a:xfrm>
          <a:prstGeom prst="rect">
            <a:avLst/>
          </a:prstGeom>
          <a:noFill/>
          <a:ln/>
        </p:spPr>
        <p:txBody>
          <a:bodyPr wrap="square" lIns="0" tIns="0" rIns="0" bIns="0" rtlCol="0" anchor="ctr"/>
          <a:lstStyle/>
          <a:p>
            <a:pPr indent="0" marL="0">
              <a:buNone/>
            </a:pPr>
            <a:r>
              <a:rPr lang="en-US" sz="3600" b="1" dirty="0">
                <a:solidFill>
                  <a:srgbClr val="18FFFF"/>
                </a:solidFill>
                <a:latin typeface="Montserrat" pitchFamily="34" charset="0"/>
                <a:ea typeface="Montserrat" pitchFamily="34" charset="-122"/>
                <a:cs typeface="Montserrat" pitchFamily="34" charset="-120"/>
              </a:rPr>
              <a:t>2</a:t>
            </a:r>
            <a:endParaRPr lang="en-US" sz="3600" dirty="0"/>
          </a:p>
        </p:txBody>
      </p:sp>
      <p:sp>
        <p:nvSpPr>
          <p:cNvPr id="17" name="Text 14"/>
          <p:cNvSpPr/>
          <p:nvPr/>
        </p:nvSpPr>
        <p:spPr>
          <a:xfrm>
            <a:off x="3092958" y="1736848"/>
            <a:ext cx="1328166" cy="219456"/>
          </a:xfrm>
          <a:prstGeom prst="rect">
            <a:avLst/>
          </a:prstGeom>
          <a:noFill/>
          <a:ln/>
        </p:spPr>
        <p:txBody>
          <a:bodyPr wrap="square" lIns="0" tIns="0" rIns="0" bIns="0" rtlCol="0" anchor="ctr"/>
          <a:lstStyle/>
          <a:p>
            <a:pPr indent="0" marL="0">
              <a:buNone/>
            </a:pPr>
            <a:r>
              <a:rPr lang="en-US" sz="900" dirty="0">
                <a:solidFill>
                  <a:srgbClr val="8888AA"/>
                </a:solidFill>
                <a:latin typeface="Montserrat" pitchFamily="34" charset="0"/>
                <a:ea typeface="Montserrat" pitchFamily="34" charset="-122"/>
                <a:cs typeface="Montserrat" pitchFamily="34" charset="-120"/>
              </a:rPr>
              <a:t>Phase 1</a:t>
            </a:r>
            <a:endParaRPr lang="en-US" sz="900" dirty="0"/>
          </a:p>
        </p:txBody>
      </p:sp>
      <p:sp>
        <p:nvSpPr>
          <p:cNvPr id="18" name="Text 15"/>
          <p:cNvSpPr/>
          <p:nvPr/>
        </p:nvSpPr>
        <p:spPr>
          <a:xfrm>
            <a:off x="2599182" y="2100560"/>
            <a:ext cx="1821942" cy="281132"/>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Sentinel vertical slice</a:t>
            </a:r>
            <a:endParaRPr lang="en-US" sz="1200" dirty="0"/>
          </a:p>
        </p:txBody>
      </p:sp>
      <p:sp>
        <p:nvSpPr>
          <p:cNvPr id="19" name="Shape 16"/>
          <p:cNvSpPr/>
          <p:nvPr/>
        </p:nvSpPr>
        <p:spPr>
          <a:xfrm>
            <a:off x="2599182" y="2418268"/>
            <a:ext cx="1821942" cy="9144"/>
          </a:xfrm>
          <a:prstGeom prst="rect">
            <a:avLst/>
          </a:prstGeom>
          <a:solidFill>
            <a:srgbClr val="1A1A6A"/>
          </a:solidFill>
          <a:ln w="12700">
            <a:solidFill>
              <a:srgbClr val="1A1A6A"/>
            </a:solidFill>
            <a:prstDash val="solid"/>
          </a:ln>
        </p:spPr>
      </p:sp>
      <p:sp>
        <p:nvSpPr>
          <p:cNvPr id="20" name="Text 17"/>
          <p:cNvSpPr/>
          <p:nvPr/>
        </p:nvSpPr>
        <p:spPr>
          <a:xfrm>
            <a:off x="2599182" y="2482276"/>
            <a:ext cx="1821942" cy="1728536"/>
          </a:xfrm>
          <a:prstGeom prst="rect">
            <a:avLst/>
          </a:prstGeom>
          <a:noFill/>
          <a:ln/>
        </p:spPr>
        <p:txBody>
          <a:bodyPr wrap="square" lIns="0" tIns="0" rIns="0" bIns="0" rtlCol="0" anchor="t"/>
          <a:lstStyle/>
          <a:p>
            <a:pPr indent="0" marL="0">
              <a:spcAft>
                <a:spcPts val="400"/>
              </a:spcAft>
              <a:buNone/>
            </a:pPr>
            <a:r>
              <a:rPr lang="en-US" sz="950" dirty="0">
                <a:solidFill>
                  <a:srgbClr val="E8E8F0"/>
                </a:solidFill>
                <a:latin typeface="Montserrat" pitchFamily="34" charset="0"/>
                <a:ea typeface="Montserrat" pitchFamily="34" charset="-122"/>
                <a:cs typeface="Montserrat" pitchFamily="34" charset="-120"/>
              </a:rPr>
              <a:t>Manual signal to bounded investigation, report, trace and review using controlled adapters.</a:t>
            </a:r>
            <a:endParaRPr lang="en-US" sz="950" dirty="0"/>
          </a:p>
          <a:p>
            <a:pPr indent="0" marL="0">
              <a:spcAft>
                <a:spcPts val="400"/>
              </a:spcAft>
              <a:buNone/>
            </a:pPr>
            <a:r>
              <a:rPr lang="en-US" sz="950" i="1" dirty="0">
                <a:solidFill>
                  <a:srgbClr val="E8E8F0"/>
                </a:solidFill>
                <a:latin typeface="Montserrat" pitchFamily="34" charset="0"/>
                <a:ea typeface="Montserrat" pitchFamily="34" charset="-122"/>
                <a:cs typeface="Montserrat" pitchFamily="34" charset="-120"/>
              </a:rPr>
              <a:t>Gate: deterministic termination and full provenance.</a:t>
            </a:r>
            <a:endParaRPr lang="en-US" sz="950" dirty="0"/>
          </a:p>
        </p:txBody>
      </p:sp>
      <p:sp>
        <p:nvSpPr>
          <p:cNvPr id="21" name="Shape 18"/>
          <p:cNvSpPr/>
          <p:nvPr/>
        </p:nvSpPr>
        <p:spPr>
          <a:xfrm>
            <a:off x="2489454" y="4375404"/>
            <a:ext cx="2041398" cy="384048"/>
          </a:xfrm>
          <a:prstGeom prst="rect">
            <a:avLst/>
          </a:prstGeom>
          <a:solidFill>
            <a:srgbClr val="0D1554"/>
          </a:solidFill>
          <a:ln w="12700">
            <a:solidFill>
              <a:srgbClr val="0D1554"/>
            </a:solidFill>
            <a:prstDash val="solid"/>
          </a:ln>
        </p:spPr>
      </p:sp>
      <p:sp>
        <p:nvSpPr>
          <p:cNvPr id="22" name="Text 19"/>
          <p:cNvSpPr/>
          <p:nvPr/>
        </p:nvSpPr>
        <p:spPr>
          <a:xfrm>
            <a:off x="2599182" y="4421124"/>
            <a:ext cx="1821942" cy="292608"/>
          </a:xfrm>
          <a:prstGeom prst="rect">
            <a:avLst/>
          </a:prstGeom>
          <a:noFill/>
          <a:ln/>
        </p:spPr>
        <p:txBody>
          <a:bodyPr wrap="square" lIns="0" tIns="0" rIns="0" bIns="0" rtlCol="0" anchor="ctr"/>
          <a:lstStyle/>
          <a:p>
            <a:pPr indent="0" marL="0">
              <a:buNone/>
            </a:pPr>
            <a:r>
              <a:rPr lang="en-US" sz="1400" b="1" dirty="0">
                <a:solidFill>
                  <a:srgbClr val="18FFFF"/>
                </a:solidFill>
                <a:latin typeface="Montserrat" pitchFamily="34" charset="0"/>
                <a:ea typeface="Montserrat" pitchFamily="34" charset="-122"/>
                <a:cs typeface="Montserrat" pitchFamily="34" charset="-120"/>
              </a:rPr>
              <a:t>PROVE VALUE</a:t>
            </a:r>
            <a:endParaRPr lang="en-US" sz="1400" dirty="0"/>
          </a:p>
        </p:txBody>
      </p:sp>
      <p:sp>
        <p:nvSpPr>
          <p:cNvPr id="23" name="Shape 20"/>
          <p:cNvSpPr/>
          <p:nvPr/>
        </p:nvSpPr>
        <p:spPr>
          <a:xfrm>
            <a:off x="4613148" y="1563624"/>
            <a:ext cx="2041398" cy="2738628"/>
          </a:xfrm>
          <a:prstGeom prst="rect">
            <a:avLst/>
          </a:prstGeom>
          <a:solidFill>
            <a:srgbClr val="0D1554"/>
          </a:solidFill>
          <a:ln w="12700">
            <a:solidFill>
              <a:srgbClr val="0D1554"/>
            </a:solidFill>
            <a:prstDash val="solid"/>
          </a:ln>
        </p:spPr>
      </p:sp>
      <p:sp>
        <p:nvSpPr>
          <p:cNvPr id="24" name="Shape 21"/>
          <p:cNvSpPr/>
          <p:nvPr/>
        </p:nvSpPr>
        <p:spPr>
          <a:xfrm>
            <a:off x="4613148" y="1563624"/>
            <a:ext cx="2041398" cy="54864"/>
          </a:xfrm>
          <a:prstGeom prst="rect">
            <a:avLst/>
          </a:prstGeom>
          <a:solidFill>
            <a:srgbClr val="18FFFF"/>
          </a:solidFill>
          <a:ln w="12700">
            <a:solidFill>
              <a:srgbClr val="18FFFF"/>
            </a:solidFill>
            <a:prstDash val="solid"/>
          </a:ln>
        </p:spPr>
      </p:sp>
      <p:sp>
        <p:nvSpPr>
          <p:cNvPr id="25" name="Text 22"/>
          <p:cNvSpPr/>
          <p:nvPr/>
        </p:nvSpPr>
        <p:spPr>
          <a:xfrm>
            <a:off x="4722876" y="1655064"/>
            <a:ext cx="457200" cy="408920"/>
          </a:xfrm>
          <a:prstGeom prst="rect">
            <a:avLst/>
          </a:prstGeom>
          <a:noFill/>
          <a:ln/>
        </p:spPr>
        <p:txBody>
          <a:bodyPr wrap="square" lIns="0" tIns="0" rIns="0" bIns="0" rtlCol="0" anchor="ctr"/>
          <a:lstStyle/>
          <a:p>
            <a:pPr indent="0" marL="0">
              <a:buNone/>
            </a:pPr>
            <a:r>
              <a:rPr lang="en-US" sz="3600" b="1" dirty="0">
                <a:solidFill>
                  <a:srgbClr val="18FFFF"/>
                </a:solidFill>
                <a:latin typeface="Montserrat" pitchFamily="34" charset="0"/>
                <a:ea typeface="Montserrat" pitchFamily="34" charset="-122"/>
                <a:cs typeface="Montserrat" pitchFamily="34" charset="-120"/>
              </a:rPr>
              <a:t>3</a:t>
            </a:r>
            <a:endParaRPr lang="en-US" sz="3600" dirty="0"/>
          </a:p>
        </p:txBody>
      </p:sp>
      <p:sp>
        <p:nvSpPr>
          <p:cNvPr id="26" name="Text 23"/>
          <p:cNvSpPr/>
          <p:nvPr/>
        </p:nvSpPr>
        <p:spPr>
          <a:xfrm>
            <a:off x="5216652" y="1736848"/>
            <a:ext cx="1328166" cy="219456"/>
          </a:xfrm>
          <a:prstGeom prst="rect">
            <a:avLst/>
          </a:prstGeom>
          <a:noFill/>
          <a:ln/>
        </p:spPr>
        <p:txBody>
          <a:bodyPr wrap="square" lIns="0" tIns="0" rIns="0" bIns="0" rtlCol="0" anchor="ctr"/>
          <a:lstStyle/>
          <a:p>
            <a:pPr indent="0" marL="0">
              <a:buNone/>
            </a:pPr>
            <a:r>
              <a:rPr lang="en-US" sz="900" dirty="0">
                <a:solidFill>
                  <a:srgbClr val="8888AA"/>
                </a:solidFill>
                <a:latin typeface="Montserrat" pitchFamily="34" charset="0"/>
                <a:ea typeface="Montserrat" pitchFamily="34" charset="-122"/>
                <a:cs typeface="Montserrat" pitchFamily="34" charset="-120"/>
              </a:rPr>
              <a:t>Phase 2</a:t>
            </a:r>
            <a:endParaRPr lang="en-US" sz="900" dirty="0"/>
          </a:p>
        </p:txBody>
      </p:sp>
      <p:sp>
        <p:nvSpPr>
          <p:cNvPr id="27" name="Text 24"/>
          <p:cNvSpPr/>
          <p:nvPr/>
        </p:nvSpPr>
        <p:spPr>
          <a:xfrm>
            <a:off x="4722876" y="2100560"/>
            <a:ext cx="1821942" cy="281132"/>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Client integration</a:t>
            </a:r>
            <a:endParaRPr lang="en-US" sz="1200" dirty="0"/>
          </a:p>
        </p:txBody>
      </p:sp>
      <p:sp>
        <p:nvSpPr>
          <p:cNvPr id="28" name="Shape 25"/>
          <p:cNvSpPr/>
          <p:nvPr/>
        </p:nvSpPr>
        <p:spPr>
          <a:xfrm>
            <a:off x="4722876" y="2418268"/>
            <a:ext cx="1821942" cy="9144"/>
          </a:xfrm>
          <a:prstGeom prst="rect">
            <a:avLst/>
          </a:prstGeom>
          <a:solidFill>
            <a:srgbClr val="1A1A6A"/>
          </a:solidFill>
          <a:ln w="12700">
            <a:solidFill>
              <a:srgbClr val="1A1A6A"/>
            </a:solidFill>
            <a:prstDash val="solid"/>
          </a:ln>
        </p:spPr>
      </p:sp>
      <p:sp>
        <p:nvSpPr>
          <p:cNvPr id="29" name="Text 26"/>
          <p:cNvSpPr/>
          <p:nvPr/>
        </p:nvSpPr>
        <p:spPr>
          <a:xfrm>
            <a:off x="4722876" y="2482276"/>
            <a:ext cx="1821942" cy="1728536"/>
          </a:xfrm>
          <a:prstGeom prst="rect">
            <a:avLst/>
          </a:prstGeom>
          <a:noFill/>
          <a:ln/>
        </p:spPr>
        <p:txBody>
          <a:bodyPr wrap="square" lIns="0" tIns="0" rIns="0" bIns="0" rtlCol="0" anchor="t"/>
          <a:lstStyle/>
          <a:p>
            <a:pPr indent="0" marL="0">
              <a:spcAft>
                <a:spcPts val="400"/>
              </a:spcAft>
              <a:buNone/>
            </a:pPr>
            <a:r>
              <a:rPr lang="en-US" sz="950" dirty="0">
                <a:solidFill>
                  <a:srgbClr val="E8E8F0"/>
                </a:solidFill>
                <a:latin typeface="Montserrat" pitchFamily="34" charset="0"/>
                <a:ea typeface="Montserrat" pitchFamily="34" charset="-122"/>
                <a:cs typeface="Montserrat" pitchFamily="34" charset="-120"/>
              </a:rPr>
              <a:t>ServiceNow, Splunk MCP, approved model, identity and isolated execution backend.</a:t>
            </a:r>
            <a:endParaRPr lang="en-US" sz="950" dirty="0"/>
          </a:p>
          <a:p>
            <a:pPr indent="0" marL="0">
              <a:spcAft>
                <a:spcPts val="400"/>
              </a:spcAft>
              <a:buNone/>
            </a:pPr>
            <a:r>
              <a:rPr lang="en-US" sz="950" i="1" dirty="0">
                <a:solidFill>
                  <a:srgbClr val="E8E8F0"/>
                </a:solidFill>
                <a:latin typeface="Montserrat" pitchFamily="34" charset="0"/>
                <a:ea typeface="Montserrat" pitchFamily="34" charset="-122"/>
                <a:cs typeface="Montserrat" pitchFamily="34" charset="-120"/>
              </a:rPr>
              <a:t>Gate: security preflight and historical incident validation.</a:t>
            </a:r>
            <a:endParaRPr lang="en-US" sz="950" dirty="0"/>
          </a:p>
        </p:txBody>
      </p:sp>
      <p:sp>
        <p:nvSpPr>
          <p:cNvPr id="30" name="Shape 27"/>
          <p:cNvSpPr/>
          <p:nvPr/>
        </p:nvSpPr>
        <p:spPr>
          <a:xfrm>
            <a:off x="4613148" y="4375404"/>
            <a:ext cx="2041398" cy="384048"/>
          </a:xfrm>
          <a:prstGeom prst="rect">
            <a:avLst/>
          </a:prstGeom>
          <a:solidFill>
            <a:srgbClr val="0D1554"/>
          </a:solidFill>
          <a:ln w="12700">
            <a:solidFill>
              <a:srgbClr val="0D1554"/>
            </a:solidFill>
            <a:prstDash val="solid"/>
          </a:ln>
        </p:spPr>
      </p:sp>
      <p:sp>
        <p:nvSpPr>
          <p:cNvPr id="31" name="Text 28"/>
          <p:cNvSpPr/>
          <p:nvPr/>
        </p:nvSpPr>
        <p:spPr>
          <a:xfrm>
            <a:off x="4722876" y="4421124"/>
            <a:ext cx="1821942" cy="292608"/>
          </a:xfrm>
          <a:prstGeom prst="rect">
            <a:avLst/>
          </a:prstGeom>
          <a:noFill/>
          <a:ln/>
        </p:spPr>
        <p:txBody>
          <a:bodyPr wrap="square" lIns="0" tIns="0" rIns="0" bIns="0" rtlCol="0" anchor="ctr"/>
          <a:lstStyle/>
          <a:p>
            <a:pPr indent="0" marL="0">
              <a:buNone/>
            </a:pPr>
            <a:r>
              <a:rPr lang="en-US" sz="1400" b="1" dirty="0">
                <a:solidFill>
                  <a:srgbClr val="18FFFF"/>
                </a:solidFill>
                <a:latin typeface="Montserrat" pitchFamily="34" charset="0"/>
                <a:ea typeface="Montserrat" pitchFamily="34" charset="-122"/>
                <a:cs typeface="Montserrat" pitchFamily="34" charset="-120"/>
              </a:rPr>
              <a:t>DE-RISK</a:t>
            </a:r>
            <a:endParaRPr lang="en-US" sz="1400" dirty="0"/>
          </a:p>
        </p:txBody>
      </p:sp>
      <p:sp>
        <p:nvSpPr>
          <p:cNvPr id="32" name="Shape 29"/>
          <p:cNvSpPr/>
          <p:nvPr/>
        </p:nvSpPr>
        <p:spPr>
          <a:xfrm>
            <a:off x="6736842" y="1563624"/>
            <a:ext cx="2041398" cy="2738628"/>
          </a:xfrm>
          <a:prstGeom prst="rect">
            <a:avLst/>
          </a:prstGeom>
          <a:solidFill>
            <a:srgbClr val="0D1554"/>
          </a:solidFill>
          <a:ln w="12700">
            <a:solidFill>
              <a:srgbClr val="0D1554"/>
            </a:solidFill>
            <a:prstDash val="solid"/>
          </a:ln>
        </p:spPr>
      </p:sp>
      <p:sp>
        <p:nvSpPr>
          <p:cNvPr id="33" name="Shape 30"/>
          <p:cNvSpPr/>
          <p:nvPr/>
        </p:nvSpPr>
        <p:spPr>
          <a:xfrm>
            <a:off x="6736842" y="1563624"/>
            <a:ext cx="2041398" cy="54864"/>
          </a:xfrm>
          <a:prstGeom prst="rect">
            <a:avLst/>
          </a:prstGeom>
          <a:solidFill>
            <a:srgbClr val="18FFFF"/>
          </a:solidFill>
          <a:ln w="12700">
            <a:solidFill>
              <a:srgbClr val="18FFFF"/>
            </a:solidFill>
            <a:prstDash val="solid"/>
          </a:ln>
        </p:spPr>
      </p:sp>
      <p:sp>
        <p:nvSpPr>
          <p:cNvPr id="34" name="Text 31"/>
          <p:cNvSpPr/>
          <p:nvPr/>
        </p:nvSpPr>
        <p:spPr>
          <a:xfrm>
            <a:off x="6846570" y="1655064"/>
            <a:ext cx="457200" cy="408920"/>
          </a:xfrm>
          <a:prstGeom prst="rect">
            <a:avLst/>
          </a:prstGeom>
          <a:noFill/>
          <a:ln/>
        </p:spPr>
        <p:txBody>
          <a:bodyPr wrap="square" lIns="0" tIns="0" rIns="0" bIns="0" rtlCol="0" anchor="ctr"/>
          <a:lstStyle/>
          <a:p>
            <a:pPr indent="0" marL="0">
              <a:buNone/>
            </a:pPr>
            <a:r>
              <a:rPr lang="en-US" sz="3600" b="1" dirty="0">
                <a:solidFill>
                  <a:srgbClr val="18FFFF"/>
                </a:solidFill>
                <a:latin typeface="Montserrat" pitchFamily="34" charset="0"/>
                <a:ea typeface="Montserrat" pitchFamily="34" charset="-122"/>
                <a:cs typeface="Montserrat" pitchFamily="34" charset="-120"/>
              </a:rPr>
              <a:t>4</a:t>
            </a:r>
            <a:endParaRPr lang="en-US" sz="3600" dirty="0"/>
          </a:p>
        </p:txBody>
      </p:sp>
      <p:sp>
        <p:nvSpPr>
          <p:cNvPr id="35" name="Text 32"/>
          <p:cNvSpPr/>
          <p:nvPr/>
        </p:nvSpPr>
        <p:spPr>
          <a:xfrm>
            <a:off x="7340346" y="1736848"/>
            <a:ext cx="1328166" cy="219456"/>
          </a:xfrm>
          <a:prstGeom prst="rect">
            <a:avLst/>
          </a:prstGeom>
          <a:noFill/>
          <a:ln/>
        </p:spPr>
        <p:txBody>
          <a:bodyPr wrap="square" lIns="0" tIns="0" rIns="0" bIns="0" rtlCol="0" anchor="ctr"/>
          <a:lstStyle/>
          <a:p>
            <a:pPr indent="0" marL="0">
              <a:buNone/>
            </a:pPr>
            <a:r>
              <a:rPr lang="en-US" sz="900" dirty="0">
                <a:solidFill>
                  <a:srgbClr val="8888AA"/>
                </a:solidFill>
                <a:latin typeface="Montserrat" pitchFamily="34" charset="0"/>
                <a:ea typeface="Montserrat" pitchFamily="34" charset="-122"/>
                <a:cs typeface="Montserrat" pitchFamily="34" charset="-120"/>
              </a:rPr>
              <a:t>Phase 3</a:t>
            </a:r>
            <a:endParaRPr lang="en-US" sz="900" dirty="0"/>
          </a:p>
        </p:txBody>
      </p:sp>
      <p:sp>
        <p:nvSpPr>
          <p:cNvPr id="36" name="Text 33"/>
          <p:cNvSpPr/>
          <p:nvPr/>
        </p:nvSpPr>
        <p:spPr>
          <a:xfrm>
            <a:off x="6846570" y="2100560"/>
            <a:ext cx="1821942" cy="281132"/>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Dashboard Hub</a:t>
            </a:r>
            <a:endParaRPr lang="en-US" sz="1200" dirty="0"/>
          </a:p>
        </p:txBody>
      </p:sp>
      <p:sp>
        <p:nvSpPr>
          <p:cNvPr id="37" name="Shape 34"/>
          <p:cNvSpPr/>
          <p:nvPr/>
        </p:nvSpPr>
        <p:spPr>
          <a:xfrm>
            <a:off x="6846570" y="2418268"/>
            <a:ext cx="1821942" cy="9144"/>
          </a:xfrm>
          <a:prstGeom prst="rect">
            <a:avLst/>
          </a:prstGeom>
          <a:solidFill>
            <a:srgbClr val="1A1A6A"/>
          </a:solidFill>
          <a:ln w="12700">
            <a:solidFill>
              <a:srgbClr val="1A1A6A"/>
            </a:solidFill>
            <a:prstDash val="solid"/>
          </a:ln>
        </p:spPr>
      </p:sp>
      <p:sp>
        <p:nvSpPr>
          <p:cNvPr id="38" name="Text 35"/>
          <p:cNvSpPr/>
          <p:nvPr/>
        </p:nvSpPr>
        <p:spPr>
          <a:xfrm>
            <a:off x="6846570" y="2482276"/>
            <a:ext cx="1821942" cy="1728536"/>
          </a:xfrm>
          <a:prstGeom prst="rect">
            <a:avLst/>
          </a:prstGeom>
          <a:noFill/>
          <a:ln/>
        </p:spPr>
        <p:txBody>
          <a:bodyPr wrap="square" lIns="0" tIns="0" rIns="0" bIns="0" rtlCol="0" anchor="t"/>
          <a:lstStyle/>
          <a:p>
            <a:pPr indent="0" marL="0">
              <a:spcAft>
                <a:spcPts val="400"/>
              </a:spcAft>
              <a:buNone/>
            </a:pPr>
            <a:r>
              <a:rPr lang="en-US" sz="950" dirty="0">
                <a:solidFill>
                  <a:srgbClr val="E8E8F0"/>
                </a:solidFill>
                <a:latin typeface="Montserrat" pitchFamily="34" charset="0"/>
                <a:ea typeface="Montserrat" pitchFamily="34" charset="-122"/>
                <a:cs typeface="Montserrat" pitchFamily="34" charset="-120"/>
              </a:rPr>
              <a:t>Application dashboard bindings plus QuickSight and Tableau deep-link providers.</a:t>
            </a:r>
            <a:endParaRPr lang="en-US" sz="950" dirty="0"/>
          </a:p>
          <a:p>
            <a:pPr indent="0" marL="0">
              <a:spcAft>
                <a:spcPts val="400"/>
              </a:spcAft>
              <a:buNone/>
            </a:pPr>
            <a:r>
              <a:rPr lang="en-US" sz="950" i="1" dirty="0">
                <a:solidFill>
                  <a:srgbClr val="E8E8F0"/>
                </a:solidFill>
                <a:latin typeface="Montserrat" pitchFamily="34" charset="0"/>
                <a:ea typeface="Montserrat" pitchFamily="34" charset="-122"/>
                <a:cs typeface="Montserrat" pitchFamily="34" charset="-120"/>
              </a:rPr>
              <a:t>Gate: no Sentinel or investigation-core changes.</a:t>
            </a:r>
            <a:endParaRPr lang="en-US" sz="950" dirty="0"/>
          </a:p>
        </p:txBody>
      </p:sp>
      <p:sp>
        <p:nvSpPr>
          <p:cNvPr id="39" name="Shape 36"/>
          <p:cNvSpPr/>
          <p:nvPr/>
        </p:nvSpPr>
        <p:spPr>
          <a:xfrm>
            <a:off x="6736842" y="4375404"/>
            <a:ext cx="2041398" cy="384048"/>
          </a:xfrm>
          <a:prstGeom prst="rect">
            <a:avLst/>
          </a:prstGeom>
          <a:solidFill>
            <a:srgbClr val="0D1554"/>
          </a:solidFill>
          <a:ln w="12700">
            <a:solidFill>
              <a:srgbClr val="0D1554"/>
            </a:solidFill>
            <a:prstDash val="solid"/>
          </a:ln>
        </p:spPr>
      </p:sp>
      <p:sp>
        <p:nvSpPr>
          <p:cNvPr id="40" name="Text 37"/>
          <p:cNvSpPr/>
          <p:nvPr/>
        </p:nvSpPr>
        <p:spPr>
          <a:xfrm>
            <a:off x="6846570" y="4421124"/>
            <a:ext cx="1821942" cy="292608"/>
          </a:xfrm>
          <a:prstGeom prst="rect">
            <a:avLst/>
          </a:prstGeom>
          <a:noFill/>
          <a:ln/>
        </p:spPr>
        <p:txBody>
          <a:bodyPr wrap="square" lIns="0" tIns="0" rIns="0" bIns="0" rtlCol="0" anchor="ctr"/>
          <a:lstStyle/>
          <a:p>
            <a:pPr indent="0" marL="0">
              <a:buNone/>
            </a:pPr>
            <a:r>
              <a:rPr lang="en-US" sz="1400" b="1" dirty="0">
                <a:solidFill>
                  <a:srgbClr val="18FFFF"/>
                </a:solidFill>
                <a:latin typeface="Montserrat" pitchFamily="34" charset="0"/>
                <a:ea typeface="Montserrat" pitchFamily="34" charset="-122"/>
                <a:cs typeface="Montserrat" pitchFamily="34" charset="-120"/>
              </a:rPr>
              <a:t>PROVE MODULARITY</a:t>
            </a:r>
            <a:endParaRPr lang="en-US" sz="1400" dirty="0"/>
          </a:p>
        </p:txBody>
      </p:sp>
      <p:sp>
        <p:nvSpPr>
          <p:cNvPr id="41" name="Text 38"/>
          <p:cNvSpPr/>
          <p:nvPr/>
        </p:nvSpPr>
        <p:spPr>
          <a:xfrm>
            <a:off x="365760" y="4832604"/>
            <a:ext cx="8412480" cy="182880"/>
          </a:xfrm>
          <a:prstGeom prst="rect">
            <a:avLst/>
          </a:prstGeom>
          <a:noFill/>
          <a:ln/>
        </p:spPr>
        <p:txBody>
          <a:bodyPr wrap="square" lIns="0" tIns="0" rIns="0" bIns="0" rtlCol="0" anchor="ctr"/>
          <a:lstStyle/>
          <a:p>
            <a:pPr indent="0" marL="0">
              <a:buNone/>
            </a:pPr>
            <a:r>
              <a:rPr lang="en-US" sz="800" dirty="0">
                <a:solidFill>
                  <a:srgbClr val="8888AA"/>
                </a:solidFill>
                <a:latin typeface="Montserrat" pitchFamily="34" charset="0"/>
                <a:ea typeface="Montserrat" pitchFamily="34" charset="-122"/>
                <a:cs typeface="Montserrat" pitchFamily="34" charset="-120"/>
              </a:rPr>
              <a:t>Highest-risk decisions to resolve early: first deployment target, sandbox backend, identity path and intra-client isolation requirement.</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40038"/>
        </a:solidFill>
      </p:bgPr>
    </p:bg>
    <p:spTree>
      <p:nvGrpSpPr>
        <p:cNvPr id="1" name=""/>
        <p:cNvGrpSpPr/>
        <p:nvPr/>
      </p:nvGrpSpPr>
      <p:grpSpPr>
        <a:xfrm>
          <a:off x="0" y="0"/>
          <a:ext cx="0" cy="0"/>
          <a:chOff x="0" y="0"/>
          <a:chExt cx="0" cy="0"/>
        </a:xfrm>
      </p:grpSpPr>
      <p:sp>
        <p:nvSpPr>
          <p:cNvPr id="3" name="Shape 0"/>
          <p:cNvSpPr/>
          <p:nvPr/>
        </p:nvSpPr>
        <p:spPr>
          <a:xfrm>
            <a:off x="0" y="0"/>
            <a:ext cx="109728" cy="5143500"/>
          </a:xfrm>
          <a:prstGeom prst="rect">
            <a:avLst/>
          </a:prstGeom>
          <a:solidFill>
            <a:srgbClr val="18FFFF"/>
          </a:solidFill>
          <a:ln w="12700">
            <a:solidFill>
              <a:srgbClr val="18FFFF"/>
            </a:solidFill>
            <a:prstDash val="solid"/>
          </a:ln>
        </p:spPr>
      </p:sp>
      <p:sp>
        <p:nvSpPr>
          <p:cNvPr id="4" name="Text 1"/>
          <p:cNvSpPr/>
          <p:nvPr/>
        </p:nvSpPr>
        <p:spPr>
          <a:xfrm>
            <a:off x="475488" y="603504"/>
            <a:ext cx="8485632" cy="751362"/>
          </a:xfrm>
          <a:prstGeom prst="rect">
            <a:avLst/>
          </a:prstGeom>
          <a:noFill/>
          <a:ln/>
        </p:spPr>
        <p:txBody>
          <a:bodyPr wrap="square" lIns="0" tIns="0" rIns="0" bIns="0" rtlCol="0" anchor="b"/>
          <a:lstStyle/>
          <a:p>
            <a:pPr indent="0" marL="0">
              <a:buNone/>
            </a:pPr>
            <a:r>
              <a:rPr lang="en-US" sz="1200" dirty="0">
                <a:solidFill>
                  <a:srgbClr val="8888AA"/>
                </a:solidFill>
                <a:latin typeface="Montserrat" pitchFamily="34" charset="0"/>
                <a:ea typeface="Montserrat" pitchFamily="34" charset="-122"/>
                <a:cs typeface="Montserrat" pitchFamily="34" charset="-120"/>
              </a:rPr>
              <a:t>The proposal pays a small platform cost before Sentinel implementation so client integrations do not lock us into a Sentinel-shaped product.</a:t>
            </a:r>
            <a:endParaRPr lang="en-US" sz="1200" dirty="0"/>
          </a:p>
        </p:txBody>
      </p:sp>
      <p:sp>
        <p:nvSpPr>
          <p:cNvPr id="5" name="Text 2"/>
          <p:cNvSpPr/>
          <p:nvPr/>
        </p:nvSpPr>
        <p:spPr>
          <a:xfrm>
            <a:off x="475488" y="1354866"/>
            <a:ext cx="8485632" cy="1335756"/>
          </a:xfrm>
          <a:prstGeom prst="rect">
            <a:avLst/>
          </a:prstGeom>
          <a:noFill/>
          <a:ln/>
        </p:spPr>
        <p:txBody>
          <a:bodyPr wrap="square" lIns="0" tIns="0" rIns="0" bIns="0" rtlCol="0" anchor="ctr"/>
          <a:lstStyle/>
          <a:p>
            <a:pPr indent="0" marL="0">
              <a:buNone/>
            </a:pPr>
            <a:r>
              <a:rPr lang="en-US" sz="2400" b="1" dirty="0">
                <a:solidFill>
                  <a:srgbClr val="18FFFF"/>
                </a:solidFill>
                <a:latin typeface="Montserrat" pitchFamily="34" charset="0"/>
                <a:ea typeface="Montserrat" pitchFamily="34" charset="-122"/>
                <a:cs typeface="Montserrat" pitchFamily="34" charset="-120"/>
              </a:rPr>
              <a:t>Approve Mission Control as the product boundary, with Sentinel as Feature 1.</a:t>
            </a:r>
            <a:endParaRPr lang="en-US" sz="2400" dirty="0"/>
          </a:p>
        </p:txBody>
      </p:sp>
      <p:sp>
        <p:nvSpPr>
          <p:cNvPr id="6" name="Shape 3"/>
          <p:cNvSpPr/>
          <p:nvPr/>
        </p:nvSpPr>
        <p:spPr>
          <a:xfrm>
            <a:off x="475488" y="2727198"/>
            <a:ext cx="8485632" cy="18288"/>
          </a:xfrm>
          <a:prstGeom prst="rect">
            <a:avLst/>
          </a:prstGeom>
          <a:solidFill>
            <a:srgbClr val="1A1A6A"/>
          </a:solidFill>
          <a:ln w="12700">
            <a:solidFill>
              <a:srgbClr val="1A1A6A"/>
            </a:solidFill>
            <a:prstDash val="solid"/>
          </a:ln>
        </p:spPr>
      </p:sp>
      <p:sp>
        <p:nvSpPr>
          <p:cNvPr id="7" name="Text 4"/>
          <p:cNvSpPr/>
          <p:nvPr/>
        </p:nvSpPr>
        <p:spPr>
          <a:xfrm>
            <a:off x="475488" y="3016453"/>
            <a:ext cx="1828800" cy="182880"/>
          </a:xfrm>
          <a:prstGeom prst="rect">
            <a:avLst/>
          </a:prstGeom>
          <a:noFill/>
          <a:ln/>
        </p:spPr>
        <p:txBody>
          <a:bodyPr wrap="square" lIns="0" tIns="0" rIns="0" bIns="0" rtlCol="0" anchor="ctr"/>
          <a:lstStyle/>
          <a:p>
            <a:pPr indent="0" marL="0">
              <a:buNone/>
            </a:pPr>
            <a:r>
              <a:rPr lang="en-US" sz="850" b="1" spc="150" kern="0" dirty="0">
                <a:solidFill>
                  <a:srgbClr val="18FFFF"/>
                </a:solidFill>
                <a:latin typeface="Montserrat" pitchFamily="34" charset="0"/>
                <a:ea typeface="Montserrat" pitchFamily="34" charset="-122"/>
                <a:cs typeface="Montserrat" pitchFamily="34" charset="-120"/>
              </a:rPr>
              <a:t>IF WE DON'T ACT</a:t>
            </a:r>
            <a:endParaRPr lang="en-US" sz="850" dirty="0"/>
          </a:p>
        </p:txBody>
      </p:sp>
      <p:sp>
        <p:nvSpPr>
          <p:cNvPr id="8" name="Text 5"/>
          <p:cNvSpPr/>
          <p:nvPr/>
        </p:nvSpPr>
        <p:spPr>
          <a:xfrm>
            <a:off x="475488" y="3235909"/>
            <a:ext cx="8485632" cy="390220"/>
          </a:xfrm>
          <a:prstGeom prst="rect">
            <a:avLst/>
          </a:prstGeom>
          <a:noFill/>
          <a:ln/>
        </p:spPr>
        <p:txBody>
          <a:bodyPr wrap="square" lIns="0" tIns="0" rIns="0" bIns="0" rtlCol="0" anchor="t"/>
          <a:lstStyle/>
          <a:p>
            <a:pPr indent="0" marL="0">
              <a:buNone/>
            </a:pPr>
            <a:r>
              <a:rPr lang="en-US" sz="1300" dirty="0">
                <a:solidFill>
                  <a:srgbClr val="E8E8F0"/>
                </a:solidFill>
                <a:latin typeface="Montserrat" pitchFamily="34" charset="0"/>
                <a:ea typeface="Montserrat" pitchFamily="34" charset="-122"/>
                <a:cs typeface="Montserrat" pitchFamily="34" charset="-120"/>
              </a:rPr>
              <a:t>A Sentinel-first application would force later extraction of catalog, identity, feature controls, data ownership and UI while live integrations depend on them.</a:t>
            </a:r>
            <a:endParaRPr lang="en-US" sz="1300" dirty="0"/>
          </a:p>
        </p:txBody>
      </p:sp>
      <p:sp>
        <p:nvSpPr>
          <p:cNvPr id="9" name="Text 6"/>
          <p:cNvSpPr/>
          <p:nvPr/>
        </p:nvSpPr>
        <p:spPr>
          <a:xfrm>
            <a:off x="475488" y="3897097"/>
            <a:ext cx="1828800" cy="182880"/>
          </a:xfrm>
          <a:prstGeom prst="rect">
            <a:avLst/>
          </a:prstGeom>
          <a:noFill/>
          <a:ln/>
        </p:spPr>
        <p:txBody>
          <a:bodyPr wrap="square" lIns="0" tIns="0" rIns="0" bIns="0" rtlCol="0" anchor="ctr"/>
          <a:lstStyle/>
          <a:p>
            <a:pPr indent="0" marL="0">
              <a:buNone/>
            </a:pPr>
            <a:r>
              <a:rPr lang="en-US" sz="850" b="1" spc="150" kern="0" dirty="0">
                <a:solidFill>
                  <a:srgbClr val="18FFFF"/>
                </a:solidFill>
                <a:latin typeface="Montserrat" pitchFamily="34" charset="0"/>
                <a:ea typeface="Montserrat" pitchFamily="34" charset="-122"/>
                <a:cs typeface="Montserrat" pitchFamily="34" charset="-120"/>
              </a:rPr>
              <a:t>NEXT STEP</a:t>
            </a:r>
            <a:endParaRPr lang="en-US" sz="850" dirty="0"/>
          </a:p>
        </p:txBody>
      </p:sp>
      <p:sp>
        <p:nvSpPr>
          <p:cNvPr id="10" name="Text 7"/>
          <p:cNvSpPr/>
          <p:nvPr/>
        </p:nvSpPr>
        <p:spPr>
          <a:xfrm>
            <a:off x="475488" y="4116553"/>
            <a:ext cx="8485632" cy="390220"/>
          </a:xfrm>
          <a:prstGeom prst="rect">
            <a:avLst/>
          </a:prstGeom>
          <a:noFill/>
          <a:ln/>
        </p:spPr>
        <p:txBody>
          <a:bodyPr wrap="square" lIns="0" tIns="0" rIns="0" bIns="0" rtlCol="0" anchor="t"/>
          <a:lstStyle/>
          <a:p>
            <a:pPr indent="0" marL="0">
              <a:buNone/>
            </a:pPr>
            <a:r>
              <a:rPr lang="en-US" sz="1200" b="1" dirty="0">
                <a:solidFill>
                  <a:srgbClr val="FFFFFF"/>
                </a:solidFill>
                <a:latin typeface="Montserrat" pitchFamily="34" charset="0"/>
                <a:ea typeface="Montserrat" pitchFamily="34" charset="-122"/>
                <a:cs typeface="Montserrat" pitchFamily="34" charset="-120"/>
              </a:rPr>
              <a:t>Confirm the architecture guardrails, first deployment target and sandbox owner by [TBC: decision date].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ontserra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bigspark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Mission Control architecture</dc:title>
  <dc:subject>Mission Control modular system design</dc:subject>
  <dc:creator>bigspark</dc:creator>
  <cp:lastModifiedBy>bigspark</cp:lastModifiedBy>
  <cp:revision>1</cp:revision>
  <dcterms:created xsi:type="dcterms:W3CDTF">2026-09-03T07:56:55Z</dcterms:created>
  <dcterms:modified xsi:type="dcterms:W3CDTF">2026-09-03T07:56:55Z</dcterms:modified>
</cp:coreProperties>
</file>