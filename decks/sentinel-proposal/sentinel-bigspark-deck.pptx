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pitch: we turn a manual, senior-engineer-dependent investigation loop into a deployable agent that diagnoses incidents and proposes fixes. Sentinel is the first feature we ship of a broader platform, Mission Control. Sentinel is a working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pain: the alerting system detects symptoms but does no diagnosis. Humans carry the entire investigation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left to right. Emphasise that steps three to five are pure manual toil that the agent can take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de-risks the pitch: we are not proposing something speculative, we are automating a workflow that already works manually.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what. Keep it outcome-focused; architecture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playground step is where it validates a candidate fix safely before proposing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commercial framing: value does not require solving everything. Even partial coverage plus acceleration of the rest is a strong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pillars to land: MCP-first scales, model-agnostic covers compliance and lock-in, in-client means data never leaves. The Intent Layer is the quality multiplier. Engine note: Sentinel uses the OpenAI Agents SDK; LangGraph is kept for heavier future incident types, chosen per type behind shared seams.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gets you past infosec. Lead with read-only, in-client and human-in-the-loop.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newly designed deployment model, not a claim that every packaging component is already built. The message is repeatability: shared versioned images, per-client configuration, automated checks, and an air-gap path, not bespoke forks.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needs instant human action; Tier 3 has slack we can fill. An easy, low-risk, KPI-boosting first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scalability story. Progressive autonomy reassures: we do not ask for trust up front, we earn it. The Airflow and LLM-eval examples suit a data-science and AIOps buyer, and become monitoring surfaces in Mission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ship Sentinel first, the wedge and the differentiator. It is the first feature of a broader platform for the monitoring teams that own many apps. Same in-client deployment. ServiceNow and Confluence stay authoritative. Ask Mission Control is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structured handover and operational resilience, not criticism of current documentation. Confluence remains the source of truth. Say 'reduces routine dependence', not 'replaces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 MTTD, accuracy, fix acceptance, senior-engineer hours and routine escalations before rollout so the after delta is provable. Human verdict capture and golden-dataset replay answer the buyer question: how do we know it is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Client-safe commercial framing. Keep specific numbers for the live conversation. The analysis-first step de-risks pricing for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concrete, low-commitment ask: agree one platform and run the analysis. Momentum over perfection. Sentinel first, the foundation for Mission Control. Owners and timings are indicative for a draft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0038"/>
        </a:solidFill>
      </p:bgPr>
    </p:bg>
    <p:spTree>
      <p:nvGrpSpPr>
        <p:cNvPr id="1" name=""/>
        <p:cNvGrpSpPr/>
        <p:nvPr/>
      </p:nvGrpSpPr>
      <p:grpSpPr>
        <a:xfrm>
          <a:off x="0" y="0"/>
          <a:ext cx="0" cy="0"/>
          <a:chOff x="0" y="0"/>
          <a:chExt cx="0" cy="0"/>
        </a:xfrm>
      </p:grpSpPr>
      <p:sp>
        <p:nvSpPr>
          <p:cNvPr id="3" name="Shape 0"/>
          <p:cNvSpPr/>
          <p:nvPr/>
        </p:nvSpPr>
        <p:spPr>
          <a:xfrm>
            <a:off x="3749040" y="0"/>
            <a:ext cx="36576" cy="5143500"/>
          </a:xfrm>
          <a:prstGeom prst="rect">
            <a:avLst/>
          </a:prstGeom>
          <a:solidFill>
            <a:srgbClr val="1A1A6A"/>
          </a:solidFill>
          <a:ln w="12700">
            <a:solidFill>
              <a:srgbClr val="1A1A6A"/>
            </a:solidFill>
            <a:prstDash val="solid"/>
          </a:ln>
        </p:spPr>
      </p:sp>
      <p:sp>
        <p:nvSpPr>
          <p:cNvPr id="4" name="Text 1"/>
          <p:cNvSpPr/>
          <p:nvPr/>
        </p:nvSpPr>
        <p:spPr>
          <a:xfrm>
            <a:off x="365760" y="274320"/>
            <a:ext cx="3108960" cy="512064"/>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bigspark</a:t>
            </a:r>
            <a:endParaRPr lang="en-US" sz="2800" dirty="0"/>
          </a:p>
        </p:txBody>
      </p:sp>
      <p:sp>
        <p:nvSpPr>
          <p:cNvPr id="5" name="Text 2"/>
          <p:cNvSpPr/>
          <p:nvPr/>
        </p:nvSpPr>
        <p:spPr>
          <a:xfrm>
            <a:off x="365760" y="1188720"/>
            <a:ext cx="402336" cy="219456"/>
          </a:xfrm>
          <a:prstGeom prst="rect">
            <a:avLst/>
          </a:prstGeom>
          <a:noFill/>
          <a:ln/>
        </p:spPr>
        <p:txBody>
          <a:bodyPr wrap="square" lIns="0" tIns="0" rIns="0" bIns="0" rtlCol="0" anchor="ctr"/>
          <a:lstStyle/>
          <a:p>
            <a:pPr indent="0" marL="0">
              <a:buNone/>
            </a:pPr>
            <a:r>
              <a:rPr lang="en-US" sz="850" b="1" dirty="0">
                <a:solidFill>
                  <a:srgbClr val="18FFFF"/>
                </a:solidFill>
                <a:latin typeface="Montserrat" pitchFamily="34" charset="0"/>
                <a:ea typeface="Montserrat" pitchFamily="34" charset="-122"/>
                <a:cs typeface="Montserrat" pitchFamily="34" charset="-120"/>
              </a:rPr>
              <a:t>01</a:t>
            </a:r>
            <a:endParaRPr lang="en-US" sz="850" dirty="0"/>
          </a:p>
        </p:txBody>
      </p:sp>
      <p:sp>
        <p:nvSpPr>
          <p:cNvPr id="6" name="Text 3"/>
          <p:cNvSpPr/>
          <p:nvPr/>
        </p:nvSpPr>
        <p:spPr>
          <a:xfrm>
            <a:off x="804672" y="1188720"/>
            <a:ext cx="3108960" cy="219456"/>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The problem</a:t>
            </a:r>
            <a:endParaRPr lang="en-US" sz="1100" dirty="0"/>
          </a:p>
        </p:txBody>
      </p:sp>
      <p:sp>
        <p:nvSpPr>
          <p:cNvPr id="7" name="Text 4"/>
          <p:cNvSpPr/>
          <p:nvPr/>
        </p:nvSpPr>
        <p:spPr>
          <a:xfrm>
            <a:off x="804672" y="1426464"/>
            <a:ext cx="2926080" cy="182880"/>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Alerts detect, humans diagnose</a:t>
            </a:r>
            <a:endParaRPr lang="en-US" sz="900" dirty="0"/>
          </a:p>
        </p:txBody>
      </p:sp>
      <p:sp>
        <p:nvSpPr>
          <p:cNvPr id="8" name="Shape 5"/>
          <p:cNvSpPr/>
          <p:nvPr/>
        </p:nvSpPr>
        <p:spPr>
          <a:xfrm>
            <a:off x="365760" y="1664208"/>
            <a:ext cx="3200400" cy="9144"/>
          </a:xfrm>
          <a:prstGeom prst="rect">
            <a:avLst/>
          </a:prstGeom>
          <a:solidFill>
            <a:srgbClr val="1A1A6A"/>
          </a:solidFill>
          <a:ln w="12700">
            <a:solidFill>
              <a:srgbClr val="1A1A6A"/>
            </a:solidFill>
            <a:prstDash val="solid"/>
          </a:ln>
        </p:spPr>
      </p:sp>
      <p:sp>
        <p:nvSpPr>
          <p:cNvPr id="9" name="Text 6"/>
          <p:cNvSpPr/>
          <p:nvPr/>
        </p:nvSpPr>
        <p:spPr>
          <a:xfrm>
            <a:off x="365760" y="1798320"/>
            <a:ext cx="402336" cy="219456"/>
          </a:xfrm>
          <a:prstGeom prst="rect">
            <a:avLst/>
          </a:prstGeom>
          <a:noFill/>
          <a:ln/>
        </p:spPr>
        <p:txBody>
          <a:bodyPr wrap="square" lIns="0" tIns="0" rIns="0" bIns="0" rtlCol="0" anchor="ctr"/>
          <a:lstStyle/>
          <a:p>
            <a:pPr indent="0" marL="0">
              <a:buNone/>
            </a:pPr>
            <a:r>
              <a:rPr lang="en-US" sz="850" b="1" dirty="0">
                <a:solidFill>
                  <a:srgbClr val="18FFFF"/>
                </a:solidFill>
                <a:latin typeface="Montserrat" pitchFamily="34" charset="0"/>
                <a:ea typeface="Montserrat" pitchFamily="34" charset="-122"/>
                <a:cs typeface="Montserrat" pitchFamily="34" charset="-120"/>
              </a:rPr>
              <a:t>02</a:t>
            </a:r>
            <a:endParaRPr lang="en-US" sz="850" dirty="0"/>
          </a:p>
        </p:txBody>
      </p:sp>
      <p:sp>
        <p:nvSpPr>
          <p:cNvPr id="10" name="Text 7"/>
          <p:cNvSpPr/>
          <p:nvPr/>
        </p:nvSpPr>
        <p:spPr>
          <a:xfrm>
            <a:off x="804672" y="1798320"/>
            <a:ext cx="3108960" cy="219456"/>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How it works today</a:t>
            </a:r>
            <a:endParaRPr lang="en-US" sz="1100" dirty="0"/>
          </a:p>
        </p:txBody>
      </p:sp>
      <p:sp>
        <p:nvSpPr>
          <p:cNvPr id="11" name="Text 8"/>
          <p:cNvSpPr/>
          <p:nvPr/>
        </p:nvSpPr>
        <p:spPr>
          <a:xfrm>
            <a:off x="804672" y="2036064"/>
            <a:ext cx="2926080" cy="182880"/>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The manual investigation loop</a:t>
            </a:r>
            <a:endParaRPr lang="en-US" sz="900" dirty="0"/>
          </a:p>
        </p:txBody>
      </p:sp>
      <p:sp>
        <p:nvSpPr>
          <p:cNvPr id="12" name="Shape 9"/>
          <p:cNvSpPr/>
          <p:nvPr/>
        </p:nvSpPr>
        <p:spPr>
          <a:xfrm>
            <a:off x="365760" y="2273808"/>
            <a:ext cx="3200400" cy="9144"/>
          </a:xfrm>
          <a:prstGeom prst="rect">
            <a:avLst/>
          </a:prstGeom>
          <a:solidFill>
            <a:srgbClr val="1A1A6A"/>
          </a:solidFill>
          <a:ln w="12700">
            <a:solidFill>
              <a:srgbClr val="1A1A6A"/>
            </a:solidFill>
            <a:prstDash val="solid"/>
          </a:ln>
        </p:spPr>
      </p:sp>
      <p:sp>
        <p:nvSpPr>
          <p:cNvPr id="13" name="Text 10"/>
          <p:cNvSpPr/>
          <p:nvPr/>
        </p:nvSpPr>
        <p:spPr>
          <a:xfrm>
            <a:off x="365760" y="2407920"/>
            <a:ext cx="402336" cy="219456"/>
          </a:xfrm>
          <a:prstGeom prst="rect">
            <a:avLst/>
          </a:prstGeom>
          <a:noFill/>
          <a:ln/>
        </p:spPr>
        <p:txBody>
          <a:bodyPr wrap="square" lIns="0" tIns="0" rIns="0" bIns="0" rtlCol="0" anchor="ctr"/>
          <a:lstStyle/>
          <a:p>
            <a:pPr indent="0" marL="0">
              <a:buNone/>
            </a:pPr>
            <a:r>
              <a:rPr lang="en-US" sz="850" b="1" dirty="0">
                <a:solidFill>
                  <a:srgbClr val="18FFFF"/>
                </a:solidFill>
                <a:latin typeface="Montserrat" pitchFamily="34" charset="0"/>
                <a:ea typeface="Montserrat" pitchFamily="34" charset="-122"/>
                <a:cs typeface="Montserrat" pitchFamily="34" charset="-120"/>
              </a:rPr>
              <a:t>03</a:t>
            </a:r>
            <a:endParaRPr lang="en-US" sz="850" dirty="0"/>
          </a:p>
        </p:txBody>
      </p:sp>
      <p:sp>
        <p:nvSpPr>
          <p:cNvPr id="14" name="Text 11"/>
          <p:cNvSpPr/>
          <p:nvPr/>
        </p:nvSpPr>
        <p:spPr>
          <a:xfrm>
            <a:off x="804672" y="2407920"/>
            <a:ext cx="3108960" cy="219456"/>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Sentinel</a:t>
            </a:r>
            <a:endParaRPr lang="en-US" sz="1100" dirty="0"/>
          </a:p>
        </p:txBody>
      </p:sp>
      <p:sp>
        <p:nvSpPr>
          <p:cNvPr id="15" name="Text 12"/>
          <p:cNvSpPr/>
          <p:nvPr/>
        </p:nvSpPr>
        <p:spPr>
          <a:xfrm>
            <a:off x="804672" y="2645664"/>
            <a:ext cx="2926080" cy="182880"/>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An agent that investigates automatically</a:t>
            </a:r>
            <a:endParaRPr lang="en-US" sz="900" dirty="0"/>
          </a:p>
        </p:txBody>
      </p:sp>
      <p:sp>
        <p:nvSpPr>
          <p:cNvPr id="16" name="Shape 13"/>
          <p:cNvSpPr/>
          <p:nvPr/>
        </p:nvSpPr>
        <p:spPr>
          <a:xfrm>
            <a:off x="365760" y="2883408"/>
            <a:ext cx="3200400" cy="9144"/>
          </a:xfrm>
          <a:prstGeom prst="rect">
            <a:avLst/>
          </a:prstGeom>
          <a:solidFill>
            <a:srgbClr val="1A1A6A"/>
          </a:solidFill>
          <a:ln w="12700">
            <a:solidFill>
              <a:srgbClr val="1A1A6A"/>
            </a:solidFill>
            <a:prstDash val="solid"/>
          </a:ln>
        </p:spPr>
      </p:sp>
      <p:sp>
        <p:nvSpPr>
          <p:cNvPr id="17" name="Text 14"/>
          <p:cNvSpPr/>
          <p:nvPr/>
        </p:nvSpPr>
        <p:spPr>
          <a:xfrm>
            <a:off x="365760" y="3017520"/>
            <a:ext cx="402336" cy="219456"/>
          </a:xfrm>
          <a:prstGeom prst="rect">
            <a:avLst/>
          </a:prstGeom>
          <a:noFill/>
          <a:ln/>
        </p:spPr>
        <p:txBody>
          <a:bodyPr wrap="square" lIns="0" tIns="0" rIns="0" bIns="0" rtlCol="0" anchor="ctr"/>
          <a:lstStyle/>
          <a:p>
            <a:pPr indent="0" marL="0">
              <a:buNone/>
            </a:pPr>
            <a:r>
              <a:rPr lang="en-US" sz="850" b="1" dirty="0">
                <a:solidFill>
                  <a:srgbClr val="18FFFF"/>
                </a:solidFill>
                <a:latin typeface="Montserrat" pitchFamily="34" charset="0"/>
                <a:ea typeface="Montserrat" pitchFamily="34" charset="-122"/>
                <a:cs typeface="Montserrat" pitchFamily="34" charset="-120"/>
              </a:rPr>
              <a:t>04</a:t>
            </a:r>
            <a:endParaRPr lang="en-US" sz="850" dirty="0"/>
          </a:p>
        </p:txBody>
      </p:sp>
      <p:sp>
        <p:nvSpPr>
          <p:cNvPr id="18" name="Text 15"/>
          <p:cNvSpPr/>
          <p:nvPr/>
        </p:nvSpPr>
        <p:spPr>
          <a:xfrm>
            <a:off x="804672" y="3017520"/>
            <a:ext cx="3108960" cy="219456"/>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Architecture &amp; security</a:t>
            </a:r>
            <a:endParaRPr lang="en-US" sz="1100" dirty="0"/>
          </a:p>
        </p:txBody>
      </p:sp>
      <p:sp>
        <p:nvSpPr>
          <p:cNvPr id="19" name="Text 16"/>
          <p:cNvSpPr/>
          <p:nvPr/>
        </p:nvSpPr>
        <p:spPr>
          <a:xfrm>
            <a:off x="804672" y="3255264"/>
            <a:ext cx="2926080" cy="182880"/>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Built for the bank</a:t>
            </a:r>
            <a:endParaRPr lang="en-US" sz="900" dirty="0"/>
          </a:p>
        </p:txBody>
      </p:sp>
      <p:sp>
        <p:nvSpPr>
          <p:cNvPr id="20" name="Shape 17"/>
          <p:cNvSpPr/>
          <p:nvPr/>
        </p:nvSpPr>
        <p:spPr>
          <a:xfrm>
            <a:off x="365760" y="3493008"/>
            <a:ext cx="3200400" cy="9144"/>
          </a:xfrm>
          <a:prstGeom prst="rect">
            <a:avLst/>
          </a:prstGeom>
          <a:solidFill>
            <a:srgbClr val="1A1A6A"/>
          </a:solidFill>
          <a:ln w="12700">
            <a:solidFill>
              <a:srgbClr val="1A1A6A"/>
            </a:solidFill>
            <a:prstDash val="solid"/>
          </a:ln>
        </p:spPr>
      </p:sp>
      <p:sp>
        <p:nvSpPr>
          <p:cNvPr id="21" name="Text 18"/>
          <p:cNvSpPr/>
          <p:nvPr/>
        </p:nvSpPr>
        <p:spPr>
          <a:xfrm>
            <a:off x="365760" y="3627120"/>
            <a:ext cx="402336" cy="219456"/>
          </a:xfrm>
          <a:prstGeom prst="rect">
            <a:avLst/>
          </a:prstGeom>
          <a:noFill/>
          <a:ln/>
        </p:spPr>
        <p:txBody>
          <a:bodyPr wrap="square" lIns="0" tIns="0" rIns="0" bIns="0" rtlCol="0" anchor="ctr"/>
          <a:lstStyle/>
          <a:p>
            <a:pPr indent="0" marL="0">
              <a:buNone/>
            </a:pPr>
            <a:r>
              <a:rPr lang="en-US" sz="850" b="1" dirty="0">
                <a:solidFill>
                  <a:srgbClr val="18FFFF"/>
                </a:solidFill>
                <a:latin typeface="Montserrat" pitchFamily="34" charset="0"/>
                <a:ea typeface="Montserrat" pitchFamily="34" charset="-122"/>
                <a:cs typeface="Montserrat" pitchFamily="34" charset="-120"/>
              </a:rPr>
              <a:t>05</a:t>
            </a:r>
            <a:endParaRPr lang="en-US" sz="850" dirty="0"/>
          </a:p>
        </p:txBody>
      </p:sp>
      <p:sp>
        <p:nvSpPr>
          <p:cNvPr id="22" name="Text 19"/>
          <p:cNvSpPr/>
          <p:nvPr/>
        </p:nvSpPr>
        <p:spPr>
          <a:xfrm>
            <a:off x="804672" y="3627120"/>
            <a:ext cx="3108960" cy="219456"/>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Where it scales</a:t>
            </a:r>
            <a:endParaRPr lang="en-US" sz="1100" dirty="0"/>
          </a:p>
        </p:txBody>
      </p:sp>
      <p:sp>
        <p:nvSpPr>
          <p:cNvPr id="23" name="Text 20"/>
          <p:cNvSpPr/>
          <p:nvPr/>
        </p:nvSpPr>
        <p:spPr>
          <a:xfrm>
            <a:off x="804672" y="3864864"/>
            <a:ext cx="2926080" cy="182880"/>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One system to the whole estate</a:t>
            </a:r>
            <a:endParaRPr lang="en-US" sz="900" dirty="0"/>
          </a:p>
        </p:txBody>
      </p:sp>
      <p:sp>
        <p:nvSpPr>
          <p:cNvPr id="24" name="Shape 21"/>
          <p:cNvSpPr/>
          <p:nvPr/>
        </p:nvSpPr>
        <p:spPr>
          <a:xfrm>
            <a:off x="365760" y="4102608"/>
            <a:ext cx="3200400" cy="9144"/>
          </a:xfrm>
          <a:prstGeom prst="rect">
            <a:avLst/>
          </a:prstGeom>
          <a:solidFill>
            <a:srgbClr val="1A1A6A"/>
          </a:solidFill>
          <a:ln w="12700">
            <a:solidFill>
              <a:srgbClr val="1A1A6A"/>
            </a:solidFill>
            <a:prstDash val="solid"/>
          </a:ln>
        </p:spPr>
      </p:sp>
      <p:sp>
        <p:nvSpPr>
          <p:cNvPr id="25" name="Text 22"/>
          <p:cNvSpPr/>
          <p:nvPr/>
        </p:nvSpPr>
        <p:spPr>
          <a:xfrm>
            <a:off x="365760" y="4236720"/>
            <a:ext cx="402336" cy="219456"/>
          </a:xfrm>
          <a:prstGeom prst="rect">
            <a:avLst/>
          </a:prstGeom>
          <a:noFill/>
          <a:ln/>
        </p:spPr>
        <p:txBody>
          <a:bodyPr wrap="square" lIns="0" tIns="0" rIns="0" bIns="0" rtlCol="0" anchor="ctr"/>
          <a:lstStyle/>
          <a:p>
            <a:pPr indent="0" marL="0">
              <a:buNone/>
            </a:pPr>
            <a:r>
              <a:rPr lang="en-US" sz="850" b="1" dirty="0">
                <a:solidFill>
                  <a:srgbClr val="18FFFF"/>
                </a:solidFill>
                <a:latin typeface="Montserrat" pitchFamily="34" charset="0"/>
                <a:ea typeface="Montserrat" pitchFamily="34" charset="-122"/>
                <a:cs typeface="Montserrat" pitchFamily="34" charset="-120"/>
              </a:rPr>
              <a:t>06</a:t>
            </a:r>
            <a:endParaRPr lang="en-US" sz="850" dirty="0"/>
          </a:p>
        </p:txBody>
      </p:sp>
      <p:sp>
        <p:nvSpPr>
          <p:cNvPr id="26" name="Text 23"/>
          <p:cNvSpPr/>
          <p:nvPr/>
        </p:nvSpPr>
        <p:spPr>
          <a:xfrm>
            <a:off x="804672" y="4236720"/>
            <a:ext cx="3108960" cy="219456"/>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Engagement</a:t>
            </a:r>
            <a:endParaRPr lang="en-US" sz="1100" dirty="0"/>
          </a:p>
        </p:txBody>
      </p:sp>
      <p:sp>
        <p:nvSpPr>
          <p:cNvPr id="27" name="Text 24"/>
          <p:cNvSpPr/>
          <p:nvPr/>
        </p:nvSpPr>
        <p:spPr>
          <a:xfrm>
            <a:off x="804672" y="4474464"/>
            <a:ext cx="2926080" cy="182880"/>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A low-commitment start</a:t>
            </a:r>
            <a:endParaRPr lang="en-US" sz="900" dirty="0"/>
          </a:p>
        </p:txBody>
      </p:sp>
      <p:sp>
        <p:nvSpPr>
          <p:cNvPr id="28" name="Text 25"/>
          <p:cNvSpPr/>
          <p:nvPr/>
        </p:nvSpPr>
        <p:spPr>
          <a:xfrm>
            <a:off x="4206240" y="310896"/>
            <a:ext cx="45720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PROJECT PROPOSAL · DRAFT FOR DISCUSSION</a:t>
            </a:r>
            <a:endParaRPr lang="en-US" sz="850" dirty="0"/>
          </a:p>
        </p:txBody>
      </p:sp>
      <p:sp>
        <p:nvSpPr>
          <p:cNvPr id="29" name="Text 26"/>
          <p:cNvSpPr/>
          <p:nvPr/>
        </p:nvSpPr>
        <p:spPr>
          <a:xfrm>
            <a:off x="4206240" y="640080"/>
            <a:ext cx="4572000" cy="914400"/>
          </a:xfrm>
          <a:prstGeom prst="rect">
            <a:avLst/>
          </a:prstGeom>
          <a:noFill/>
          <a:ln/>
        </p:spPr>
        <p:txBody>
          <a:bodyPr wrap="square" lIns="0" tIns="0" rIns="0" bIns="0"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Sentinel</a:t>
            </a:r>
            <a:endParaRPr lang="en-US" sz="4400" dirty="0"/>
          </a:p>
        </p:txBody>
      </p:sp>
      <p:sp>
        <p:nvSpPr>
          <p:cNvPr id="30" name="Text 27"/>
          <p:cNvSpPr/>
          <p:nvPr/>
        </p:nvSpPr>
        <p:spPr>
          <a:xfrm>
            <a:off x="4206240" y="1828800"/>
            <a:ext cx="4572000" cy="365760"/>
          </a:xfrm>
          <a:prstGeom prst="rect">
            <a:avLst/>
          </a:prstGeom>
          <a:noFill/>
          <a:ln/>
        </p:spPr>
        <p:txBody>
          <a:bodyPr wrap="square" lIns="0" tIns="0" rIns="0" bIns="0" rtlCol="0" anchor="ctr"/>
          <a:lstStyle/>
          <a:p>
            <a:pPr indent="0" marL="0">
              <a:buNone/>
            </a:pPr>
            <a:r>
              <a:rPr lang="en-US" sz="1300" i="1" dirty="0">
                <a:solidFill>
                  <a:srgbClr val="8888AA"/>
                </a:solidFill>
                <a:latin typeface="Montserrat" pitchFamily="34" charset="0"/>
                <a:ea typeface="Montserrat" pitchFamily="34" charset="-122"/>
                <a:cs typeface="Montserrat" pitchFamily="34" charset="-120"/>
              </a:rPr>
              <a:t>Agentic incident auto-investigation · the first feature of Mission Control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THE PROBLEM</a:t>
            </a:r>
            <a:endParaRPr lang="en-US" sz="850" dirty="0"/>
          </a:p>
        </p:txBody>
      </p:sp>
      <p:sp>
        <p:nvSpPr>
          <p:cNvPr id="4" name="Text 1"/>
          <p:cNvSpPr/>
          <p:nvPr/>
        </p:nvSpPr>
        <p:spPr>
          <a:xfrm>
            <a:off x="365760" y="457200"/>
            <a:ext cx="8412480" cy="722376"/>
          </a:xfrm>
          <a:prstGeom prst="rect">
            <a:avLst/>
          </a:prstGeom>
          <a:noFill/>
          <a:ln/>
        </p:spPr>
        <p:txBody>
          <a:bodyPr wrap="square" lIns="0" tIns="0" rIns="0" bIns="0" rtlCol="0" anchor="ctr"/>
          <a:lstStyle/>
          <a:p>
            <a:pPr indent="0" marL="0">
              <a:buNone/>
            </a:pPr>
            <a:r>
              <a:rPr lang="en-US" sz="2000" b="1" dirty="0">
                <a:solidFill>
                  <a:srgbClr val="FFFFFF"/>
                </a:solidFill>
                <a:latin typeface="Montserrat" pitchFamily="34" charset="0"/>
                <a:ea typeface="Montserrat" pitchFamily="34" charset="-122"/>
                <a:cs typeface="Montserrat" pitchFamily="34" charset="-120"/>
              </a:rPr>
              <a:t>An alert tells you something broke, not why, or how to fix it.</a:t>
            </a:r>
            <a:endParaRPr lang="en-US" sz="2000" dirty="0"/>
          </a:p>
        </p:txBody>
      </p:sp>
      <p:sp>
        <p:nvSpPr>
          <p:cNvPr id="5" name="Text 2"/>
          <p:cNvSpPr/>
          <p:nvPr/>
        </p:nvSpPr>
        <p:spPr>
          <a:xfrm>
            <a:off x="365760" y="1289304"/>
            <a:ext cx="8412480" cy="448056"/>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Splunk fires alerts off application logs and raises a ServiceNow ticket. The ticket names the error and little else.</a:t>
            </a:r>
            <a:endParaRPr lang="en-US" sz="1050" dirty="0"/>
          </a:p>
        </p:txBody>
      </p:sp>
      <p:sp>
        <p:nvSpPr>
          <p:cNvPr id="6" name="Shape 3"/>
          <p:cNvSpPr/>
          <p:nvPr/>
        </p:nvSpPr>
        <p:spPr>
          <a:xfrm>
            <a:off x="365760" y="1810512"/>
            <a:ext cx="8412480" cy="1780337"/>
          </a:xfrm>
          <a:prstGeom prst="rect">
            <a:avLst/>
          </a:prstGeom>
          <a:solidFill>
            <a:srgbClr val="0D1554"/>
          </a:solidFill>
          <a:ln w="12700">
            <a:solidFill>
              <a:srgbClr val="0D1554"/>
            </a:solidFill>
            <a:prstDash val="solid"/>
          </a:ln>
        </p:spPr>
      </p:sp>
      <p:sp>
        <p:nvSpPr>
          <p:cNvPr id="7" name="Shape 4"/>
          <p:cNvSpPr/>
          <p:nvPr/>
        </p:nvSpPr>
        <p:spPr>
          <a:xfrm>
            <a:off x="365760" y="1810512"/>
            <a:ext cx="54864" cy="1780337"/>
          </a:xfrm>
          <a:prstGeom prst="rect">
            <a:avLst/>
          </a:prstGeom>
          <a:solidFill>
            <a:srgbClr val="18FFFF"/>
          </a:solidFill>
          <a:ln w="12700">
            <a:solidFill>
              <a:srgbClr val="18FFFF"/>
            </a:solidFill>
            <a:prstDash val="solid"/>
          </a:ln>
        </p:spPr>
      </p:sp>
      <p:sp>
        <p:nvSpPr>
          <p:cNvPr id="8" name="Text 5"/>
          <p:cNvSpPr/>
          <p:nvPr/>
        </p:nvSpPr>
        <p:spPr>
          <a:xfrm>
            <a:off x="548640" y="1920240"/>
            <a:ext cx="8083296" cy="1560881"/>
          </a:xfrm>
          <a:prstGeom prst="rect">
            <a:avLst/>
          </a:prstGeom>
          <a:noFill/>
          <a:ln/>
        </p:spPr>
        <p:txBody>
          <a:bodyPr wrap="square" lIns="0" tIns="0" rIns="0" bIns="0" rtlCol="0" anchor="t"/>
          <a:lstStyle/>
          <a:p>
            <a:pPr indent="0" marL="0">
              <a:spcAft>
                <a:spcPts val="600"/>
              </a:spcAft>
              <a:buNone/>
            </a:pPr>
            <a:r>
              <a:rPr lang="en-US" sz="1250" dirty="0">
                <a:solidFill>
                  <a:srgbClr val="E8E8F0"/>
                </a:solidFill>
                <a:latin typeface="Montserrat" pitchFamily="34" charset="0"/>
                <a:ea typeface="Montserrat" pitchFamily="34" charset="-122"/>
                <a:cs typeface="Montserrat" pitchFamily="34" charset="-120"/>
              </a:rPr>
              <a:t>There is no root-cause analysis, no context, and no proposed fix. A senior engineer must then manually investigate every ticket.</a:t>
            </a:r>
            <a:endParaRPr lang="en-US" sz="1250" dirty="0"/>
          </a:p>
          <a:p>
            <a:pPr indent="0" marL="0">
              <a:spcAft>
                <a:spcPts val="600"/>
              </a:spcAft>
              <a:buNone/>
            </a:pPr>
            <a:r>
              <a:rPr lang="en-US" sz="1250" dirty="0">
                <a:solidFill>
                  <a:srgbClr val="E8E8F0"/>
                </a:solidFill>
                <a:latin typeface="Montserrat" pitchFamily="34" charset="0"/>
                <a:ea typeface="Montserrat" pitchFamily="34" charset="-122"/>
                <a:cs typeface="Montserrat" pitchFamily="34" charset="-120"/>
              </a:rPr>
              <a:t>Investigation is the slowest, most repetitive phase of incident response, and it bottlenecks on a handful of people.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HOW IT WORKS TODAY</a:t>
            </a:r>
            <a:endParaRPr lang="en-US" sz="850" dirty="0"/>
          </a:p>
        </p:txBody>
      </p:sp>
      <p:sp>
        <p:nvSpPr>
          <p:cNvPr id="4" name="Text 1"/>
          <p:cNvSpPr/>
          <p:nvPr/>
        </p:nvSpPr>
        <p:spPr>
          <a:xfrm>
            <a:off x="365760" y="512064"/>
            <a:ext cx="8412480" cy="50292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The current manual investigation loop.</a:t>
            </a:r>
            <a:endParaRPr lang="en-US" sz="2600" dirty="0"/>
          </a:p>
        </p:txBody>
      </p:sp>
      <p:sp>
        <p:nvSpPr>
          <p:cNvPr id="5" name="Text 2"/>
          <p:cNvSpPr/>
          <p:nvPr/>
        </p:nvSpPr>
        <p:spPr>
          <a:xfrm>
            <a:off x="365760" y="1216152"/>
            <a:ext cx="8412480" cy="274320"/>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Steps three to five are pure manual toil. That is the work Sentinel takes over.</a:t>
            </a:r>
            <a:endParaRPr lang="en-US" sz="1050" dirty="0"/>
          </a:p>
        </p:txBody>
      </p:sp>
      <p:sp>
        <p:nvSpPr>
          <p:cNvPr id="6" name="Shape 3"/>
          <p:cNvSpPr/>
          <p:nvPr/>
        </p:nvSpPr>
        <p:spPr>
          <a:xfrm>
            <a:off x="365760" y="1873377"/>
            <a:ext cx="2749296" cy="914400"/>
          </a:xfrm>
          <a:prstGeom prst="rect">
            <a:avLst/>
          </a:prstGeom>
          <a:solidFill>
            <a:srgbClr val="0D1554"/>
          </a:solidFill>
          <a:ln w="12700">
            <a:solidFill>
              <a:srgbClr val="0D1554"/>
            </a:solidFill>
            <a:prstDash val="solid"/>
          </a:ln>
        </p:spPr>
      </p:sp>
      <p:sp>
        <p:nvSpPr>
          <p:cNvPr id="7" name="Shape 4"/>
          <p:cNvSpPr/>
          <p:nvPr/>
        </p:nvSpPr>
        <p:spPr>
          <a:xfrm>
            <a:off x="365760" y="1873377"/>
            <a:ext cx="2749296" cy="36576"/>
          </a:xfrm>
          <a:prstGeom prst="rect">
            <a:avLst/>
          </a:prstGeom>
          <a:solidFill>
            <a:srgbClr val="18FFFF"/>
          </a:solidFill>
          <a:ln w="12700">
            <a:solidFill>
              <a:srgbClr val="18FFFF"/>
            </a:solidFill>
            <a:prstDash val="solid"/>
          </a:ln>
        </p:spPr>
      </p:sp>
      <p:sp>
        <p:nvSpPr>
          <p:cNvPr id="8" name="Text 5"/>
          <p:cNvSpPr/>
          <p:nvPr/>
        </p:nvSpPr>
        <p:spPr>
          <a:xfrm>
            <a:off x="475488" y="1946529"/>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1</a:t>
            </a:r>
            <a:endParaRPr lang="en-US" sz="2800" dirty="0"/>
          </a:p>
        </p:txBody>
      </p:sp>
      <p:sp>
        <p:nvSpPr>
          <p:cNvPr id="9" name="Text 6"/>
          <p:cNvSpPr/>
          <p:nvPr/>
        </p:nvSpPr>
        <p:spPr>
          <a:xfrm>
            <a:off x="475488" y="2266569"/>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Alert fires</a:t>
            </a:r>
            <a:endParaRPr lang="en-US" sz="1100" dirty="0"/>
          </a:p>
        </p:txBody>
      </p:sp>
      <p:sp>
        <p:nvSpPr>
          <p:cNvPr id="10" name="Text 7"/>
          <p:cNvSpPr/>
          <p:nvPr/>
        </p:nvSpPr>
        <p:spPr>
          <a:xfrm>
            <a:off x="475488" y="2540889"/>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Splunk detects the symptom</a:t>
            </a:r>
            <a:endParaRPr lang="en-US" sz="950" dirty="0"/>
          </a:p>
        </p:txBody>
      </p:sp>
      <p:sp>
        <p:nvSpPr>
          <p:cNvPr id="11" name="Shape 8"/>
          <p:cNvSpPr/>
          <p:nvPr/>
        </p:nvSpPr>
        <p:spPr>
          <a:xfrm>
            <a:off x="3197352" y="1873377"/>
            <a:ext cx="2749296" cy="914400"/>
          </a:xfrm>
          <a:prstGeom prst="rect">
            <a:avLst/>
          </a:prstGeom>
          <a:solidFill>
            <a:srgbClr val="0D1554"/>
          </a:solidFill>
          <a:ln w="12700">
            <a:solidFill>
              <a:srgbClr val="0D1554"/>
            </a:solidFill>
            <a:prstDash val="solid"/>
          </a:ln>
        </p:spPr>
      </p:sp>
      <p:sp>
        <p:nvSpPr>
          <p:cNvPr id="12" name="Shape 9"/>
          <p:cNvSpPr/>
          <p:nvPr/>
        </p:nvSpPr>
        <p:spPr>
          <a:xfrm>
            <a:off x="3197352" y="1873377"/>
            <a:ext cx="2749296" cy="36576"/>
          </a:xfrm>
          <a:prstGeom prst="rect">
            <a:avLst/>
          </a:prstGeom>
          <a:solidFill>
            <a:srgbClr val="18FFFF"/>
          </a:solidFill>
          <a:ln w="12700">
            <a:solidFill>
              <a:srgbClr val="18FFFF"/>
            </a:solidFill>
            <a:prstDash val="solid"/>
          </a:ln>
        </p:spPr>
      </p:sp>
      <p:sp>
        <p:nvSpPr>
          <p:cNvPr id="13" name="Text 10"/>
          <p:cNvSpPr/>
          <p:nvPr/>
        </p:nvSpPr>
        <p:spPr>
          <a:xfrm>
            <a:off x="3307080" y="1946529"/>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2</a:t>
            </a:r>
            <a:endParaRPr lang="en-US" sz="2800" dirty="0"/>
          </a:p>
        </p:txBody>
      </p:sp>
      <p:sp>
        <p:nvSpPr>
          <p:cNvPr id="14" name="Text 11"/>
          <p:cNvSpPr/>
          <p:nvPr/>
        </p:nvSpPr>
        <p:spPr>
          <a:xfrm>
            <a:off x="3307080" y="2266569"/>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Ticket raised</a:t>
            </a:r>
            <a:endParaRPr lang="en-US" sz="1100" dirty="0"/>
          </a:p>
        </p:txBody>
      </p:sp>
      <p:sp>
        <p:nvSpPr>
          <p:cNvPr id="15" name="Text 12"/>
          <p:cNvSpPr/>
          <p:nvPr/>
        </p:nvSpPr>
        <p:spPr>
          <a:xfrm>
            <a:off x="3307080" y="2540889"/>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ServiceNow logs the error</a:t>
            </a:r>
            <a:endParaRPr lang="en-US" sz="950" dirty="0"/>
          </a:p>
        </p:txBody>
      </p:sp>
      <p:sp>
        <p:nvSpPr>
          <p:cNvPr id="16" name="Shape 13"/>
          <p:cNvSpPr/>
          <p:nvPr/>
        </p:nvSpPr>
        <p:spPr>
          <a:xfrm>
            <a:off x="6028944" y="1873377"/>
            <a:ext cx="2749296" cy="914400"/>
          </a:xfrm>
          <a:prstGeom prst="rect">
            <a:avLst/>
          </a:prstGeom>
          <a:solidFill>
            <a:srgbClr val="0D1554"/>
          </a:solidFill>
          <a:ln w="12700">
            <a:solidFill>
              <a:srgbClr val="0D1554"/>
            </a:solidFill>
            <a:prstDash val="solid"/>
          </a:ln>
        </p:spPr>
      </p:sp>
      <p:sp>
        <p:nvSpPr>
          <p:cNvPr id="17" name="Shape 14"/>
          <p:cNvSpPr/>
          <p:nvPr/>
        </p:nvSpPr>
        <p:spPr>
          <a:xfrm>
            <a:off x="6028944" y="1873377"/>
            <a:ext cx="2749296" cy="36576"/>
          </a:xfrm>
          <a:prstGeom prst="rect">
            <a:avLst/>
          </a:prstGeom>
          <a:solidFill>
            <a:srgbClr val="18FFFF"/>
          </a:solidFill>
          <a:ln w="12700">
            <a:solidFill>
              <a:srgbClr val="18FFFF"/>
            </a:solidFill>
            <a:prstDash val="solid"/>
          </a:ln>
        </p:spPr>
      </p:sp>
      <p:sp>
        <p:nvSpPr>
          <p:cNvPr id="18" name="Text 15"/>
          <p:cNvSpPr/>
          <p:nvPr/>
        </p:nvSpPr>
        <p:spPr>
          <a:xfrm>
            <a:off x="6138672" y="1946529"/>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3</a:t>
            </a:r>
            <a:endParaRPr lang="en-US" sz="2800" dirty="0"/>
          </a:p>
        </p:txBody>
      </p:sp>
      <p:sp>
        <p:nvSpPr>
          <p:cNvPr id="19" name="Text 16"/>
          <p:cNvSpPr/>
          <p:nvPr/>
        </p:nvSpPr>
        <p:spPr>
          <a:xfrm>
            <a:off x="6138672" y="2266569"/>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Read logs</a:t>
            </a:r>
            <a:endParaRPr lang="en-US" sz="1100" dirty="0"/>
          </a:p>
        </p:txBody>
      </p:sp>
      <p:sp>
        <p:nvSpPr>
          <p:cNvPr id="20" name="Text 17"/>
          <p:cNvSpPr/>
          <p:nvPr/>
        </p:nvSpPr>
        <p:spPr>
          <a:xfrm>
            <a:off x="6138672" y="2540889"/>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Engineer reads logs by hand</a:t>
            </a:r>
            <a:endParaRPr lang="en-US" sz="950" dirty="0"/>
          </a:p>
        </p:txBody>
      </p:sp>
      <p:sp>
        <p:nvSpPr>
          <p:cNvPr id="21" name="Shape 18"/>
          <p:cNvSpPr/>
          <p:nvPr/>
        </p:nvSpPr>
        <p:spPr>
          <a:xfrm>
            <a:off x="365760" y="3498723"/>
            <a:ext cx="2749296" cy="914400"/>
          </a:xfrm>
          <a:prstGeom prst="rect">
            <a:avLst/>
          </a:prstGeom>
          <a:solidFill>
            <a:srgbClr val="0D1554"/>
          </a:solidFill>
          <a:ln w="12700">
            <a:solidFill>
              <a:srgbClr val="0D1554"/>
            </a:solidFill>
            <a:prstDash val="solid"/>
          </a:ln>
        </p:spPr>
      </p:sp>
      <p:sp>
        <p:nvSpPr>
          <p:cNvPr id="22" name="Shape 19"/>
          <p:cNvSpPr/>
          <p:nvPr/>
        </p:nvSpPr>
        <p:spPr>
          <a:xfrm>
            <a:off x="365760" y="3498723"/>
            <a:ext cx="2749296" cy="36576"/>
          </a:xfrm>
          <a:prstGeom prst="rect">
            <a:avLst/>
          </a:prstGeom>
          <a:solidFill>
            <a:srgbClr val="18FFFF"/>
          </a:solidFill>
          <a:ln w="12700">
            <a:solidFill>
              <a:srgbClr val="18FFFF"/>
            </a:solidFill>
            <a:prstDash val="solid"/>
          </a:ln>
        </p:spPr>
      </p:sp>
      <p:sp>
        <p:nvSpPr>
          <p:cNvPr id="23" name="Text 20"/>
          <p:cNvSpPr/>
          <p:nvPr/>
        </p:nvSpPr>
        <p:spPr>
          <a:xfrm>
            <a:off x="475488" y="357187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4</a:t>
            </a:r>
            <a:endParaRPr lang="en-US" sz="2800" dirty="0"/>
          </a:p>
        </p:txBody>
      </p:sp>
      <p:sp>
        <p:nvSpPr>
          <p:cNvPr id="24" name="Text 21"/>
          <p:cNvSpPr/>
          <p:nvPr/>
        </p:nvSpPr>
        <p:spPr>
          <a:xfrm>
            <a:off x="475488" y="389191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Cross-check</a:t>
            </a:r>
            <a:endParaRPr lang="en-US" sz="1100" dirty="0"/>
          </a:p>
        </p:txBody>
      </p:sp>
      <p:sp>
        <p:nvSpPr>
          <p:cNvPr id="25" name="Text 22"/>
          <p:cNvSpPr/>
          <p:nvPr/>
        </p:nvSpPr>
        <p:spPr>
          <a:xfrm>
            <a:off x="475488" y="416623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Checks code and other systems</a:t>
            </a:r>
            <a:endParaRPr lang="en-US" sz="950" dirty="0"/>
          </a:p>
        </p:txBody>
      </p:sp>
      <p:sp>
        <p:nvSpPr>
          <p:cNvPr id="26" name="Shape 23"/>
          <p:cNvSpPr/>
          <p:nvPr/>
        </p:nvSpPr>
        <p:spPr>
          <a:xfrm>
            <a:off x="3197352" y="3498723"/>
            <a:ext cx="2749296" cy="914400"/>
          </a:xfrm>
          <a:prstGeom prst="rect">
            <a:avLst/>
          </a:prstGeom>
          <a:solidFill>
            <a:srgbClr val="0D1554"/>
          </a:solidFill>
          <a:ln w="12700">
            <a:solidFill>
              <a:srgbClr val="0D1554"/>
            </a:solidFill>
            <a:prstDash val="solid"/>
          </a:ln>
        </p:spPr>
      </p:sp>
      <p:sp>
        <p:nvSpPr>
          <p:cNvPr id="27" name="Shape 24"/>
          <p:cNvSpPr/>
          <p:nvPr/>
        </p:nvSpPr>
        <p:spPr>
          <a:xfrm>
            <a:off x="3197352" y="3498723"/>
            <a:ext cx="2749296" cy="36576"/>
          </a:xfrm>
          <a:prstGeom prst="rect">
            <a:avLst/>
          </a:prstGeom>
          <a:solidFill>
            <a:srgbClr val="18FFFF"/>
          </a:solidFill>
          <a:ln w="12700">
            <a:solidFill>
              <a:srgbClr val="18FFFF"/>
            </a:solidFill>
            <a:prstDash val="solid"/>
          </a:ln>
        </p:spPr>
      </p:sp>
      <p:sp>
        <p:nvSpPr>
          <p:cNvPr id="28" name="Text 25"/>
          <p:cNvSpPr/>
          <p:nvPr/>
        </p:nvSpPr>
        <p:spPr>
          <a:xfrm>
            <a:off x="3307080" y="357187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5</a:t>
            </a:r>
            <a:endParaRPr lang="en-US" sz="2800" dirty="0"/>
          </a:p>
        </p:txBody>
      </p:sp>
      <p:sp>
        <p:nvSpPr>
          <p:cNvPr id="29" name="Text 26"/>
          <p:cNvSpPr/>
          <p:nvPr/>
        </p:nvSpPr>
        <p:spPr>
          <a:xfrm>
            <a:off x="3307080" y="389191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Reproduce</a:t>
            </a:r>
            <a:endParaRPr lang="en-US" sz="1100" dirty="0"/>
          </a:p>
        </p:txBody>
      </p:sp>
      <p:sp>
        <p:nvSpPr>
          <p:cNvPr id="30" name="Text 27"/>
          <p:cNvSpPr/>
          <p:nvPr/>
        </p:nvSpPr>
        <p:spPr>
          <a:xfrm>
            <a:off x="3307080" y="416623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Reproduces and diagnoses</a:t>
            </a:r>
            <a:endParaRPr lang="en-US" sz="950" dirty="0"/>
          </a:p>
        </p:txBody>
      </p:sp>
      <p:sp>
        <p:nvSpPr>
          <p:cNvPr id="31" name="Shape 28"/>
          <p:cNvSpPr/>
          <p:nvPr/>
        </p:nvSpPr>
        <p:spPr>
          <a:xfrm>
            <a:off x="6028944" y="3498723"/>
            <a:ext cx="2749296" cy="914400"/>
          </a:xfrm>
          <a:prstGeom prst="rect">
            <a:avLst/>
          </a:prstGeom>
          <a:solidFill>
            <a:srgbClr val="0D1554"/>
          </a:solidFill>
          <a:ln w="12700">
            <a:solidFill>
              <a:srgbClr val="0D1554"/>
            </a:solidFill>
            <a:prstDash val="solid"/>
          </a:ln>
        </p:spPr>
      </p:sp>
      <p:sp>
        <p:nvSpPr>
          <p:cNvPr id="32" name="Shape 29"/>
          <p:cNvSpPr/>
          <p:nvPr/>
        </p:nvSpPr>
        <p:spPr>
          <a:xfrm>
            <a:off x="6028944" y="3498723"/>
            <a:ext cx="2749296" cy="36576"/>
          </a:xfrm>
          <a:prstGeom prst="rect">
            <a:avLst/>
          </a:prstGeom>
          <a:solidFill>
            <a:srgbClr val="18FFFF"/>
          </a:solidFill>
          <a:ln w="12700">
            <a:solidFill>
              <a:srgbClr val="18FFFF"/>
            </a:solidFill>
            <a:prstDash val="solid"/>
          </a:ln>
        </p:spPr>
      </p:sp>
      <p:sp>
        <p:nvSpPr>
          <p:cNvPr id="33" name="Text 30"/>
          <p:cNvSpPr/>
          <p:nvPr/>
        </p:nvSpPr>
        <p:spPr>
          <a:xfrm>
            <a:off x="6138672" y="357187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6</a:t>
            </a:r>
            <a:endParaRPr lang="en-US" sz="2800" dirty="0"/>
          </a:p>
        </p:txBody>
      </p:sp>
      <p:sp>
        <p:nvSpPr>
          <p:cNvPr id="34" name="Text 31"/>
          <p:cNvSpPr/>
          <p:nvPr/>
        </p:nvSpPr>
        <p:spPr>
          <a:xfrm>
            <a:off x="6138672" y="389191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Write up fix</a:t>
            </a:r>
            <a:endParaRPr lang="en-US" sz="1100" dirty="0"/>
          </a:p>
        </p:txBody>
      </p:sp>
      <p:sp>
        <p:nvSpPr>
          <p:cNvPr id="35" name="Text 32"/>
          <p:cNvSpPr/>
          <p:nvPr/>
        </p:nvSpPr>
        <p:spPr>
          <a:xfrm>
            <a:off x="6138672" y="416623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Hands a fix to the dev team</a:t>
            </a:r>
            <a:endParaRPr lang="en-US" sz="950" dirty="0"/>
          </a:p>
        </p:txBody>
      </p:sp>
      <p:sp>
        <p:nvSpPr>
          <p:cNvPr id="36" name="Text 33"/>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Slow, person-dependent and lossy: serial evidence-gathering inflates time-to-diagnosis, and findings live in tickets and people's heads.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WHY NOW</a:t>
            </a:r>
            <a:endParaRPr lang="en-US" sz="850" dirty="0"/>
          </a:p>
        </p:txBody>
      </p:sp>
      <p:sp>
        <p:nvSpPr>
          <p:cNvPr id="4" name="Text 1"/>
          <p:cNvSpPr/>
          <p:nvPr/>
        </p:nvSpPr>
        <p:spPr>
          <a:xfrm>
            <a:off x="365760" y="5120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The loop is already proven, manually.</a:t>
            </a:r>
            <a:endParaRPr lang="en-US" sz="2200" dirty="0"/>
          </a:p>
        </p:txBody>
      </p:sp>
      <p:sp>
        <p:nvSpPr>
          <p:cNvPr id="5" name="Shape 2"/>
          <p:cNvSpPr/>
          <p:nvPr/>
        </p:nvSpPr>
        <p:spPr>
          <a:xfrm>
            <a:off x="365760" y="1170432"/>
            <a:ext cx="8412480" cy="1088136"/>
          </a:xfrm>
          <a:prstGeom prst="rect">
            <a:avLst/>
          </a:prstGeom>
          <a:solidFill>
            <a:srgbClr val="0D1554"/>
          </a:solidFill>
          <a:ln w="12700">
            <a:solidFill>
              <a:srgbClr val="0D1554"/>
            </a:solidFill>
            <a:prstDash val="solid"/>
          </a:ln>
        </p:spPr>
      </p:sp>
      <p:sp>
        <p:nvSpPr>
          <p:cNvPr id="6" name="Shape 3"/>
          <p:cNvSpPr/>
          <p:nvPr/>
        </p:nvSpPr>
        <p:spPr>
          <a:xfrm>
            <a:off x="365760" y="1170432"/>
            <a:ext cx="54864" cy="1088136"/>
          </a:xfrm>
          <a:prstGeom prst="rect">
            <a:avLst/>
          </a:prstGeom>
          <a:solidFill>
            <a:srgbClr val="18FFFF"/>
          </a:solidFill>
          <a:ln w="12700">
            <a:solidFill>
              <a:srgbClr val="18FFFF"/>
            </a:solidFill>
            <a:prstDash val="solid"/>
          </a:ln>
        </p:spPr>
      </p:sp>
      <p:sp>
        <p:nvSpPr>
          <p:cNvPr id="7" name="Text 4"/>
          <p:cNvSpPr/>
          <p:nvPr/>
        </p:nvSpPr>
        <p:spPr>
          <a:xfrm>
            <a:off x="548640" y="1280160"/>
            <a:ext cx="8156448" cy="347472"/>
          </a:xfrm>
          <a:prstGeom prst="rect">
            <a:avLst/>
          </a:prstGeom>
          <a:noFill/>
          <a:ln/>
        </p:spPr>
        <p:txBody>
          <a:bodyPr wrap="square" lIns="0" tIns="0" rIns="0" bIns="0" rtlCol="0" anchor="ctr"/>
          <a:lstStyle/>
          <a:p>
            <a:pPr indent="0" marL="0">
              <a:buNone/>
            </a:pPr>
            <a:r>
              <a:rPr lang="en-US" sz="1800" b="1" dirty="0">
                <a:solidFill>
                  <a:srgbClr val="FFFFFF"/>
                </a:solidFill>
                <a:latin typeface="Montserrat" pitchFamily="34" charset="0"/>
                <a:ea typeface="Montserrat" pitchFamily="34" charset="-122"/>
                <a:cs typeface="Montserrat" pitchFamily="34" charset="-120"/>
              </a:rPr>
              <a:t>Proven, not speculative</a:t>
            </a:r>
            <a:endParaRPr lang="en-US" sz="1800" dirty="0"/>
          </a:p>
        </p:txBody>
      </p:sp>
      <p:sp>
        <p:nvSpPr>
          <p:cNvPr id="8" name="Text 5"/>
          <p:cNvSpPr/>
          <p:nvPr/>
        </p:nvSpPr>
        <p:spPr>
          <a:xfrm>
            <a:off x="548640" y="1664208"/>
            <a:ext cx="8156448" cy="484632"/>
          </a:xfrm>
          <a:prstGeom prst="rect">
            <a:avLst/>
          </a:prstGeom>
          <a:noFill/>
          <a:ln/>
        </p:spPr>
        <p:txBody>
          <a:bodyPr wrap="square" lIns="0" tIns="0" rIns="0" bIns="0" rtlCol="0" anchor="ctr"/>
          <a:lstStyle/>
          <a:p>
            <a:pPr indent="0" marL="0">
              <a:buNone/>
            </a:pPr>
            <a:r>
              <a:rPr lang="en-US" sz="1050" dirty="0">
                <a:solidFill>
                  <a:srgbClr val="E8E8F0"/>
                </a:solidFill>
                <a:latin typeface="Montserrat" pitchFamily="34" charset="0"/>
                <a:ea typeface="Montserrat" pitchFamily="34" charset="-122"/>
                <a:cs typeface="Montserrat" pitchFamily="34" charset="-120"/>
              </a:rPr>
              <a:t>A custom Splunk MCP server, already built at NatWest, lets an AI assistant query logs on demand. Connected to the codebase, it already surfaces root causes. Today it runs by hand, per incident.</a:t>
            </a:r>
            <a:endParaRPr lang="en-US" sz="1050" dirty="0"/>
          </a:p>
        </p:txBody>
      </p:sp>
      <p:sp>
        <p:nvSpPr>
          <p:cNvPr id="9" name="Shape 6"/>
          <p:cNvSpPr/>
          <p:nvPr/>
        </p:nvSpPr>
        <p:spPr>
          <a:xfrm>
            <a:off x="365760" y="2887218"/>
            <a:ext cx="2749296" cy="1426464"/>
          </a:xfrm>
          <a:prstGeom prst="rect">
            <a:avLst/>
          </a:prstGeom>
          <a:solidFill>
            <a:srgbClr val="0D1554"/>
          </a:solidFill>
          <a:ln w="12700">
            <a:solidFill>
              <a:srgbClr val="0D1554"/>
            </a:solidFill>
            <a:prstDash val="solid"/>
          </a:ln>
        </p:spPr>
      </p:sp>
      <p:sp>
        <p:nvSpPr>
          <p:cNvPr id="10" name="Shape 7"/>
          <p:cNvSpPr/>
          <p:nvPr/>
        </p:nvSpPr>
        <p:spPr>
          <a:xfrm>
            <a:off x="365760" y="2887218"/>
            <a:ext cx="2749296" cy="54864"/>
          </a:xfrm>
          <a:prstGeom prst="rect">
            <a:avLst/>
          </a:prstGeom>
          <a:solidFill>
            <a:srgbClr val="18FFFF"/>
          </a:solidFill>
          <a:ln w="12700">
            <a:solidFill>
              <a:srgbClr val="18FFFF"/>
            </a:solidFill>
            <a:prstDash val="solid"/>
          </a:ln>
        </p:spPr>
      </p:sp>
      <p:sp>
        <p:nvSpPr>
          <p:cNvPr id="11" name="Text 8"/>
          <p:cNvSpPr/>
          <p:nvPr/>
        </p:nvSpPr>
        <p:spPr>
          <a:xfrm>
            <a:off x="512064" y="3051810"/>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Already works</a:t>
            </a:r>
            <a:endParaRPr lang="en-US" sz="1200" dirty="0"/>
          </a:p>
        </p:txBody>
      </p:sp>
      <p:sp>
        <p:nvSpPr>
          <p:cNvPr id="12" name="Text 9"/>
          <p:cNvSpPr/>
          <p:nvPr/>
        </p:nvSpPr>
        <p:spPr>
          <a:xfrm>
            <a:off x="512064" y="3563874"/>
            <a:ext cx="2456688" cy="65836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E8E8F0"/>
                </a:solidFill>
                <a:latin typeface="Montserrat" pitchFamily="34" charset="0"/>
                <a:ea typeface="Montserrat" pitchFamily="34" charset="-122"/>
                <a:cs typeface="Montserrat" pitchFamily="34" charset="-120"/>
              </a:rPr>
              <a:t>Connected to logs and code, it has been phenomenal in practice.</a:t>
            </a:r>
            <a:endParaRPr lang="en-US" sz="1000" dirty="0"/>
          </a:p>
        </p:txBody>
      </p:sp>
      <p:sp>
        <p:nvSpPr>
          <p:cNvPr id="13" name="Shape 10"/>
          <p:cNvSpPr/>
          <p:nvPr/>
        </p:nvSpPr>
        <p:spPr>
          <a:xfrm>
            <a:off x="3197352" y="2887218"/>
            <a:ext cx="2749296" cy="1426464"/>
          </a:xfrm>
          <a:prstGeom prst="rect">
            <a:avLst/>
          </a:prstGeom>
          <a:solidFill>
            <a:srgbClr val="0D1554"/>
          </a:solidFill>
          <a:ln w="12700">
            <a:solidFill>
              <a:srgbClr val="0D1554"/>
            </a:solidFill>
            <a:prstDash val="solid"/>
          </a:ln>
        </p:spPr>
      </p:sp>
      <p:sp>
        <p:nvSpPr>
          <p:cNvPr id="14" name="Shape 11"/>
          <p:cNvSpPr/>
          <p:nvPr/>
        </p:nvSpPr>
        <p:spPr>
          <a:xfrm>
            <a:off x="3197352" y="2887218"/>
            <a:ext cx="2749296" cy="54864"/>
          </a:xfrm>
          <a:prstGeom prst="rect">
            <a:avLst/>
          </a:prstGeom>
          <a:solidFill>
            <a:srgbClr val="18FFFF"/>
          </a:solidFill>
          <a:ln w="12700">
            <a:solidFill>
              <a:srgbClr val="18FFFF"/>
            </a:solidFill>
            <a:prstDash val="solid"/>
          </a:ln>
        </p:spPr>
      </p:sp>
      <p:sp>
        <p:nvSpPr>
          <p:cNvPr id="15" name="Text 12"/>
          <p:cNvSpPr/>
          <p:nvPr/>
        </p:nvSpPr>
        <p:spPr>
          <a:xfrm>
            <a:off x="3343656" y="3051810"/>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The opportunity</a:t>
            </a:r>
            <a:endParaRPr lang="en-US" sz="1200" dirty="0"/>
          </a:p>
        </p:txBody>
      </p:sp>
      <p:sp>
        <p:nvSpPr>
          <p:cNvPr id="16" name="Text 13"/>
          <p:cNvSpPr/>
          <p:nvPr/>
        </p:nvSpPr>
        <p:spPr>
          <a:xfrm>
            <a:off x="3343656" y="3563874"/>
            <a:ext cx="2456688" cy="65836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E8E8F0"/>
                </a:solidFill>
                <a:latin typeface="Montserrat" pitchFamily="34" charset="0"/>
                <a:ea typeface="Montserrat" pitchFamily="34" charset="-122"/>
                <a:cs typeface="Montserrat" pitchFamily="34" charset="-120"/>
              </a:rPr>
              <a:t>Automate and productise a workflow that already delivers.</a:t>
            </a:r>
            <a:endParaRPr lang="en-US" sz="1000" dirty="0"/>
          </a:p>
        </p:txBody>
      </p:sp>
      <p:sp>
        <p:nvSpPr>
          <p:cNvPr id="17" name="Shape 14"/>
          <p:cNvSpPr/>
          <p:nvPr/>
        </p:nvSpPr>
        <p:spPr>
          <a:xfrm>
            <a:off x="6028944" y="2887218"/>
            <a:ext cx="2749296" cy="1426464"/>
          </a:xfrm>
          <a:prstGeom prst="rect">
            <a:avLst/>
          </a:prstGeom>
          <a:solidFill>
            <a:srgbClr val="0D1554"/>
          </a:solidFill>
          <a:ln w="12700">
            <a:solidFill>
              <a:srgbClr val="0D1554"/>
            </a:solidFill>
            <a:prstDash val="solid"/>
          </a:ln>
        </p:spPr>
      </p:sp>
      <p:sp>
        <p:nvSpPr>
          <p:cNvPr id="18" name="Shape 15"/>
          <p:cNvSpPr/>
          <p:nvPr/>
        </p:nvSpPr>
        <p:spPr>
          <a:xfrm>
            <a:off x="6028944" y="2887218"/>
            <a:ext cx="2749296" cy="54864"/>
          </a:xfrm>
          <a:prstGeom prst="rect">
            <a:avLst/>
          </a:prstGeom>
          <a:solidFill>
            <a:srgbClr val="18FFFF"/>
          </a:solidFill>
          <a:ln w="12700">
            <a:solidFill>
              <a:srgbClr val="18FFFF"/>
            </a:solidFill>
            <a:prstDash val="solid"/>
          </a:ln>
        </p:spPr>
      </p:sp>
      <p:sp>
        <p:nvSpPr>
          <p:cNvPr id="19" name="Text 16"/>
          <p:cNvSpPr/>
          <p:nvPr/>
        </p:nvSpPr>
        <p:spPr>
          <a:xfrm>
            <a:off x="6175248" y="3051810"/>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Timing</a:t>
            </a:r>
            <a:endParaRPr lang="en-US" sz="1200" dirty="0"/>
          </a:p>
        </p:txBody>
      </p:sp>
      <p:sp>
        <p:nvSpPr>
          <p:cNvPr id="20" name="Text 17"/>
          <p:cNvSpPr/>
          <p:nvPr/>
        </p:nvSpPr>
        <p:spPr>
          <a:xfrm>
            <a:off x="6175248" y="3563874"/>
            <a:ext cx="2456688" cy="65836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E8E8F0"/>
                </a:solidFill>
                <a:latin typeface="Montserrat" pitchFamily="34" charset="0"/>
                <a:ea typeface="Montserrat" pitchFamily="34" charset="-122"/>
                <a:cs typeface="Montserrat" pitchFamily="34" charset="-120"/>
              </a:rPr>
              <a:t>Teams like Complaints are onboarding alerting now. Early enough to build automation in from the start.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THE PROPOSED SOLUTION</a:t>
            </a:r>
            <a:endParaRPr lang="en-US" sz="850" dirty="0"/>
          </a:p>
        </p:txBody>
      </p:sp>
      <p:sp>
        <p:nvSpPr>
          <p:cNvPr id="4" name="Text 1"/>
          <p:cNvSpPr/>
          <p:nvPr/>
        </p:nvSpPr>
        <p:spPr>
          <a:xfrm>
            <a:off x="365760" y="512064"/>
            <a:ext cx="8412480" cy="91440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Sentinel investigates incidents automatically.</a:t>
            </a:r>
            <a:endParaRPr lang="en-US" sz="2600" dirty="0"/>
          </a:p>
        </p:txBody>
      </p:sp>
      <p:sp>
        <p:nvSpPr>
          <p:cNvPr id="5" name="Text 2"/>
          <p:cNvSpPr/>
          <p:nvPr/>
        </p:nvSpPr>
        <p:spPr>
          <a:xfrm>
            <a:off x="365760" y="1627632"/>
            <a:ext cx="3662172" cy="256032"/>
          </a:xfrm>
          <a:prstGeom prst="rect">
            <a:avLst/>
          </a:prstGeom>
          <a:noFill/>
          <a:ln/>
        </p:spPr>
        <p:txBody>
          <a:bodyPr wrap="square" lIns="0" tIns="0" rIns="0" bIns="0" rtlCol="0" anchor="ctr"/>
          <a:lstStyle/>
          <a:p>
            <a:pPr indent="0" marL="0">
              <a:buNone/>
            </a:pPr>
            <a:r>
              <a:rPr lang="en-US" sz="850" b="1" spc="150" kern="0" dirty="0">
                <a:solidFill>
                  <a:srgbClr val="18FFFF"/>
                </a:solidFill>
                <a:latin typeface="Montserrat" pitchFamily="34" charset="0"/>
                <a:ea typeface="Montserrat" pitchFamily="34" charset="-122"/>
                <a:cs typeface="Montserrat" pitchFamily="34" charset="-120"/>
              </a:rPr>
              <a:t>MANUAL TODAY</a:t>
            </a:r>
            <a:endParaRPr lang="en-US" sz="850" dirty="0"/>
          </a:p>
        </p:txBody>
      </p:sp>
      <p:sp>
        <p:nvSpPr>
          <p:cNvPr id="6" name="Text 3"/>
          <p:cNvSpPr/>
          <p:nvPr/>
        </p:nvSpPr>
        <p:spPr>
          <a:xfrm>
            <a:off x="4302252" y="1627632"/>
            <a:ext cx="4475988" cy="256032"/>
          </a:xfrm>
          <a:prstGeom prst="rect">
            <a:avLst/>
          </a:prstGeom>
          <a:noFill/>
          <a:ln/>
        </p:spPr>
        <p:txBody>
          <a:bodyPr wrap="square" lIns="0" tIns="0" rIns="0" bIns="0" rtlCol="0" anchor="ctr"/>
          <a:lstStyle/>
          <a:p>
            <a:pPr indent="0" marL="0">
              <a:buNone/>
            </a:pPr>
            <a:r>
              <a:rPr lang="en-US" sz="850" b="1" spc="150" kern="0" dirty="0">
                <a:solidFill>
                  <a:srgbClr val="18FFFF"/>
                </a:solidFill>
                <a:latin typeface="Montserrat" pitchFamily="34" charset="0"/>
                <a:ea typeface="Montserrat" pitchFamily="34" charset="-122"/>
                <a:cs typeface="Montserrat" pitchFamily="34" charset="-120"/>
              </a:rPr>
              <a:t>WITH SENTINEL</a:t>
            </a:r>
            <a:endParaRPr lang="en-US" sz="850" dirty="0"/>
          </a:p>
        </p:txBody>
      </p:sp>
      <p:sp>
        <p:nvSpPr>
          <p:cNvPr id="7" name="Shape 4"/>
          <p:cNvSpPr/>
          <p:nvPr/>
        </p:nvSpPr>
        <p:spPr>
          <a:xfrm>
            <a:off x="365760" y="2064258"/>
            <a:ext cx="8412480" cy="466344"/>
          </a:xfrm>
          <a:prstGeom prst="rect">
            <a:avLst/>
          </a:prstGeom>
          <a:solidFill>
            <a:srgbClr val="0D1554"/>
          </a:solidFill>
          <a:ln w="12700">
            <a:solidFill>
              <a:srgbClr val="0D1554"/>
            </a:solidFill>
            <a:prstDash val="solid"/>
          </a:ln>
        </p:spPr>
      </p:sp>
      <p:sp>
        <p:nvSpPr>
          <p:cNvPr id="8" name="Text 5"/>
          <p:cNvSpPr/>
          <p:nvPr/>
        </p:nvSpPr>
        <p:spPr>
          <a:xfrm>
            <a:off x="457200" y="2100834"/>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Human triages the ticket and kicks off the work</a:t>
            </a:r>
            <a:endParaRPr lang="en-US" sz="1000" dirty="0"/>
          </a:p>
        </p:txBody>
      </p:sp>
      <p:sp>
        <p:nvSpPr>
          <p:cNvPr id="9" name="Text 6"/>
          <p:cNvSpPr/>
          <p:nvPr/>
        </p:nvSpPr>
        <p:spPr>
          <a:xfrm>
            <a:off x="4027932" y="2064258"/>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10" name="Text 7"/>
          <p:cNvSpPr/>
          <p:nvPr/>
        </p:nvSpPr>
        <p:spPr>
          <a:xfrm>
            <a:off x="4393692" y="2100834"/>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Triggers automatically on a qualifying ServiceNow incident</a:t>
            </a:r>
            <a:endParaRPr lang="en-US" sz="1000" dirty="0"/>
          </a:p>
        </p:txBody>
      </p:sp>
      <p:sp>
        <p:nvSpPr>
          <p:cNvPr id="11" name="Text 8"/>
          <p:cNvSpPr/>
          <p:nvPr/>
        </p:nvSpPr>
        <p:spPr>
          <a:xfrm>
            <a:off x="457200" y="2622042"/>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Engineer gathers logs by hand</a:t>
            </a:r>
            <a:endParaRPr lang="en-US" sz="1000" dirty="0"/>
          </a:p>
        </p:txBody>
      </p:sp>
      <p:sp>
        <p:nvSpPr>
          <p:cNvPr id="12" name="Text 9"/>
          <p:cNvSpPr/>
          <p:nvPr/>
        </p:nvSpPr>
        <p:spPr>
          <a:xfrm>
            <a:off x="4027932" y="2585466"/>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13" name="Text 10"/>
          <p:cNvSpPr/>
          <p:nvPr/>
        </p:nvSpPr>
        <p:spPr>
          <a:xfrm>
            <a:off x="4393692" y="2622042"/>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Pulls the relevant Splunk logs and inspects the deployed codebase</a:t>
            </a:r>
            <a:endParaRPr lang="en-US" sz="1000" dirty="0"/>
          </a:p>
        </p:txBody>
      </p:sp>
      <p:sp>
        <p:nvSpPr>
          <p:cNvPr id="14" name="Shape 11"/>
          <p:cNvSpPr/>
          <p:nvPr/>
        </p:nvSpPr>
        <p:spPr>
          <a:xfrm>
            <a:off x="365760" y="3106674"/>
            <a:ext cx="8412480" cy="466344"/>
          </a:xfrm>
          <a:prstGeom prst="rect">
            <a:avLst/>
          </a:prstGeom>
          <a:solidFill>
            <a:srgbClr val="0D1554"/>
          </a:solidFill>
          <a:ln w="12700">
            <a:solidFill>
              <a:srgbClr val="0D1554"/>
            </a:solidFill>
            <a:prstDash val="solid"/>
          </a:ln>
        </p:spPr>
      </p:sp>
      <p:sp>
        <p:nvSpPr>
          <p:cNvPr id="15" name="Text 12"/>
          <p:cNvSpPr/>
          <p:nvPr/>
        </p:nvSpPr>
        <p:spPr>
          <a:xfrm>
            <a:off x="457200" y="3143250"/>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Checks databases and other systems one by one</a:t>
            </a:r>
            <a:endParaRPr lang="en-US" sz="1000" dirty="0"/>
          </a:p>
        </p:txBody>
      </p:sp>
      <p:sp>
        <p:nvSpPr>
          <p:cNvPr id="16" name="Text 13"/>
          <p:cNvSpPr/>
          <p:nvPr/>
        </p:nvSpPr>
        <p:spPr>
          <a:xfrm>
            <a:off x="4027932" y="3106674"/>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17" name="Text 14"/>
          <p:cNvSpPr/>
          <p:nvPr/>
        </p:nvSpPr>
        <p:spPr>
          <a:xfrm>
            <a:off x="4393692" y="3143250"/>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Queries supporting systems (DB, Snowflake, S3) as needed</a:t>
            </a:r>
            <a:endParaRPr lang="en-US" sz="1000" dirty="0"/>
          </a:p>
        </p:txBody>
      </p:sp>
      <p:sp>
        <p:nvSpPr>
          <p:cNvPr id="18" name="Text 15"/>
          <p:cNvSpPr/>
          <p:nvPr/>
        </p:nvSpPr>
        <p:spPr>
          <a:xfrm>
            <a:off x="457200" y="3664458"/>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Reasons about the failure from memory and notes</a:t>
            </a:r>
            <a:endParaRPr lang="en-US" sz="1000" dirty="0"/>
          </a:p>
        </p:txBody>
      </p:sp>
      <p:sp>
        <p:nvSpPr>
          <p:cNvPr id="19" name="Text 16"/>
          <p:cNvSpPr/>
          <p:nvPr/>
        </p:nvSpPr>
        <p:spPr>
          <a:xfrm>
            <a:off x="4027932" y="3627882"/>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20" name="Text 17"/>
          <p:cNvSpPr/>
          <p:nvPr/>
        </p:nvSpPr>
        <p:spPr>
          <a:xfrm>
            <a:off x="4393692" y="3664458"/>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Reasons inside an isolated playground environment</a:t>
            </a:r>
            <a:endParaRPr lang="en-US" sz="1000" dirty="0"/>
          </a:p>
        </p:txBody>
      </p:sp>
      <p:sp>
        <p:nvSpPr>
          <p:cNvPr id="21" name="Shape 18"/>
          <p:cNvSpPr/>
          <p:nvPr/>
        </p:nvSpPr>
        <p:spPr>
          <a:xfrm>
            <a:off x="365760" y="4149090"/>
            <a:ext cx="8412480" cy="466344"/>
          </a:xfrm>
          <a:prstGeom prst="rect">
            <a:avLst/>
          </a:prstGeom>
          <a:solidFill>
            <a:srgbClr val="0D1554"/>
          </a:solidFill>
          <a:ln w="12700">
            <a:solidFill>
              <a:srgbClr val="0D1554"/>
            </a:solidFill>
            <a:prstDash val="solid"/>
          </a:ln>
        </p:spPr>
      </p:sp>
      <p:sp>
        <p:nvSpPr>
          <p:cNvPr id="22" name="Text 19"/>
          <p:cNvSpPr/>
          <p:nvPr/>
        </p:nvSpPr>
        <p:spPr>
          <a:xfrm>
            <a:off x="457200" y="4185666"/>
            <a:ext cx="3479292"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Findings land in a ticket, if at all</a:t>
            </a:r>
            <a:endParaRPr lang="en-US" sz="1000" dirty="0"/>
          </a:p>
        </p:txBody>
      </p:sp>
      <p:sp>
        <p:nvSpPr>
          <p:cNvPr id="23" name="Text 20"/>
          <p:cNvSpPr/>
          <p:nvPr/>
        </p:nvSpPr>
        <p:spPr>
          <a:xfrm>
            <a:off x="4027932" y="4149090"/>
            <a:ext cx="274320" cy="466344"/>
          </a:xfrm>
          <a:prstGeom prst="rect">
            <a:avLst/>
          </a:prstGeom>
          <a:noFill/>
          <a:ln/>
        </p:spPr>
        <p:txBody>
          <a:bodyPr wrap="square" lIns="0" tIns="0" rIns="0" bIns="0" rtlCol="0" anchor="ctr"/>
          <a:lstStyle/>
          <a:p>
            <a:pPr algn="ctr" indent="0" marL="0">
              <a:buNone/>
            </a:pPr>
            <a:r>
              <a:rPr lang="en-US" sz="1200" b="1" dirty="0">
                <a:solidFill>
                  <a:srgbClr val="18FFFF"/>
                </a:solidFill>
                <a:latin typeface="Montserrat" pitchFamily="34" charset="0"/>
                <a:ea typeface="Montserrat" pitchFamily="34" charset="-122"/>
                <a:cs typeface="Montserrat" pitchFamily="34" charset="-120"/>
              </a:rPr>
              <a:t>→</a:t>
            </a:r>
            <a:endParaRPr lang="en-US" sz="1200" dirty="0"/>
          </a:p>
        </p:txBody>
      </p:sp>
      <p:sp>
        <p:nvSpPr>
          <p:cNvPr id="24" name="Text 21"/>
          <p:cNvSpPr/>
          <p:nvPr/>
        </p:nvSpPr>
        <p:spPr>
          <a:xfrm>
            <a:off x="4393692" y="4185666"/>
            <a:ext cx="4293108" cy="393192"/>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Delivers a structured report with a confidence level, posted back for approval</a:t>
            </a:r>
            <a:endParaRPr lang="en-US" sz="1000" dirty="0"/>
          </a:p>
        </p:txBody>
      </p:sp>
      <p:sp>
        <p:nvSpPr>
          <p:cNvPr id="25" name="Text 22"/>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Overview, investigation, root cause, then a proposed fix or synopsis. A human reviews and approves.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HOW SENTINEL WORKS</a:t>
            </a:r>
            <a:endParaRPr lang="en-US" sz="850" dirty="0"/>
          </a:p>
        </p:txBody>
      </p:sp>
      <p:sp>
        <p:nvSpPr>
          <p:cNvPr id="4" name="Text 1"/>
          <p:cNvSpPr/>
          <p:nvPr/>
        </p:nvSpPr>
        <p:spPr>
          <a:xfrm>
            <a:off x="365760" y="512064"/>
            <a:ext cx="8412480" cy="50292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End-to-end investigation flow.</a:t>
            </a:r>
            <a:endParaRPr lang="en-US" sz="2600" dirty="0"/>
          </a:p>
        </p:txBody>
      </p:sp>
      <p:sp>
        <p:nvSpPr>
          <p:cNvPr id="5" name="Text 2"/>
          <p:cNvSpPr/>
          <p:nvPr/>
        </p:nvSpPr>
        <p:spPr>
          <a:xfrm>
            <a:off x="365760" y="1216152"/>
            <a:ext cx="8412480" cy="429768"/>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Iterative, cost-aware log retrieval. Every diagnosis carries a confidence level and a full evidence trail.</a:t>
            </a:r>
            <a:endParaRPr lang="en-US" sz="1050" dirty="0"/>
          </a:p>
        </p:txBody>
      </p:sp>
      <p:sp>
        <p:nvSpPr>
          <p:cNvPr id="6" name="Shape 3"/>
          <p:cNvSpPr/>
          <p:nvPr/>
        </p:nvSpPr>
        <p:spPr>
          <a:xfrm>
            <a:off x="365760" y="1989963"/>
            <a:ext cx="2749296" cy="914400"/>
          </a:xfrm>
          <a:prstGeom prst="rect">
            <a:avLst/>
          </a:prstGeom>
          <a:solidFill>
            <a:srgbClr val="0D1554"/>
          </a:solidFill>
          <a:ln w="12700">
            <a:solidFill>
              <a:srgbClr val="0D1554"/>
            </a:solidFill>
            <a:prstDash val="solid"/>
          </a:ln>
        </p:spPr>
      </p:sp>
      <p:sp>
        <p:nvSpPr>
          <p:cNvPr id="7" name="Shape 4"/>
          <p:cNvSpPr/>
          <p:nvPr/>
        </p:nvSpPr>
        <p:spPr>
          <a:xfrm>
            <a:off x="365760" y="1989963"/>
            <a:ext cx="2749296" cy="36576"/>
          </a:xfrm>
          <a:prstGeom prst="rect">
            <a:avLst/>
          </a:prstGeom>
          <a:solidFill>
            <a:srgbClr val="18FFFF"/>
          </a:solidFill>
          <a:ln w="12700">
            <a:solidFill>
              <a:srgbClr val="18FFFF"/>
            </a:solidFill>
            <a:prstDash val="solid"/>
          </a:ln>
        </p:spPr>
      </p:sp>
      <p:sp>
        <p:nvSpPr>
          <p:cNvPr id="8" name="Text 5"/>
          <p:cNvSpPr/>
          <p:nvPr/>
        </p:nvSpPr>
        <p:spPr>
          <a:xfrm>
            <a:off x="475488" y="206311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1</a:t>
            </a:r>
            <a:endParaRPr lang="en-US" sz="2800" dirty="0"/>
          </a:p>
        </p:txBody>
      </p:sp>
      <p:sp>
        <p:nvSpPr>
          <p:cNvPr id="9" name="Text 6"/>
          <p:cNvSpPr/>
          <p:nvPr/>
        </p:nvSpPr>
        <p:spPr>
          <a:xfrm>
            <a:off x="475488" y="238315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Detect &amp; triage</a:t>
            </a:r>
            <a:endParaRPr lang="en-US" sz="1100" dirty="0"/>
          </a:p>
        </p:txBody>
      </p:sp>
      <p:sp>
        <p:nvSpPr>
          <p:cNvPr id="10" name="Text 7"/>
          <p:cNvSpPr/>
          <p:nvPr/>
        </p:nvSpPr>
        <p:spPr>
          <a:xfrm>
            <a:off x="475488" y="265747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Qualifies the incident</a:t>
            </a:r>
            <a:endParaRPr lang="en-US" sz="950" dirty="0"/>
          </a:p>
        </p:txBody>
      </p:sp>
      <p:sp>
        <p:nvSpPr>
          <p:cNvPr id="11" name="Shape 8"/>
          <p:cNvSpPr/>
          <p:nvPr/>
        </p:nvSpPr>
        <p:spPr>
          <a:xfrm>
            <a:off x="3197352" y="1989963"/>
            <a:ext cx="2749296" cy="914400"/>
          </a:xfrm>
          <a:prstGeom prst="rect">
            <a:avLst/>
          </a:prstGeom>
          <a:solidFill>
            <a:srgbClr val="0D1554"/>
          </a:solidFill>
          <a:ln w="12700">
            <a:solidFill>
              <a:srgbClr val="0D1554"/>
            </a:solidFill>
            <a:prstDash val="solid"/>
          </a:ln>
        </p:spPr>
      </p:sp>
      <p:sp>
        <p:nvSpPr>
          <p:cNvPr id="12" name="Shape 9"/>
          <p:cNvSpPr/>
          <p:nvPr/>
        </p:nvSpPr>
        <p:spPr>
          <a:xfrm>
            <a:off x="3197352" y="1989963"/>
            <a:ext cx="2749296" cy="36576"/>
          </a:xfrm>
          <a:prstGeom prst="rect">
            <a:avLst/>
          </a:prstGeom>
          <a:solidFill>
            <a:srgbClr val="18FFFF"/>
          </a:solidFill>
          <a:ln w="12700">
            <a:solidFill>
              <a:srgbClr val="18FFFF"/>
            </a:solidFill>
            <a:prstDash val="solid"/>
          </a:ln>
        </p:spPr>
      </p:sp>
      <p:sp>
        <p:nvSpPr>
          <p:cNvPr id="13" name="Text 10"/>
          <p:cNvSpPr/>
          <p:nvPr/>
        </p:nvSpPr>
        <p:spPr>
          <a:xfrm>
            <a:off x="3307080" y="206311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2</a:t>
            </a:r>
            <a:endParaRPr lang="en-US" sz="2800" dirty="0"/>
          </a:p>
        </p:txBody>
      </p:sp>
      <p:sp>
        <p:nvSpPr>
          <p:cNvPr id="14" name="Text 11"/>
          <p:cNvSpPr/>
          <p:nvPr/>
        </p:nvSpPr>
        <p:spPr>
          <a:xfrm>
            <a:off x="3307080" y="238315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Plan</a:t>
            </a:r>
            <a:endParaRPr lang="en-US" sz="1100" dirty="0"/>
          </a:p>
        </p:txBody>
      </p:sp>
      <p:sp>
        <p:nvSpPr>
          <p:cNvPr id="15" name="Text 12"/>
          <p:cNvSpPr/>
          <p:nvPr/>
        </p:nvSpPr>
        <p:spPr>
          <a:xfrm>
            <a:off x="3307080" y="265747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Plans the investigation</a:t>
            </a:r>
            <a:endParaRPr lang="en-US" sz="950" dirty="0"/>
          </a:p>
        </p:txBody>
      </p:sp>
      <p:sp>
        <p:nvSpPr>
          <p:cNvPr id="16" name="Shape 13"/>
          <p:cNvSpPr/>
          <p:nvPr/>
        </p:nvSpPr>
        <p:spPr>
          <a:xfrm>
            <a:off x="6028944" y="1989963"/>
            <a:ext cx="2749296" cy="914400"/>
          </a:xfrm>
          <a:prstGeom prst="rect">
            <a:avLst/>
          </a:prstGeom>
          <a:solidFill>
            <a:srgbClr val="0D1554"/>
          </a:solidFill>
          <a:ln w="12700">
            <a:solidFill>
              <a:srgbClr val="0D1554"/>
            </a:solidFill>
            <a:prstDash val="solid"/>
          </a:ln>
        </p:spPr>
      </p:sp>
      <p:sp>
        <p:nvSpPr>
          <p:cNvPr id="17" name="Shape 14"/>
          <p:cNvSpPr/>
          <p:nvPr/>
        </p:nvSpPr>
        <p:spPr>
          <a:xfrm>
            <a:off x="6028944" y="1989963"/>
            <a:ext cx="2749296" cy="36576"/>
          </a:xfrm>
          <a:prstGeom prst="rect">
            <a:avLst/>
          </a:prstGeom>
          <a:solidFill>
            <a:srgbClr val="18FFFF"/>
          </a:solidFill>
          <a:ln w="12700">
            <a:solidFill>
              <a:srgbClr val="18FFFF"/>
            </a:solidFill>
            <a:prstDash val="solid"/>
          </a:ln>
        </p:spPr>
      </p:sp>
      <p:sp>
        <p:nvSpPr>
          <p:cNvPr id="18" name="Text 15"/>
          <p:cNvSpPr/>
          <p:nvPr/>
        </p:nvSpPr>
        <p:spPr>
          <a:xfrm>
            <a:off x="6138672" y="2063115"/>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3</a:t>
            </a:r>
            <a:endParaRPr lang="en-US" sz="2800" dirty="0"/>
          </a:p>
        </p:txBody>
      </p:sp>
      <p:sp>
        <p:nvSpPr>
          <p:cNvPr id="19" name="Text 16"/>
          <p:cNvSpPr/>
          <p:nvPr/>
        </p:nvSpPr>
        <p:spPr>
          <a:xfrm>
            <a:off x="6138672" y="2383155"/>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Gather evidence</a:t>
            </a:r>
            <a:endParaRPr lang="en-US" sz="1100" dirty="0"/>
          </a:p>
        </p:txBody>
      </p:sp>
      <p:sp>
        <p:nvSpPr>
          <p:cNvPr id="20" name="Text 17"/>
          <p:cNvSpPr/>
          <p:nvPr/>
        </p:nvSpPr>
        <p:spPr>
          <a:xfrm>
            <a:off x="6138672" y="2657475"/>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Logs, code and data</a:t>
            </a:r>
            <a:endParaRPr lang="en-US" sz="950" dirty="0"/>
          </a:p>
        </p:txBody>
      </p:sp>
      <p:sp>
        <p:nvSpPr>
          <p:cNvPr id="21" name="Shape 18"/>
          <p:cNvSpPr/>
          <p:nvPr/>
        </p:nvSpPr>
        <p:spPr>
          <a:xfrm>
            <a:off x="365760" y="3537585"/>
            <a:ext cx="2749296" cy="914400"/>
          </a:xfrm>
          <a:prstGeom prst="rect">
            <a:avLst/>
          </a:prstGeom>
          <a:solidFill>
            <a:srgbClr val="0D1554"/>
          </a:solidFill>
          <a:ln w="12700">
            <a:solidFill>
              <a:srgbClr val="0D1554"/>
            </a:solidFill>
            <a:prstDash val="solid"/>
          </a:ln>
        </p:spPr>
      </p:sp>
      <p:sp>
        <p:nvSpPr>
          <p:cNvPr id="22" name="Shape 19"/>
          <p:cNvSpPr/>
          <p:nvPr/>
        </p:nvSpPr>
        <p:spPr>
          <a:xfrm>
            <a:off x="365760" y="3537585"/>
            <a:ext cx="2749296" cy="36576"/>
          </a:xfrm>
          <a:prstGeom prst="rect">
            <a:avLst/>
          </a:prstGeom>
          <a:solidFill>
            <a:srgbClr val="18FFFF"/>
          </a:solidFill>
          <a:ln w="12700">
            <a:solidFill>
              <a:srgbClr val="18FFFF"/>
            </a:solidFill>
            <a:prstDash val="solid"/>
          </a:ln>
        </p:spPr>
      </p:sp>
      <p:sp>
        <p:nvSpPr>
          <p:cNvPr id="23" name="Text 20"/>
          <p:cNvSpPr/>
          <p:nvPr/>
        </p:nvSpPr>
        <p:spPr>
          <a:xfrm>
            <a:off x="475488" y="3610737"/>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4</a:t>
            </a:r>
            <a:endParaRPr lang="en-US" sz="2800" dirty="0"/>
          </a:p>
        </p:txBody>
      </p:sp>
      <p:sp>
        <p:nvSpPr>
          <p:cNvPr id="24" name="Text 21"/>
          <p:cNvSpPr/>
          <p:nvPr/>
        </p:nvSpPr>
        <p:spPr>
          <a:xfrm>
            <a:off x="475488" y="3930777"/>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Find root cause</a:t>
            </a:r>
            <a:endParaRPr lang="en-US" sz="1100" dirty="0"/>
          </a:p>
        </p:txBody>
      </p:sp>
      <p:sp>
        <p:nvSpPr>
          <p:cNvPr id="25" name="Text 22"/>
          <p:cNvSpPr/>
          <p:nvPr/>
        </p:nvSpPr>
        <p:spPr>
          <a:xfrm>
            <a:off x="475488" y="4205097"/>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Correlates the evidence</a:t>
            </a:r>
            <a:endParaRPr lang="en-US" sz="950" dirty="0"/>
          </a:p>
        </p:txBody>
      </p:sp>
      <p:sp>
        <p:nvSpPr>
          <p:cNvPr id="26" name="Shape 23"/>
          <p:cNvSpPr/>
          <p:nvPr/>
        </p:nvSpPr>
        <p:spPr>
          <a:xfrm>
            <a:off x="3197352" y="3537585"/>
            <a:ext cx="2749296" cy="914400"/>
          </a:xfrm>
          <a:prstGeom prst="rect">
            <a:avLst/>
          </a:prstGeom>
          <a:solidFill>
            <a:srgbClr val="0D1554"/>
          </a:solidFill>
          <a:ln w="12700">
            <a:solidFill>
              <a:srgbClr val="0D1554"/>
            </a:solidFill>
            <a:prstDash val="solid"/>
          </a:ln>
        </p:spPr>
      </p:sp>
      <p:sp>
        <p:nvSpPr>
          <p:cNvPr id="27" name="Shape 24"/>
          <p:cNvSpPr/>
          <p:nvPr/>
        </p:nvSpPr>
        <p:spPr>
          <a:xfrm>
            <a:off x="3197352" y="3537585"/>
            <a:ext cx="2749296" cy="36576"/>
          </a:xfrm>
          <a:prstGeom prst="rect">
            <a:avLst/>
          </a:prstGeom>
          <a:solidFill>
            <a:srgbClr val="18FFFF"/>
          </a:solidFill>
          <a:ln w="12700">
            <a:solidFill>
              <a:srgbClr val="18FFFF"/>
            </a:solidFill>
            <a:prstDash val="solid"/>
          </a:ln>
        </p:spPr>
      </p:sp>
      <p:sp>
        <p:nvSpPr>
          <p:cNvPr id="28" name="Text 25"/>
          <p:cNvSpPr/>
          <p:nvPr/>
        </p:nvSpPr>
        <p:spPr>
          <a:xfrm>
            <a:off x="3307080" y="3610737"/>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5</a:t>
            </a:r>
            <a:endParaRPr lang="en-US" sz="2800" dirty="0"/>
          </a:p>
        </p:txBody>
      </p:sp>
      <p:sp>
        <p:nvSpPr>
          <p:cNvPr id="29" name="Text 26"/>
          <p:cNvSpPr/>
          <p:nvPr/>
        </p:nvSpPr>
        <p:spPr>
          <a:xfrm>
            <a:off x="3307080" y="3930777"/>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Fix or synopsise</a:t>
            </a:r>
            <a:endParaRPr lang="en-US" sz="1100" dirty="0"/>
          </a:p>
        </p:txBody>
      </p:sp>
      <p:sp>
        <p:nvSpPr>
          <p:cNvPr id="30" name="Text 27"/>
          <p:cNvSpPr/>
          <p:nvPr/>
        </p:nvSpPr>
        <p:spPr>
          <a:xfrm>
            <a:off x="3307080" y="4205097"/>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Validates a fix in the playground</a:t>
            </a:r>
            <a:endParaRPr lang="en-US" sz="950" dirty="0"/>
          </a:p>
        </p:txBody>
      </p:sp>
      <p:sp>
        <p:nvSpPr>
          <p:cNvPr id="31" name="Shape 28"/>
          <p:cNvSpPr/>
          <p:nvPr/>
        </p:nvSpPr>
        <p:spPr>
          <a:xfrm>
            <a:off x="6028944" y="3537585"/>
            <a:ext cx="2749296" cy="914400"/>
          </a:xfrm>
          <a:prstGeom prst="rect">
            <a:avLst/>
          </a:prstGeom>
          <a:solidFill>
            <a:srgbClr val="0D1554"/>
          </a:solidFill>
          <a:ln w="12700">
            <a:solidFill>
              <a:srgbClr val="0D1554"/>
            </a:solidFill>
            <a:prstDash val="solid"/>
          </a:ln>
        </p:spPr>
      </p:sp>
      <p:sp>
        <p:nvSpPr>
          <p:cNvPr id="32" name="Shape 29"/>
          <p:cNvSpPr/>
          <p:nvPr/>
        </p:nvSpPr>
        <p:spPr>
          <a:xfrm>
            <a:off x="6028944" y="3537585"/>
            <a:ext cx="2749296" cy="36576"/>
          </a:xfrm>
          <a:prstGeom prst="rect">
            <a:avLst/>
          </a:prstGeom>
          <a:solidFill>
            <a:srgbClr val="18FFFF"/>
          </a:solidFill>
          <a:ln w="12700">
            <a:solidFill>
              <a:srgbClr val="18FFFF"/>
            </a:solidFill>
            <a:prstDash val="solid"/>
          </a:ln>
        </p:spPr>
      </p:sp>
      <p:sp>
        <p:nvSpPr>
          <p:cNvPr id="33" name="Text 30"/>
          <p:cNvSpPr/>
          <p:nvPr/>
        </p:nvSpPr>
        <p:spPr>
          <a:xfrm>
            <a:off x="6138672" y="3610737"/>
            <a:ext cx="548640" cy="320040"/>
          </a:xfrm>
          <a:prstGeom prst="rect">
            <a:avLst/>
          </a:prstGeom>
          <a:noFill/>
          <a:ln/>
        </p:spPr>
        <p:txBody>
          <a:bodyPr wrap="square" lIns="0" tIns="0" rIns="0" bIns="0" rtlCol="0" anchor="ctr"/>
          <a:lstStyle/>
          <a:p>
            <a:pPr indent="0" marL="0">
              <a:buNone/>
            </a:pPr>
            <a:r>
              <a:rPr lang="en-US" sz="2800" b="1" dirty="0">
                <a:solidFill>
                  <a:srgbClr val="18FFFF"/>
                </a:solidFill>
                <a:latin typeface="Montserrat" pitchFamily="34" charset="0"/>
                <a:ea typeface="Montserrat" pitchFamily="34" charset="-122"/>
                <a:cs typeface="Montserrat" pitchFamily="34" charset="-120"/>
              </a:rPr>
              <a:t>6</a:t>
            </a:r>
            <a:endParaRPr lang="en-US" sz="2800" dirty="0"/>
          </a:p>
        </p:txBody>
      </p:sp>
      <p:sp>
        <p:nvSpPr>
          <p:cNvPr id="34" name="Text 31"/>
          <p:cNvSpPr/>
          <p:nvPr/>
        </p:nvSpPr>
        <p:spPr>
          <a:xfrm>
            <a:off x="6138672" y="3930777"/>
            <a:ext cx="2529840" cy="27432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Human review</a:t>
            </a:r>
            <a:endParaRPr lang="en-US" sz="1100" dirty="0"/>
          </a:p>
        </p:txBody>
      </p:sp>
      <p:sp>
        <p:nvSpPr>
          <p:cNvPr id="35" name="Text 32"/>
          <p:cNvSpPr/>
          <p:nvPr/>
        </p:nvSpPr>
        <p:spPr>
          <a:xfrm>
            <a:off x="6138672" y="4205097"/>
            <a:ext cx="2529840" cy="173736"/>
          </a:xfrm>
          <a:prstGeom prst="rect">
            <a:avLst/>
          </a:prstGeom>
          <a:noFill/>
          <a:ln/>
        </p:spPr>
        <p:txBody>
          <a:bodyPr wrap="square" lIns="0" tIns="0" rIns="0" bIns="0" rtlCol="0" anchor="t"/>
          <a:lstStyle/>
          <a:p>
            <a:pPr indent="0" marL="0">
              <a:buNone/>
            </a:pPr>
            <a:r>
              <a:rPr lang="en-US" sz="950" dirty="0">
                <a:solidFill>
                  <a:srgbClr val="8888AA"/>
                </a:solidFill>
                <a:latin typeface="Montserrat" pitchFamily="34" charset="0"/>
                <a:ea typeface="Montserrat" pitchFamily="34" charset="-122"/>
                <a:cs typeface="Montserrat" pitchFamily="34" charset="-120"/>
              </a:rPr>
              <a:t>A person approves the outcome</a:t>
            </a:r>
            <a:endParaRPr lang="en-US" sz="950" dirty="0"/>
          </a:p>
        </p:txBody>
      </p:sp>
      <p:sp>
        <p:nvSpPr>
          <p:cNvPr id="36" name="Text 33"/>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Every tool call and decision is logged. Human verdicts feed a golden dataset that tracks accuracy, fix acceptance and MTTD over time.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TWO VALUABLE OUTCOMES</a:t>
            </a:r>
            <a:endParaRPr lang="en-US" sz="850" dirty="0"/>
          </a:p>
        </p:txBody>
      </p:sp>
      <p:sp>
        <p:nvSpPr>
          <p:cNvPr id="4" name="Text 1"/>
          <p:cNvSpPr/>
          <p:nvPr/>
        </p:nvSpPr>
        <p:spPr>
          <a:xfrm>
            <a:off x="365760" y="512064"/>
            <a:ext cx="8412480" cy="50292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Fix it, or fast-track the human.</a:t>
            </a:r>
            <a:endParaRPr lang="en-US" sz="2600" dirty="0"/>
          </a:p>
        </p:txBody>
      </p:sp>
      <p:sp>
        <p:nvSpPr>
          <p:cNvPr id="5" name="Text 2"/>
          <p:cNvSpPr/>
          <p:nvPr/>
        </p:nvSpPr>
        <p:spPr>
          <a:xfrm>
            <a:off x="365760" y="1216152"/>
            <a:ext cx="8412480" cy="256032"/>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Value does not require solving everything. For illustration: 70% resolved outright plus 30% accelerated is a brilliant outcome.</a:t>
            </a:r>
            <a:endParaRPr lang="en-US" sz="1050" dirty="0"/>
          </a:p>
        </p:txBody>
      </p:sp>
      <p:sp>
        <p:nvSpPr>
          <p:cNvPr id="6" name="Text 3"/>
          <p:cNvSpPr/>
          <p:nvPr/>
        </p:nvSpPr>
        <p:spPr>
          <a:xfrm>
            <a:off x="365760" y="1581912"/>
            <a:ext cx="8412480" cy="219456"/>
          </a:xfrm>
          <a:prstGeom prst="rect">
            <a:avLst/>
          </a:prstGeom>
          <a:noFill/>
          <a:ln/>
        </p:spPr>
        <p:txBody>
          <a:bodyPr wrap="square" lIns="0" tIns="0" rIns="0" bIns="0" rtlCol="0" anchor="ctr"/>
          <a:lstStyle/>
          <a:p>
            <a:pPr indent="0" marL="0">
              <a:buNone/>
            </a:pPr>
            <a:r>
              <a:rPr lang="en-US" sz="900" b="1" spc="150" kern="0" dirty="0">
                <a:solidFill>
                  <a:srgbClr val="18FFFF"/>
                </a:solidFill>
                <a:latin typeface="Montserrat" pitchFamily="34" charset="0"/>
                <a:ea typeface="Montserrat" pitchFamily="34" charset="-122"/>
                <a:cs typeface="Montserrat" pitchFamily="34" charset="-120"/>
              </a:rPr>
              <a:t>A. VALIDATED FIX</a:t>
            </a:r>
            <a:endParaRPr lang="en-US" sz="900" dirty="0"/>
          </a:p>
        </p:txBody>
      </p:sp>
      <p:sp>
        <p:nvSpPr>
          <p:cNvPr id="7" name="Shape 4"/>
          <p:cNvSpPr/>
          <p:nvPr/>
        </p:nvSpPr>
        <p:spPr>
          <a:xfrm>
            <a:off x="365760" y="1837944"/>
            <a:ext cx="2749296" cy="1250442"/>
          </a:xfrm>
          <a:prstGeom prst="rect">
            <a:avLst/>
          </a:prstGeom>
          <a:solidFill>
            <a:srgbClr val="0D1554"/>
          </a:solidFill>
          <a:ln w="12700">
            <a:solidFill>
              <a:srgbClr val="0D1554"/>
            </a:solidFill>
            <a:prstDash val="solid"/>
          </a:ln>
        </p:spPr>
      </p:sp>
      <p:sp>
        <p:nvSpPr>
          <p:cNvPr id="8" name="Shape 5"/>
          <p:cNvSpPr/>
          <p:nvPr/>
        </p:nvSpPr>
        <p:spPr>
          <a:xfrm>
            <a:off x="365760" y="1837944"/>
            <a:ext cx="2749296" cy="45720"/>
          </a:xfrm>
          <a:prstGeom prst="rect">
            <a:avLst/>
          </a:prstGeom>
          <a:solidFill>
            <a:srgbClr val="18FFFF"/>
          </a:solidFill>
          <a:ln w="12700">
            <a:solidFill>
              <a:srgbClr val="18FFFF"/>
            </a:solidFill>
            <a:prstDash val="solid"/>
          </a:ln>
        </p:spPr>
      </p:sp>
      <p:sp>
        <p:nvSpPr>
          <p:cNvPr id="9" name="Text 6"/>
          <p:cNvSpPr/>
          <p:nvPr/>
        </p:nvSpPr>
        <p:spPr>
          <a:xfrm>
            <a:off x="493776" y="1947672"/>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Reproduce</a:t>
            </a:r>
            <a:endParaRPr lang="en-US" sz="1200" dirty="0"/>
          </a:p>
        </p:txBody>
      </p:sp>
      <p:sp>
        <p:nvSpPr>
          <p:cNvPr id="10" name="Text 7"/>
          <p:cNvSpPr/>
          <p:nvPr/>
        </p:nvSpPr>
        <p:spPr>
          <a:xfrm>
            <a:off x="493776" y="2331720"/>
            <a:ext cx="2493264" cy="66522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Reproduces the issue and develops a fix in an isolated playground.</a:t>
            </a:r>
            <a:endParaRPr lang="en-US" sz="1000" dirty="0"/>
          </a:p>
        </p:txBody>
      </p:sp>
      <p:sp>
        <p:nvSpPr>
          <p:cNvPr id="11" name="Shape 8"/>
          <p:cNvSpPr/>
          <p:nvPr/>
        </p:nvSpPr>
        <p:spPr>
          <a:xfrm>
            <a:off x="3197352" y="1837944"/>
            <a:ext cx="2749296" cy="1250442"/>
          </a:xfrm>
          <a:prstGeom prst="rect">
            <a:avLst/>
          </a:prstGeom>
          <a:solidFill>
            <a:srgbClr val="0D1554"/>
          </a:solidFill>
          <a:ln w="12700">
            <a:solidFill>
              <a:srgbClr val="0D1554"/>
            </a:solidFill>
            <a:prstDash val="solid"/>
          </a:ln>
        </p:spPr>
      </p:sp>
      <p:sp>
        <p:nvSpPr>
          <p:cNvPr id="12" name="Shape 9"/>
          <p:cNvSpPr/>
          <p:nvPr/>
        </p:nvSpPr>
        <p:spPr>
          <a:xfrm>
            <a:off x="3197352" y="1837944"/>
            <a:ext cx="2749296" cy="45720"/>
          </a:xfrm>
          <a:prstGeom prst="rect">
            <a:avLst/>
          </a:prstGeom>
          <a:solidFill>
            <a:srgbClr val="18FFFF"/>
          </a:solidFill>
          <a:ln w="12700">
            <a:solidFill>
              <a:srgbClr val="18FFFF"/>
            </a:solidFill>
            <a:prstDash val="solid"/>
          </a:ln>
        </p:spPr>
      </p:sp>
      <p:sp>
        <p:nvSpPr>
          <p:cNvPr id="13" name="Text 10"/>
          <p:cNvSpPr/>
          <p:nvPr/>
        </p:nvSpPr>
        <p:spPr>
          <a:xfrm>
            <a:off x="3325368" y="1947672"/>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Test first</a:t>
            </a:r>
            <a:endParaRPr lang="en-US" sz="1200" dirty="0"/>
          </a:p>
        </p:txBody>
      </p:sp>
      <p:sp>
        <p:nvSpPr>
          <p:cNvPr id="14" name="Text 11"/>
          <p:cNvSpPr/>
          <p:nvPr/>
        </p:nvSpPr>
        <p:spPr>
          <a:xfrm>
            <a:off x="3325368" y="2331720"/>
            <a:ext cx="2493264" cy="66522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Tests the fix before proposing it. Zero production risk.</a:t>
            </a:r>
            <a:endParaRPr lang="en-US" sz="1000" dirty="0"/>
          </a:p>
        </p:txBody>
      </p:sp>
      <p:sp>
        <p:nvSpPr>
          <p:cNvPr id="15" name="Shape 12"/>
          <p:cNvSpPr/>
          <p:nvPr/>
        </p:nvSpPr>
        <p:spPr>
          <a:xfrm>
            <a:off x="6028944" y="1837944"/>
            <a:ext cx="2749296" cy="1250442"/>
          </a:xfrm>
          <a:prstGeom prst="rect">
            <a:avLst/>
          </a:prstGeom>
          <a:solidFill>
            <a:srgbClr val="0D1554"/>
          </a:solidFill>
          <a:ln w="12700">
            <a:solidFill>
              <a:srgbClr val="0D1554"/>
            </a:solidFill>
            <a:prstDash val="solid"/>
          </a:ln>
        </p:spPr>
      </p:sp>
      <p:sp>
        <p:nvSpPr>
          <p:cNvPr id="16" name="Shape 13"/>
          <p:cNvSpPr/>
          <p:nvPr/>
        </p:nvSpPr>
        <p:spPr>
          <a:xfrm>
            <a:off x="6028944" y="1837944"/>
            <a:ext cx="2749296" cy="45720"/>
          </a:xfrm>
          <a:prstGeom prst="rect">
            <a:avLst/>
          </a:prstGeom>
          <a:solidFill>
            <a:srgbClr val="18FFFF"/>
          </a:solidFill>
          <a:ln w="12700">
            <a:solidFill>
              <a:srgbClr val="18FFFF"/>
            </a:solidFill>
            <a:prstDash val="solid"/>
          </a:ln>
        </p:spPr>
      </p:sp>
      <p:sp>
        <p:nvSpPr>
          <p:cNvPr id="17" name="Text 14"/>
          <p:cNvSpPr/>
          <p:nvPr/>
        </p:nvSpPr>
        <p:spPr>
          <a:xfrm>
            <a:off x="6156960" y="1947672"/>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Propose</a:t>
            </a:r>
            <a:endParaRPr lang="en-US" sz="1200" dirty="0"/>
          </a:p>
        </p:txBody>
      </p:sp>
      <p:sp>
        <p:nvSpPr>
          <p:cNvPr id="18" name="Text 15"/>
          <p:cNvSpPr/>
          <p:nvPr/>
        </p:nvSpPr>
        <p:spPr>
          <a:xfrm>
            <a:off x="6156960" y="2331720"/>
            <a:ext cx="2493264" cy="66522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Offered for human review, for example as a pull request.</a:t>
            </a:r>
            <a:endParaRPr lang="en-US" sz="1000" dirty="0"/>
          </a:p>
        </p:txBody>
      </p:sp>
      <p:sp>
        <p:nvSpPr>
          <p:cNvPr id="19" name="Text 16"/>
          <p:cNvSpPr/>
          <p:nvPr/>
        </p:nvSpPr>
        <p:spPr>
          <a:xfrm>
            <a:off x="365760" y="3198114"/>
            <a:ext cx="8412480" cy="219456"/>
          </a:xfrm>
          <a:prstGeom prst="rect">
            <a:avLst/>
          </a:prstGeom>
          <a:noFill/>
          <a:ln/>
        </p:spPr>
        <p:txBody>
          <a:bodyPr wrap="square" lIns="0" tIns="0" rIns="0" bIns="0" rtlCol="0" anchor="ctr"/>
          <a:lstStyle/>
          <a:p>
            <a:pPr indent="0" marL="0">
              <a:buNone/>
            </a:pPr>
            <a:r>
              <a:rPr lang="en-US" sz="900" b="1" spc="150" kern="0" dirty="0">
                <a:solidFill>
                  <a:srgbClr val="18FFFF"/>
                </a:solidFill>
                <a:latin typeface="Montserrat" pitchFamily="34" charset="0"/>
                <a:ea typeface="Montserrat" pitchFamily="34" charset="-122"/>
                <a:cs typeface="Montserrat" pitchFamily="34" charset="-120"/>
              </a:rPr>
              <a:t>B. INVESTIGATION SYNOPSIS</a:t>
            </a:r>
            <a:endParaRPr lang="en-US" sz="900" dirty="0"/>
          </a:p>
        </p:txBody>
      </p:sp>
      <p:sp>
        <p:nvSpPr>
          <p:cNvPr id="20" name="Shape 17"/>
          <p:cNvSpPr/>
          <p:nvPr/>
        </p:nvSpPr>
        <p:spPr>
          <a:xfrm>
            <a:off x="365760" y="3454146"/>
            <a:ext cx="2749296" cy="1250442"/>
          </a:xfrm>
          <a:prstGeom prst="rect">
            <a:avLst/>
          </a:prstGeom>
          <a:solidFill>
            <a:srgbClr val="0D1554"/>
          </a:solidFill>
          <a:ln w="12700">
            <a:solidFill>
              <a:srgbClr val="0D1554"/>
            </a:solidFill>
            <a:prstDash val="solid"/>
          </a:ln>
        </p:spPr>
      </p:sp>
      <p:sp>
        <p:nvSpPr>
          <p:cNvPr id="21" name="Shape 18"/>
          <p:cNvSpPr/>
          <p:nvPr/>
        </p:nvSpPr>
        <p:spPr>
          <a:xfrm>
            <a:off x="365760" y="3454146"/>
            <a:ext cx="2749296" cy="45720"/>
          </a:xfrm>
          <a:prstGeom prst="rect">
            <a:avLst/>
          </a:prstGeom>
          <a:solidFill>
            <a:srgbClr val="18FFFF"/>
          </a:solidFill>
          <a:ln w="12700">
            <a:solidFill>
              <a:srgbClr val="18FFFF"/>
            </a:solidFill>
            <a:prstDash val="solid"/>
          </a:ln>
        </p:spPr>
      </p:sp>
      <p:sp>
        <p:nvSpPr>
          <p:cNvPr id="22" name="Text 19"/>
          <p:cNvSpPr/>
          <p:nvPr/>
        </p:nvSpPr>
        <p:spPr>
          <a:xfrm>
            <a:off x="493776" y="3563874"/>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When a fix is not safe</a:t>
            </a:r>
            <a:endParaRPr lang="en-US" sz="1200" dirty="0"/>
          </a:p>
        </p:txBody>
      </p:sp>
      <p:sp>
        <p:nvSpPr>
          <p:cNvPr id="23" name="Text 20"/>
          <p:cNvSpPr/>
          <p:nvPr/>
        </p:nvSpPr>
        <p:spPr>
          <a:xfrm>
            <a:off x="493776" y="3947922"/>
            <a:ext cx="2493264" cy="66522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Delivers what it found instead of forcing a fix.</a:t>
            </a:r>
            <a:endParaRPr lang="en-US" sz="1000" dirty="0"/>
          </a:p>
        </p:txBody>
      </p:sp>
      <p:sp>
        <p:nvSpPr>
          <p:cNvPr id="24" name="Shape 21"/>
          <p:cNvSpPr/>
          <p:nvPr/>
        </p:nvSpPr>
        <p:spPr>
          <a:xfrm>
            <a:off x="3197352" y="3454146"/>
            <a:ext cx="2749296" cy="1250442"/>
          </a:xfrm>
          <a:prstGeom prst="rect">
            <a:avLst/>
          </a:prstGeom>
          <a:solidFill>
            <a:srgbClr val="0D1554"/>
          </a:solidFill>
          <a:ln w="12700">
            <a:solidFill>
              <a:srgbClr val="0D1554"/>
            </a:solidFill>
            <a:prstDash val="solid"/>
          </a:ln>
        </p:spPr>
      </p:sp>
      <p:sp>
        <p:nvSpPr>
          <p:cNvPr id="25" name="Shape 22"/>
          <p:cNvSpPr/>
          <p:nvPr/>
        </p:nvSpPr>
        <p:spPr>
          <a:xfrm>
            <a:off x="3197352" y="3454146"/>
            <a:ext cx="2749296" cy="45720"/>
          </a:xfrm>
          <a:prstGeom prst="rect">
            <a:avLst/>
          </a:prstGeom>
          <a:solidFill>
            <a:srgbClr val="18FFFF"/>
          </a:solidFill>
          <a:ln w="12700">
            <a:solidFill>
              <a:srgbClr val="18FFFF"/>
            </a:solidFill>
            <a:prstDash val="solid"/>
          </a:ln>
        </p:spPr>
      </p:sp>
      <p:sp>
        <p:nvSpPr>
          <p:cNvPr id="26" name="Text 23"/>
          <p:cNvSpPr/>
          <p:nvPr/>
        </p:nvSpPr>
        <p:spPr>
          <a:xfrm>
            <a:off x="3325368" y="3563874"/>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Evidence</a:t>
            </a:r>
            <a:endParaRPr lang="en-US" sz="1200" dirty="0"/>
          </a:p>
        </p:txBody>
      </p:sp>
      <p:sp>
        <p:nvSpPr>
          <p:cNvPr id="27" name="Text 24"/>
          <p:cNvSpPr/>
          <p:nvPr/>
        </p:nvSpPr>
        <p:spPr>
          <a:xfrm>
            <a:off x="3325368" y="3947922"/>
            <a:ext cx="2493264" cy="66522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Overview, evidence, root-cause hypothesis and suggested next steps.</a:t>
            </a:r>
            <a:endParaRPr lang="en-US" sz="1000" dirty="0"/>
          </a:p>
        </p:txBody>
      </p:sp>
      <p:sp>
        <p:nvSpPr>
          <p:cNvPr id="28" name="Shape 25"/>
          <p:cNvSpPr/>
          <p:nvPr/>
        </p:nvSpPr>
        <p:spPr>
          <a:xfrm>
            <a:off x="6028944" y="3454146"/>
            <a:ext cx="2749296" cy="1250442"/>
          </a:xfrm>
          <a:prstGeom prst="rect">
            <a:avLst/>
          </a:prstGeom>
          <a:solidFill>
            <a:srgbClr val="0D1554"/>
          </a:solidFill>
          <a:ln w="12700">
            <a:solidFill>
              <a:srgbClr val="0D1554"/>
            </a:solidFill>
            <a:prstDash val="solid"/>
          </a:ln>
        </p:spPr>
      </p:sp>
      <p:sp>
        <p:nvSpPr>
          <p:cNvPr id="29" name="Shape 26"/>
          <p:cNvSpPr/>
          <p:nvPr/>
        </p:nvSpPr>
        <p:spPr>
          <a:xfrm>
            <a:off x="6028944" y="3454146"/>
            <a:ext cx="2749296" cy="45720"/>
          </a:xfrm>
          <a:prstGeom prst="rect">
            <a:avLst/>
          </a:prstGeom>
          <a:solidFill>
            <a:srgbClr val="18FFFF"/>
          </a:solidFill>
          <a:ln w="12700">
            <a:solidFill>
              <a:srgbClr val="18FFFF"/>
            </a:solidFill>
            <a:prstDash val="solid"/>
          </a:ln>
        </p:spPr>
      </p:sp>
      <p:sp>
        <p:nvSpPr>
          <p:cNvPr id="30" name="Text 27"/>
          <p:cNvSpPr/>
          <p:nvPr/>
        </p:nvSpPr>
        <p:spPr>
          <a:xfrm>
            <a:off x="6156960" y="3563874"/>
            <a:ext cx="2493264" cy="365760"/>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Head start</a:t>
            </a:r>
            <a:endParaRPr lang="en-US" sz="1200" dirty="0"/>
          </a:p>
        </p:txBody>
      </p:sp>
      <p:sp>
        <p:nvSpPr>
          <p:cNvPr id="31" name="Text 28"/>
          <p:cNvSpPr/>
          <p:nvPr/>
        </p:nvSpPr>
        <p:spPr>
          <a:xfrm>
            <a:off x="6156960" y="3947922"/>
            <a:ext cx="2493264" cy="665226"/>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Gives the human a major head start and speeds up resolution.</a:t>
            </a:r>
            <a:endParaRPr lang="en-US" sz="1000" dirty="0"/>
          </a:p>
        </p:txBody>
      </p:sp>
      <p:sp>
        <p:nvSpPr>
          <p:cNvPr id="32" name="Text 29"/>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Partial automation still wins: resolve many outright, accelerate the rest.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ARCHITECTURE</a:t>
            </a:r>
            <a:endParaRPr lang="en-US" sz="850" dirty="0"/>
          </a:p>
        </p:txBody>
      </p:sp>
      <p:sp>
        <p:nvSpPr>
          <p:cNvPr id="4" name="Text 1"/>
          <p:cNvSpPr/>
          <p:nvPr/>
        </p:nvSpPr>
        <p:spPr>
          <a:xfrm>
            <a:off x="365760" y="5120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Built to scale, and to swap parts out.</a:t>
            </a:r>
            <a:endParaRPr lang="en-US" sz="2200" dirty="0"/>
          </a:p>
        </p:txBody>
      </p:sp>
      <p:sp>
        <p:nvSpPr>
          <p:cNvPr id="5" name="Shape 2"/>
          <p:cNvSpPr/>
          <p:nvPr/>
        </p:nvSpPr>
        <p:spPr>
          <a:xfrm>
            <a:off x="365760" y="1170432"/>
            <a:ext cx="8412480" cy="1088136"/>
          </a:xfrm>
          <a:prstGeom prst="rect">
            <a:avLst/>
          </a:prstGeom>
          <a:solidFill>
            <a:srgbClr val="0D1554"/>
          </a:solidFill>
          <a:ln w="12700">
            <a:solidFill>
              <a:srgbClr val="0D1554"/>
            </a:solidFill>
            <a:prstDash val="solid"/>
          </a:ln>
        </p:spPr>
      </p:sp>
      <p:sp>
        <p:nvSpPr>
          <p:cNvPr id="6" name="Shape 3"/>
          <p:cNvSpPr/>
          <p:nvPr/>
        </p:nvSpPr>
        <p:spPr>
          <a:xfrm>
            <a:off x="365760" y="1170432"/>
            <a:ext cx="54864" cy="1088136"/>
          </a:xfrm>
          <a:prstGeom prst="rect">
            <a:avLst/>
          </a:prstGeom>
          <a:solidFill>
            <a:srgbClr val="18FFFF"/>
          </a:solidFill>
          <a:ln w="12700">
            <a:solidFill>
              <a:srgbClr val="18FFFF"/>
            </a:solidFill>
            <a:prstDash val="solid"/>
          </a:ln>
        </p:spPr>
      </p:sp>
      <p:sp>
        <p:nvSpPr>
          <p:cNvPr id="7" name="Text 4"/>
          <p:cNvSpPr/>
          <p:nvPr/>
        </p:nvSpPr>
        <p:spPr>
          <a:xfrm>
            <a:off x="548640" y="1280160"/>
            <a:ext cx="8156448" cy="347472"/>
          </a:xfrm>
          <a:prstGeom prst="rect">
            <a:avLst/>
          </a:prstGeom>
          <a:noFill/>
          <a:ln/>
        </p:spPr>
        <p:txBody>
          <a:bodyPr wrap="square" lIns="0" tIns="0" rIns="0" bIns="0" rtlCol="0" anchor="ctr"/>
          <a:lstStyle/>
          <a:p>
            <a:pPr indent="0" marL="0">
              <a:buNone/>
            </a:pPr>
            <a:r>
              <a:rPr lang="en-US" sz="1800" b="1" dirty="0">
                <a:solidFill>
                  <a:srgbClr val="FFFFFF"/>
                </a:solidFill>
                <a:latin typeface="Montserrat" pitchFamily="34" charset="0"/>
                <a:ea typeface="Montserrat" pitchFamily="34" charset="-122"/>
                <a:cs typeface="Montserrat" pitchFamily="34" charset="-120"/>
              </a:rPr>
              <a:t>Fully in-client</a:t>
            </a:r>
            <a:endParaRPr lang="en-US" sz="1800" dirty="0"/>
          </a:p>
        </p:txBody>
      </p:sp>
      <p:sp>
        <p:nvSpPr>
          <p:cNvPr id="8" name="Text 5"/>
          <p:cNvSpPr/>
          <p:nvPr/>
        </p:nvSpPr>
        <p:spPr>
          <a:xfrm>
            <a:off x="548640" y="1664208"/>
            <a:ext cx="8156448" cy="484632"/>
          </a:xfrm>
          <a:prstGeom prst="rect">
            <a:avLst/>
          </a:prstGeom>
          <a:noFill/>
          <a:ln/>
        </p:spPr>
        <p:txBody>
          <a:bodyPr wrap="square" lIns="0" tIns="0" rIns="0" bIns="0" rtlCol="0" anchor="ctr"/>
          <a:lstStyle/>
          <a:p>
            <a:pPr indent="0" marL="0">
              <a:buNone/>
            </a:pPr>
            <a:r>
              <a:rPr lang="en-US" sz="1050" dirty="0">
                <a:solidFill>
                  <a:srgbClr val="E8E8F0"/>
                </a:solidFill>
                <a:latin typeface="Montserrat" pitchFamily="34" charset="0"/>
                <a:ea typeface="Montserrat" pitchFamily="34" charset="-122"/>
                <a:cs typeface="Montserrat" pitchFamily="34" charset="-120"/>
              </a:rPr>
              <a:t>Deployed inside the client environment, one isolated instance per client. The same versioned containers run on-prem or in any cloud via Compose or Helm. Air-gap capable, built on open protocols.</a:t>
            </a:r>
            <a:endParaRPr lang="en-US" sz="1050" dirty="0"/>
          </a:p>
        </p:txBody>
      </p:sp>
      <p:sp>
        <p:nvSpPr>
          <p:cNvPr id="9" name="Shape 6"/>
          <p:cNvSpPr/>
          <p:nvPr/>
        </p:nvSpPr>
        <p:spPr>
          <a:xfrm>
            <a:off x="365760" y="2809494"/>
            <a:ext cx="2041398" cy="1581912"/>
          </a:xfrm>
          <a:prstGeom prst="rect">
            <a:avLst/>
          </a:prstGeom>
          <a:solidFill>
            <a:srgbClr val="0D1554"/>
          </a:solidFill>
          <a:ln w="12700">
            <a:solidFill>
              <a:srgbClr val="0D1554"/>
            </a:solidFill>
            <a:prstDash val="solid"/>
          </a:ln>
        </p:spPr>
      </p:sp>
      <p:sp>
        <p:nvSpPr>
          <p:cNvPr id="10" name="Shape 7"/>
          <p:cNvSpPr/>
          <p:nvPr/>
        </p:nvSpPr>
        <p:spPr>
          <a:xfrm>
            <a:off x="365760" y="2809494"/>
            <a:ext cx="2041398" cy="54864"/>
          </a:xfrm>
          <a:prstGeom prst="rect">
            <a:avLst/>
          </a:prstGeom>
          <a:solidFill>
            <a:srgbClr val="18FFFF"/>
          </a:solidFill>
          <a:ln w="12700">
            <a:solidFill>
              <a:srgbClr val="18FFFF"/>
            </a:solidFill>
            <a:prstDash val="solid"/>
          </a:ln>
        </p:spPr>
      </p:sp>
      <p:sp>
        <p:nvSpPr>
          <p:cNvPr id="11" name="Text 8"/>
          <p:cNvSpPr/>
          <p:nvPr/>
        </p:nvSpPr>
        <p:spPr>
          <a:xfrm>
            <a:off x="512064" y="2974086"/>
            <a:ext cx="1748790"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Agent orchestration</a:t>
            </a:r>
            <a:endParaRPr lang="en-US" sz="1200" dirty="0"/>
          </a:p>
        </p:txBody>
      </p:sp>
      <p:sp>
        <p:nvSpPr>
          <p:cNvPr id="12" name="Text 9"/>
          <p:cNvSpPr/>
          <p:nvPr/>
        </p:nvSpPr>
        <p:spPr>
          <a:xfrm>
            <a:off x="512064" y="3486150"/>
            <a:ext cx="1748790" cy="813816"/>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OpenAI Agents SDK. A deterministic pipeline with agentic loops and a full audit trace.</a:t>
            </a:r>
            <a:endParaRPr lang="en-US" sz="950" dirty="0"/>
          </a:p>
        </p:txBody>
      </p:sp>
      <p:sp>
        <p:nvSpPr>
          <p:cNvPr id="13" name="Shape 10"/>
          <p:cNvSpPr/>
          <p:nvPr/>
        </p:nvSpPr>
        <p:spPr>
          <a:xfrm>
            <a:off x="2489454" y="2809494"/>
            <a:ext cx="2041398" cy="1581912"/>
          </a:xfrm>
          <a:prstGeom prst="rect">
            <a:avLst/>
          </a:prstGeom>
          <a:solidFill>
            <a:srgbClr val="0D1554"/>
          </a:solidFill>
          <a:ln w="12700">
            <a:solidFill>
              <a:srgbClr val="0D1554"/>
            </a:solidFill>
            <a:prstDash val="solid"/>
          </a:ln>
        </p:spPr>
      </p:sp>
      <p:sp>
        <p:nvSpPr>
          <p:cNvPr id="14" name="Shape 11"/>
          <p:cNvSpPr/>
          <p:nvPr/>
        </p:nvSpPr>
        <p:spPr>
          <a:xfrm>
            <a:off x="2489454" y="2809494"/>
            <a:ext cx="2041398" cy="54864"/>
          </a:xfrm>
          <a:prstGeom prst="rect">
            <a:avLst/>
          </a:prstGeom>
          <a:solidFill>
            <a:srgbClr val="18FFFF"/>
          </a:solidFill>
          <a:ln w="12700">
            <a:solidFill>
              <a:srgbClr val="18FFFF"/>
            </a:solidFill>
            <a:prstDash val="solid"/>
          </a:ln>
        </p:spPr>
      </p:sp>
      <p:sp>
        <p:nvSpPr>
          <p:cNvPr id="15" name="Text 12"/>
          <p:cNvSpPr/>
          <p:nvPr/>
        </p:nvSpPr>
        <p:spPr>
          <a:xfrm>
            <a:off x="2635758" y="2974086"/>
            <a:ext cx="1748790"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MCP-first integration</a:t>
            </a:r>
            <a:endParaRPr lang="en-US" sz="1200" dirty="0"/>
          </a:p>
        </p:txBody>
      </p:sp>
      <p:sp>
        <p:nvSpPr>
          <p:cNvPr id="16" name="Text 13"/>
          <p:cNvSpPr/>
          <p:nvPr/>
        </p:nvSpPr>
        <p:spPr>
          <a:xfrm>
            <a:off x="2635758" y="3486150"/>
            <a:ext cx="1748790" cy="813816"/>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Reuses the existing Splunk MCP. Each new system is a connector plus playbook, not a rewrite.</a:t>
            </a:r>
            <a:endParaRPr lang="en-US" sz="950" dirty="0"/>
          </a:p>
        </p:txBody>
      </p:sp>
      <p:sp>
        <p:nvSpPr>
          <p:cNvPr id="17" name="Shape 14"/>
          <p:cNvSpPr/>
          <p:nvPr/>
        </p:nvSpPr>
        <p:spPr>
          <a:xfrm>
            <a:off x="4613148" y="2809494"/>
            <a:ext cx="2041398" cy="1581912"/>
          </a:xfrm>
          <a:prstGeom prst="rect">
            <a:avLst/>
          </a:prstGeom>
          <a:solidFill>
            <a:srgbClr val="0D1554"/>
          </a:solidFill>
          <a:ln w="12700">
            <a:solidFill>
              <a:srgbClr val="0D1554"/>
            </a:solidFill>
            <a:prstDash val="solid"/>
          </a:ln>
        </p:spPr>
      </p:sp>
      <p:sp>
        <p:nvSpPr>
          <p:cNvPr id="18" name="Shape 15"/>
          <p:cNvSpPr/>
          <p:nvPr/>
        </p:nvSpPr>
        <p:spPr>
          <a:xfrm>
            <a:off x="4613148" y="2809494"/>
            <a:ext cx="2041398" cy="54864"/>
          </a:xfrm>
          <a:prstGeom prst="rect">
            <a:avLst/>
          </a:prstGeom>
          <a:solidFill>
            <a:srgbClr val="18FFFF"/>
          </a:solidFill>
          <a:ln w="12700">
            <a:solidFill>
              <a:srgbClr val="18FFFF"/>
            </a:solidFill>
            <a:prstDash val="solid"/>
          </a:ln>
        </p:spPr>
      </p:sp>
      <p:sp>
        <p:nvSpPr>
          <p:cNvPr id="19" name="Text 16"/>
          <p:cNvSpPr/>
          <p:nvPr/>
        </p:nvSpPr>
        <p:spPr>
          <a:xfrm>
            <a:off x="4759452" y="2974086"/>
            <a:ext cx="1748790"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Model-agnostic</a:t>
            </a:r>
            <a:endParaRPr lang="en-US" sz="1200" dirty="0"/>
          </a:p>
        </p:txBody>
      </p:sp>
      <p:sp>
        <p:nvSpPr>
          <p:cNvPr id="20" name="Text 17"/>
          <p:cNvSpPr/>
          <p:nvPr/>
        </p:nvSpPr>
        <p:spPr>
          <a:xfrm>
            <a:off x="4759452" y="3486150"/>
            <a:ext cx="1748790" cy="813816"/>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Swap between Bedrock, in-VPC or local models by configuration. No vendor lock-in.</a:t>
            </a:r>
            <a:endParaRPr lang="en-US" sz="950" dirty="0"/>
          </a:p>
        </p:txBody>
      </p:sp>
      <p:sp>
        <p:nvSpPr>
          <p:cNvPr id="21" name="Shape 18"/>
          <p:cNvSpPr/>
          <p:nvPr/>
        </p:nvSpPr>
        <p:spPr>
          <a:xfrm>
            <a:off x="6736842" y="2809494"/>
            <a:ext cx="2041398" cy="1581912"/>
          </a:xfrm>
          <a:prstGeom prst="rect">
            <a:avLst/>
          </a:prstGeom>
          <a:solidFill>
            <a:srgbClr val="0D1554"/>
          </a:solidFill>
          <a:ln w="12700">
            <a:solidFill>
              <a:srgbClr val="0D1554"/>
            </a:solidFill>
            <a:prstDash val="solid"/>
          </a:ln>
        </p:spPr>
      </p:sp>
      <p:sp>
        <p:nvSpPr>
          <p:cNvPr id="22" name="Shape 19"/>
          <p:cNvSpPr/>
          <p:nvPr/>
        </p:nvSpPr>
        <p:spPr>
          <a:xfrm>
            <a:off x="6736842" y="2809494"/>
            <a:ext cx="2041398" cy="54864"/>
          </a:xfrm>
          <a:prstGeom prst="rect">
            <a:avLst/>
          </a:prstGeom>
          <a:solidFill>
            <a:srgbClr val="18FFFF"/>
          </a:solidFill>
          <a:ln w="12700">
            <a:solidFill>
              <a:srgbClr val="18FFFF"/>
            </a:solidFill>
            <a:prstDash val="solid"/>
          </a:ln>
        </p:spPr>
      </p:sp>
      <p:sp>
        <p:nvSpPr>
          <p:cNvPr id="23" name="Text 20"/>
          <p:cNvSpPr/>
          <p:nvPr/>
        </p:nvSpPr>
        <p:spPr>
          <a:xfrm>
            <a:off x="6883146" y="2974086"/>
            <a:ext cx="1748790"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Intent Layer</a:t>
            </a:r>
            <a:endParaRPr lang="en-US" sz="1200" dirty="0"/>
          </a:p>
        </p:txBody>
      </p:sp>
      <p:sp>
        <p:nvSpPr>
          <p:cNvPr id="24" name="Text 21"/>
          <p:cNvSpPr/>
          <p:nvPr/>
        </p:nvSpPr>
        <p:spPr>
          <a:xfrm>
            <a:off x="6883146" y="3486150"/>
            <a:ext cx="1748790" cy="813816"/>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Hierarchical in-repo context, so the agent understands the architecture before reading code.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BUILT FOR THE BANK</a:t>
            </a:r>
            <a:endParaRPr lang="en-US" sz="850" dirty="0"/>
          </a:p>
        </p:txBody>
      </p:sp>
      <p:sp>
        <p:nvSpPr>
          <p:cNvPr id="4" name="Text 1"/>
          <p:cNvSpPr/>
          <p:nvPr/>
        </p:nvSpPr>
        <p:spPr>
          <a:xfrm>
            <a:off x="365760" y="512064"/>
            <a:ext cx="8412480" cy="91440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Security, compliance and governance, first-class.</a:t>
            </a:r>
            <a:endParaRPr lang="en-US" sz="2600" dirty="0"/>
          </a:p>
        </p:txBody>
      </p:sp>
      <p:sp>
        <p:nvSpPr>
          <p:cNvPr id="5" name="Text 2"/>
          <p:cNvSpPr/>
          <p:nvPr/>
        </p:nvSpPr>
        <p:spPr>
          <a:xfrm>
            <a:off x="365760" y="1627632"/>
            <a:ext cx="8412480" cy="256032"/>
          </a:xfrm>
          <a:prstGeom prst="rect">
            <a:avLst/>
          </a:prstGeom>
          <a:noFill/>
          <a:ln/>
        </p:spPr>
        <p:txBody>
          <a:bodyPr wrap="square" lIns="0" tIns="0" rIns="0" bIns="0" rtlCol="0" anchor="t"/>
          <a:lstStyle/>
          <a:p>
            <a:pPr indent="0" marL="0">
              <a:buNone/>
            </a:pPr>
            <a:r>
              <a:rPr lang="en-US" sz="950" dirty="0">
                <a:solidFill>
                  <a:srgbClr val="E8E8F0"/>
                </a:solidFill>
                <a:latin typeface="Montserrat" pitchFamily="34" charset="0"/>
                <a:ea typeface="Montserrat" pitchFamily="34" charset="-122"/>
                <a:cs typeface="Montserrat" pitchFamily="34" charset="-120"/>
              </a:rPr>
              <a:t>Read-only, in-client, and human-approved by default.</a:t>
            </a:r>
            <a:endParaRPr lang="en-US" sz="950" dirty="0"/>
          </a:p>
        </p:txBody>
      </p:sp>
      <p:sp>
        <p:nvSpPr>
          <p:cNvPr id="6" name="Shape 3"/>
          <p:cNvSpPr/>
          <p:nvPr/>
        </p:nvSpPr>
        <p:spPr>
          <a:xfrm>
            <a:off x="365760" y="1993392"/>
            <a:ext cx="4142232" cy="854964"/>
          </a:xfrm>
          <a:prstGeom prst="rect">
            <a:avLst/>
          </a:prstGeom>
          <a:solidFill>
            <a:srgbClr val="0D1554"/>
          </a:solidFill>
          <a:ln w="12700">
            <a:solidFill>
              <a:srgbClr val="0D1554"/>
            </a:solidFill>
            <a:prstDash val="solid"/>
          </a:ln>
        </p:spPr>
      </p:sp>
      <p:sp>
        <p:nvSpPr>
          <p:cNvPr id="7" name="Shape 4"/>
          <p:cNvSpPr/>
          <p:nvPr/>
        </p:nvSpPr>
        <p:spPr>
          <a:xfrm>
            <a:off x="365760" y="1993392"/>
            <a:ext cx="54864" cy="854964"/>
          </a:xfrm>
          <a:prstGeom prst="rect">
            <a:avLst/>
          </a:prstGeom>
          <a:solidFill>
            <a:srgbClr val="18FFFF"/>
          </a:solidFill>
          <a:ln w="12700">
            <a:solidFill>
              <a:srgbClr val="18FFFF"/>
            </a:solidFill>
            <a:prstDash val="solid"/>
          </a:ln>
        </p:spPr>
      </p:sp>
      <p:sp>
        <p:nvSpPr>
          <p:cNvPr id="8" name="Text 5"/>
          <p:cNvSpPr/>
          <p:nvPr/>
        </p:nvSpPr>
        <p:spPr>
          <a:xfrm>
            <a:off x="548640" y="2121408"/>
            <a:ext cx="3776472"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Read-only, least privilege</a:t>
            </a:r>
            <a:endParaRPr lang="en-US" sz="1050" dirty="0"/>
          </a:p>
        </p:txBody>
      </p:sp>
      <p:sp>
        <p:nvSpPr>
          <p:cNvPr id="9" name="Text 6"/>
          <p:cNvSpPr/>
          <p:nvPr/>
        </p:nvSpPr>
        <p:spPr>
          <a:xfrm>
            <a:off x="548640" y="2505456"/>
            <a:ext cx="3776472" cy="251460"/>
          </a:xfrm>
          <a:prstGeom prst="rect">
            <a:avLst/>
          </a:prstGeom>
          <a:noFill/>
          <a:ln/>
        </p:spPr>
        <p:txBody>
          <a:bodyPr wrap="square" lIns="0" tIns="0" rIns="0" bIns="0" rtlCol="0" anchor="t"/>
          <a:lstStyle/>
          <a:p>
            <a:pPr indent="0" marL="0">
              <a:buNone/>
            </a:pPr>
            <a:r>
              <a:rPr lang="en-US" sz="950" dirty="0">
                <a:solidFill>
                  <a:srgbClr val="E8E8F0"/>
                </a:solidFill>
                <a:latin typeface="Montserrat" pitchFamily="34" charset="0"/>
                <a:ea typeface="Montserrat" pitchFamily="34" charset="-122"/>
                <a:cs typeface="Montserrat" pitchFamily="34" charset="-120"/>
              </a:rPr>
              <a:t>No write access to production. Scoped credentials.</a:t>
            </a:r>
            <a:endParaRPr lang="en-US" sz="950" dirty="0"/>
          </a:p>
        </p:txBody>
      </p:sp>
      <p:sp>
        <p:nvSpPr>
          <p:cNvPr id="10" name="Shape 7"/>
          <p:cNvSpPr/>
          <p:nvPr/>
        </p:nvSpPr>
        <p:spPr>
          <a:xfrm>
            <a:off x="4636008" y="1993392"/>
            <a:ext cx="4142232" cy="854964"/>
          </a:xfrm>
          <a:prstGeom prst="rect">
            <a:avLst/>
          </a:prstGeom>
          <a:solidFill>
            <a:srgbClr val="0D1554"/>
          </a:solidFill>
          <a:ln w="12700">
            <a:solidFill>
              <a:srgbClr val="0D1554"/>
            </a:solidFill>
            <a:prstDash val="solid"/>
          </a:ln>
        </p:spPr>
      </p:sp>
      <p:sp>
        <p:nvSpPr>
          <p:cNvPr id="11" name="Shape 8"/>
          <p:cNvSpPr/>
          <p:nvPr/>
        </p:nvSpPr>
        <p:spPr>
          <a:xfrm>
            <a:off x="4636008" y="1993392"/>
            <a:ext cx="54864" cy="854964"/>
          </a:xfrm>
          <a:prstGeom prst="rect">
            <a:avLst/>
          </a:prstGeom>
          <a:solidFill>
            <a:srgbClr val="18FFFF"/>
          </a:solidFill>
          <a:ln w="12700">
            <a:solidFill>
              <a:srgbClr val="18FFFF"/>
            </a:solidFill>
            <a:prstDash val="solid"/>
          </a:ln>
        </p:spPr>
      </p:sp>
      <p:sp>
        <p:nvSpPr>
          <p:cNvPr id="12" name="Text 9"/>
          <p:cNvSpPr/>
          <p:nvPr/>
        </p:nvSpPr>
        <p:spPr>
          <a:xfrm>
            <a:off x="4818888" y="2121408"/>
            <a:ext cx="3776472"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Human-approved by default</a:t>
            </a:r>
            <a:endParaRPr lang="en-US" sz="1050" dirty="0"/>
          </a:p>
        </p:txBody>
      </p:sp>
      <p:sp>
        <p:nvSpPr>
          <p:cNvPr id="13" name="Text 10"/>
          <p:cNvSpPr/>
          <p:nvPr/>
        </p:nvSpPr>
        <p:spPr>
          <a:xfrm>
            <a:off x="4818888" y="2505456"/>
            <a:ext cx="3776472" cy="251460"/>
          </a:xfrm>
          <a:prstGeom prst="rect">
            <a:avLst/>
          </a:prstGeom>
          <a:noFill/>
          <a:ln/>
        </p:spPr>
        <p:txBody>
          <a:bodyPr wrap="square" lIns="0" tIns="0" rIns="0" bIns="0" rtlCol="0" anchor="t"/>
          <a:lstStyle/>
          <a:p>
            <a:pPr indent="0" marL="0">
              <a:buNone/>
            </a:pPr>
            <a:r>
              <a:rPr lang="en-US" sz="950" dirty="0">
                <a:solidFill>
                  <a:srgbClr val="E8E8F0"/>
                </a:solidFill>
                <a:latin typeface="Montserrat" pitchFamily="34" charset="0"/>
                <a:ea typeface="Montserrat" pitchFamily="34" charset="-122"/>
                <a:cs typeface="Montserrat" pitchFamily="34" charset="-120"/>
              </a:rPr>
              <a:t>Fixes are validated in a sandbox, then proposed for review.</a:t>
            </a:r>
            <a:endParaRPr lang="en-US" sz="950" dirty="0"/>
          </a:p>
        </p:txBody>
      </p:sp>
      <p:sp>
        <p:nvSpPr>
          <p:cNvPr id="14" name="Shape 11"/>
          <p:cNvSpPr/>
          <p:nvPr/>
        </p:nvSpPr>
        <p:spPr>
          <a:xfrm>
            <a:off x="365760" y="2958084"/>
            <a:ext cx="4142232" cy="854964"/>
          </a:xfrm>
          <a:prstGeom prst="rect">
            <a:avLst/>
          </a:prstGeom>
          <a:solidFill>
            <a:srgbClr val="0D1554"/>
          </a:solidFill>
          <a:ln w="12700">
            <a:solidFill>
              <a:srgbClr val="0D1554"/>
            </a:solidFill>
            <a:prstDash val="solid"/>
          </a:ln>
        </p:spPr>
      </p:sp>
      <p:sp>
        <p:nvSpPr>
          <p:cNvPr id="15" name="Shape 12"/>
          <p:cNvSpPr/>
          <p:nvPr/>
        </p:nvSpPr>
        <p:spPr>
          <a:xfrm>
            <a:off x="365760" y="2958084"/>
            <a:ext cx="54864" cy="854964"/>
          </a:xfrm>
          <a:prstGeom prst="rect">
            <a:avLst/>
          </a:prstGeom>
          <a:solidFill>
            <a:srgbClr val="18FFFF"/>
          </a:solidFill>
          <a:ln w="12700">
            <a:solidFill>
              <a:srgbClr val="18FFFF"/>
            </a:solidFill>
            <a:prstDash val="solid"/>
          </a:ln>
        </p:spPr>
      </p:sp>
      <p:sp>
        <p:nvSpPr>
          <p:cNvPr id="16" name="Text 13"/>
          <p:cNvSpPr/>
          <p:nvPr/>
        </p:nvSpPr>
        <p:spPr>
          <a:xfrm>
            <a:off x="548640" y="3086100"/>
            <a:ext cx="3776472"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Fully in-client</a:t>
            </a:r>
            <a:endParaRPr lang="en-US" sz="1050" dirty="0"/>
          </a:p>
        </p:txBody>
      </p:sp>
      <p:sp>
        <p:nvSpPr>
          <p:cNvPr id="17" name="Text 14"/>
          <p:cNvSpPr/>
          <p:nvPr/>
        </p:nvSpPr>
        <p:spPr>
          <a:xfrm>
            <a:off x="548640" y="3470148"/>
            <a:ext cx="3776472" cy="251460"/>
          </a:xfrm>
          <a:prstGeom prst="rect">
            <a:avLst/>
          </a:prstGeom>
          <a:noFill/>
          <a:ln/>
        </p:spPr>
        <p:txBody>
          <a:bodyPr wrap="square" lIns="0" tIns="0" rIns="0" bIns="0" rtlCol="0" anchor="t"/>
          <a:lstStyle/>
          <a:p>
            <a:pPr indent="0" marL="0">
              <a:buNone/>
            </a:pPr>
            <a:r>
              <a:rPr lang="en-US" sz="950" dirty="0">
                <a:solidFill>
                  <a:srgbClr val="E8E8F0"/>
                </a:solidFill>
                <a:latin typeface="Montserrat" pitchFamily="34" charset="0"/>
                <a:ea typeface="Montserrat" pitchFamily="34" charset="-122"/>
                <a:cs typeface="Montserrat" pitchFamily="34" charset="-120"/>
              </a:rPr>
              <a:t>All logs, code, data and inference stay inside your boundary.</a:t>
            </a:r>
            <a:endParaRPr lang="en-US" sz="950" dirty="0"/>
          </a:p>
        </p:txBody>
      </p:sp>
      <p:sp>
        <p:nvSpPr>
          <p:cNvPr id="18" name="Shape 15"/>
          <p:cNvSpPr/>
          <p:nvPr/>
        </p:nvSpPr>
        <p:spPr>
          <a:xfrm>
            <a:off x="4636008" y="2958084"/>
            <a:ext cx="4142232" cy="854964"/>
          </a:xfrm>
          <a:prstGeom prst="rect">
            <a:avLst/>
          </a:prstGeom>
          <a:solidFill>
            <a:srgbClr val="0D1554"/>
          </a:solidFill>
          <a:ln w="12700">
            <a:solidFill>
              <a:srgbClr val="0D1554"/>
            </a:solidFill>
            <a:prstDash val="solid"/>
          </a:ln>
        </p:spPr>
      </p:sp>
      <p:sp>
        <p:nvSpPr>
          <p:cNvPr id="19" name="Shape 16"/>
          <p:cNvSpPr/>
          <p:nvPr/>
        </p:nvSpPr>
        <p:spPr>
          <a:xfrm>
            <a:off x="4636008" y="2958084"/>
            <a:ext cx="54864" cy="854964"/>
          </a:xfrm>
          <a:prstGeom prst="rect">
            <a:avLst/>
          </a:prstGeom>
          <a:solidFill>
            <a:srgbClr val="18FFFF"/>
          </a:solidFill>
          <a:ln w="12700">
            <a:solidFill>
              <a:srgbClr val="18FFFF"/>
            </a:solidFill>
            <a:prstDash val="solid"/>
          </a:ln>
        </p:spPr>
      </p:sp>
      <p:sp>
        <p:nvSpPr>
          <p:cNvPr id="20" name="Text 17"/>
          <p:cNvSpPr/>
          <p:nvPr/>
        </p:nvSpPr>
        <p:spPr>
          <a:xfrm>
            <a:off x="4818888" y="3086100"/>
            <a:ext cx="3776472"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Complete audit trail</a:t>
            </a:r>
            <a:endParaRPr lang="en-US" sz="1050" dirty="0"/>
          </a:p>
        </p:txBody>
      </p:sp>
      <p:sp>
        <p:nvSpPr>
          <p:cNvPr id="21" name="Text 18"/>
          <p:cNvSpPr/>
          <p:nvPr/>
        </p:nvSpPr>
        <p:spPr>
          <a:xfrm>
            <a:off x="4818888" y="3470148"/>
            <a:ext cx="3776472" cy="251460"/>
          </a:xfrm>
          <a:prstGeom prst="rect">
            <a:avLst/>
          </a:prstGeom>
          <a:noFill/>
          <a:ln/>
        </p:spPr>
        <p:txBody>
          <a:bodyPr wrap="square" lIns="0" tIns="0" rIns="0" bIns="0" rtlCol="0" anchor="t"/>
          <a:lstStyle/>
          <a:p>
            <a:pPr indent="0" marL="0">
              <a:buNone/>
            </a:pPr>
            <a:r>
              <a:rPr lang="en-US" sz="950" dirty="0">
                <a:solidFill>
                  <a:srgbClr val="E8E8F0"/>
                </a:solidFill>
                <a:latin typeface="Montserrat" pitchFamily="34" charset="0"/>
                <a:ea typeface="Montserrat" pitchFamily="34" charset="-122"/>
                <a:cs typeface="Montserrat" pitchFamily="34" charset="-120"/>
              </a:rPr>
              <a:t>Every tool call and decision is logged and attributable.</a:t>
            </a:r>
            <a:endParaRPr lang="en-US" sz="950" dirty="0"/>
          </a:p>
        </p:txBody>
      </p:sp>
      <p:sp>
        <p:nvSpPr>
          <p:cNvPr id="22" name="Shape 19"/>
          <p:cNvSpPr/>
          <p:nvPr/>
        </p:nvSpPr>
        <p:spPr>
          <a:xfrm>
            <a:off x="365760" y="3922776"/>
            <a:ext cx="4142232" cy="854964"/>
          </a:xfrm>
          <a:prstGeom prst="rect">
            <a:avLst/>
          </a:prstGeom>
          <a:solidFill>
            <a:srgbClr val="0D1554"/>
          </a:solidFill>
          <a:ln w="12700">
            <a:solidFill>
              <a:srgbClr val="0D1554"/>
            </a:solidFill>
            <a:prstDash val="solid"/>
          </a:ln>
        </p:spPr>
      </p:sp>
      <p:sp>
        <p:nvSpPr>
          <p:cNvPr id="23" name="Shape 20"/>
          <p:cNvSpPr/>
          <p:nvPr/>
        </p:nvSpPr>
        <p:spPr>
          <a:xfrm>
            <a:off x="365760" y="3922776"/>
            <a:ext cx="54864" cy="854964"/>
          </a:xfrm>
          <a:prstGeom prst="rect">
            <a:avLst/>
          </a:prstGeom>
          <a:solidFill>
            <a:srgbClr val="18FFFF"/>
          </a:solidFill>
          <a:ln w="12700">
            <a:solidFill>
              <a:srgbClr val="18FFFF"/>
            </a:solidFill>
            <a:prstDash val="solid"/>
          </a:ln>
        </p:spPr>
      </p:sp>
      <p:sp>
        <p:nvSpPr>
          <p:cNvPr id="24" name="Text 21"/>
          <p:cNvSpPr/>
          <p:nvPr/>
        </p:nvSpPr>
        <p:spPr>
          <a:xfrm>
            <a:off x="548640" y="4050792"/>
            <a:ext cx="3776472"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Model choice you approve</a:t>
            </a:r>
            <a:endParaRPr lang="en-US" sz="1050" dirty="0"/>
          </a:p>
        </p:txBody>
      </p:sp>
      <p:sp>
        <p:nvSpPr>
          <p:cNvPr id="25" name="Text 22"/>
          <p:cNvSpPr/>
          <p:nvPr/>
        </p:nvSpPr>
        <p:spPr>
          <a:xfrm>
            <a:off x="548640" y="4434840"/>
            <a:ext cx="3776472" cy="251460"/>
          </a:xfrm>
          <a:prstGeom prst="rect">
            <a:avLst/>
          </a:prstGeom>
          <a:noFill/>
          <a:ln/>
        </p:spPr>
        <p:txBody>
          <a:bodyPr wrap="square" lIns="0" tIns="0" rIns="0" bIns="0" rtlCol="0" anchor="t"/>
          <a:lstStyle/>
          <a:p>
            <a:pPr indent="0" marL="0">
              <a:buNone/>
            </a:pPr>
            <a:r>
              <a:rPr lang="en-US" sz="950" dirty="0">
                <a:solidFill>
                  <a:srgbClr val="E8E8F0"/>
                </a:solidFill>
                <a:latin typeface="Montserrat" pitchFamily="34" charset="0"/>
                <a:ea typeface="Montserrat" pitchFamily="34" charset="-122"/>
                <a:cs typeface="Montserrat" pitchFamily="34" charset="-120"/>
              </a:rPr>
              <a:t>Run only models your security teams have signed off.</a:t>
            </a:r>
            <a:endParaRPr lang="en-US" sz="950" dirty="0"/>
          </a:p>
        </p:txBody>
      </p:sp>
      <p:sp>
        <p:nvSpPr>
          <p:cNvPr id="26" name="Shape 23"/>
          <p:cNvSpPr/>
          <p:nvPr/>
        </p:nvSpPr>
        <p:spPr>
          <a:xfrm>
            <a:off x="4636008" y="3922776"/>
            <a:ext cx="4142232" cy="854964"/>
          </a:xfrm>
          <a:prstGeom prst="rect">
            <a:avLst/>
          </a:prstGeom>
          <a:solidFill>
            <a:srgbClr val="0D1554"/>
          </a:solidFill>
          <a:ln w="12700">
            <a:solidFill>
              <a:srgbClr val="0D1554"/>
            </a:solidFill>
            <a:prstDash val="solid"/>
          </a:ln>
        </p:spPr>
      </p:sp>
      <p:sp>
        <p:nvSpPr>
          <p:cNvPr id="27" name="Shape 24"/>
          <p:cNvSpPr/>
          <p:nvPr/>
        </p:nvSpPr>
        <p:spPr>
          <a:xfrm>
            <a:off x="4636008" y="3922776"/>
            <a:ext cx="54864" cy="854964"/>
          </a:xfrm>
          <a:prstGeom prst="rect">
            <a:avLst/>
          </a:prstGeom>
          <a:solidFill>
            <a:srgbClr val="18FFFF"/>
          </a:solidFill>
          <a:ln w="12700">
            <a:solidFill>
              <a:srgbClr val="18FFFF"/>
            </a:solidFill>
            <a:prstDash val="solid"/>
          </a:ln>
        </p:spPr>
      </p:sp>
      <p:sp>
        <p:nvSpPr>
          <p:cNvPr id="28" name="Text 25"/>
          <p:cNvSpPr/>
          <p:nvPr/>
        </p:nvSpPr>
        <p:spPr>
          <a:xfrm>
            <a:off x="4818888" y="4050792"/>
            <a:ext cx="3776472" cy="365760"/>
          </a:xfrm>
          <a:prstGeom prst="rect">
            <a:avLst/>
          </a:prstGeom>
          <a:noFill/>
          <a:ln/>
        </p:spPr>
        <p:txBody>
          <a:bodyPr wrap="square" lIns="0" tIns="0" rIns="0" bIns="0" rtlCol="0" anchor="ctr"/>
          <a:lstStyle/>
          <a:p>
            <a:pPr indent="0" marL="0">
              <a:buNone/>
            </a:pPr>
            <a:r>
              <a:rPr lang="en-US" sz="1050" b="1" dirty="0">
                <a:solidFill>
                  <a:srgbClr val="FFFFFF"/>
                </a:solidFill>
                <a:latin typeface="Montserrat" pitchFamily="34" charset="0"/>
                <a:ea typeface="Montserrat" pitchFamily="34" charset="-122"/>
                <a:cs typeface="Montserrat" pitchFamily="34" charset="-120"/>
              </a:rPr>
              <a:t>Sensitive-data handling</a:t>
            </a:r>
            <a:endParaRPr lang="en-US" sz="1050" dirty="0"/>
          </a:p>
        </p:txBody>
      </p:sp>
      <p:sp>
        <p:nvSpPr>
          <p:cNvPr id="29" name="Text 26"/>
          <p:cNvSpPr/>
          <p:nvPr/>
        </p:nvSpPr>
        <p:spPr>
          <a:xfrm>
            <a:off x="4818888" y="4434840"/>
            <a:ext cx="3776472" cy="251460"/>
          </a:xfrm>
          <a:prstGeom prst="rect">
            <a:avLst/>
          </a:prstGeom>
          <a:noFill/>
          <a:ln/>
        </p:spPr>
        <p:txBody>
          <a:bodyPr wrap="square" lIns="0" tIns="0" rIns="0" bIns="0" rtlCol="0" anchor="t"/>
          <a:lstStyle/>
          <a:p>
            <a:pPr indent="0" marL="0">
              <a:buNone/>
            </a:pPr>
            <a:r>
              <a:rPr lang="en-US" sz="950" dirty="0">
                <a:solidFill>
                  <a:srgbClr val="E8E8F0"/>
                </a:solidFill>
                <a:latin typeface="Montserrat" pitchFamily="34" charset="0"/>
                <a:ea typeface="Montserrat" pitchFamily="34" charset="-122"/>
                <a:cs typeface="Montserrat" pitchFamily="34" charset="-120"/>
              </a:rPr>
              <a:t>Screening and redaction before anything reaches the model.</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DEPLOYMENT &amp; ONBOARDING</a:t>
            </a:r>
            <a:endParaRPr lang="en-US" sz="850" dirty="0"/>
          </a:p>
        </p:txBody>
      </p:sp>
      <p:sp>
        <p:nvSpPr>
          <p:cNvPr id="4" name="Text 1"/>
          <p:cNvSpPr/>
          <p:nvPr/>
        </p:nvSpPr>
        <p:spPr>
          <a:xfrm>
            <a:off x="365760" y="5120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Runs anywhere, without client-specific forks.</a:t>
            </a:r>
            <a:endParaRPr lang="en-US" sz="2200" dirty="0"/>
          </a:p>
        </p:txBody>
      </p:sp>
      <p:sp>
        <p:nvSpPr>
          <p:cNvPr id="5" name="Shape 2"/>
          <p:cNvSpPr/>
          <p:nvPr/>
        </p:nvSpPr>
        <p:spPr>
          <a:xfrm>
            <a:off x="365760" y="1170432"/>
            <a:ext cx="8412480" cy="1088136"/>
          </a:xfrm>
          <a:prstGeom prst="rect">
            <a:avLst/>
          </a:prstGeom>
          <a:solidFill>
            <a:srgbClr val="0D1554"/>
          </a:solidFill>
          <a:ln w="12700">
            <a:solidFill>
              <a:srgbClr val="0D1554"/>
            </a:solidFill>
            <a:prstDash val="solid"/>
          </a:ln>
        </p:spPr>
      </p:sp>
      <p:sp>
        <p:nvSpPr>
          <p:cNvPr id="6" name="Shape 3"/>
          <p:cNvSpPr/>
          <p:nvPr/>
        </p:nvSpPr>
        <p:spPr>
          <a:xfrm>
            <a:off x="365760" y="1170432"/>
            <a:ext cx="54864" cy="1088136"/>
          </a:xfrm>
          <a:prstGeom prst="rect">
            <a:avLst/>
          </a:prstGeom>
          <a:solidFill>
            <a:srgbClr val="18FFFF"/>
          </a:solidFill>
          <a:ln w="12700">
            <a:solidFill>
              <a:srgbClr val="18FFFF"/>
            </a:solidFill>
            <a:prstDash val="solid"/>
          </a:ln>
        </p:spPr>
      </p:sp>
      <p:sp>
        <p:nvSpPr>
          <p:cNvPr id="7" name="Text 4"/>
          <p:cNvSpPr/>
          <p:nvPr/>
        </p:nvSpPr>
        <p:spPr>
          <a:xfrm>
            <a:off x="548640" y="1280160"/>
            <a:ext cx="8156448" cy="347472"/>
          </a:xfrm>
          <a:prstGeom prst="rect">
            <a:avLst/>
          </a:prstGeom>
          <a:noFill/>
          <a:ln/>
        </p:spPr>
        <p:txBody>
          <a:bodyPr wrap="square" lIns="0" tIns="0" rIns="0" bIns="0" rtlCol="0" anchor="ctr"/>
          <a:lstStyle/>
          <a:p>
            <a:pPr indent="0" marL="0">
              <a:buNone/>
            </a:pPr>
            <a:r>
              <a:rPr lang="en-US" sz="1800" b="1" dirty="0">
                <a:solidFill>
                  <a:srgbClr val="FFFFFF"/>
                </a:solidFill>
                <a:latin typeface="Montserrat" pitchFamily="34" charset="0"/>
                <a:ea typeface="Montserrat" pitchFamily="34" charset="-122"/>
                <a:cs typeface="Montserrat" pitchFamily="34" charset="-120"/>
              </a:rPr>
              <a:t>One product, configured per client</a:t>
            </a:r>
            <a:endParaRPr lang="en-US" sz="1800" dirty="0"/>
          </a:p>
        </p:txBody>
      </p:sp>
      <p:sp>
        <p:nvSpPr>
          <p:cNvPr id="8" name="Text 5"/>
          <p:cNvSpPr/>
          <p:nvPr/>
        </p:nvSpPr>
        <p:spPr>
          <a:xfrm>
            <a:off x="548640" y="1664208"/>
            <a:ext cx="8156448" cy="484632"/>
          </a:xfrm>
          <a:prstGeom prst="rect">
            <a:avLst/>
          </a:prstGeom>
          <a:noFill/>
          <a:ln/>
        </p:spPr>
        <p:txBody>
          <a:bodyPr wrap="square" lIns="0" tIns="0" rIns="0" bIns="0" rtlCol="0" anchor="ctr"/>
          <a:lstStyle/>
          <a:p>
            <a:pPr indent="0" marL="0">
              <a:buNone/>
            </a:pPr>
            <a:r>
              <a:rPr lang="en-US" sz="1050" dirty="0">
                <a:solidFill>
                  <a:srgbClr val="E8E8F0"/>
                </a:solidFill>
                <a:latin typeface="Montserrat" pitchFamily="34" charset="0"/>
                <a:ea typeface="Montserrat" pitchFamily="34" charset="-122"/>
                <a:cs typeface="Montserrat" pitchFamily="34" charset="-120"/>
              </a:rPr>
              <a:t>A deployment is a reviewed config bundle, secret references and MCP or content-source endpoints. Open protocols avoid cloud lock-in and per-client forks.</a:t>
            </a:r>
            <a:endParaRPr lang="en-US" sz="1050" dirty="0"/>
          </a:p>
        </p:txBody>
      </p:sp>
      <p:sp>
        <p:nvSpPr>
          <p:cNvPr id="9" name="Shape 6"/>
          <p:cNvSpPr/>
          <p:nvPr/>
        </p:nvSpPr>
        <p:spPr>
          <a:xfrm>
            <a:off x="365760" y="2850642"/>
            <a:ext cx="2749296" cy="1426464"/>
          </a:xfrm>
          <a:prstGeom prst="rect">
            <a:avLst/>
          </a:prstGeom>
          <a:solidFill>
            <a:srgbClr val="0D1554"/>
          </a:solidFill>
          <a:ln w="12700">
            <a:solidFill>
              <a:srgbClr val="0D1554"/>
            </a:solidFill>
            <a:prstDash val="solid"/>
          </a:ln>
        </p:spPr>
      </p:sp>
      <p:sp>
        <p:nvSpPr>
          <p:cNvPr id="10" name="Shape 7"/>
          <p:cNvSpPr/>
          <p:nvPr/>
        </p:nvSpPr>
        <p:spPr>
          <a:xfrm>
            <a:off x="365760" y="2850642"/>
            <a:ext cx="2749296" cy="54864"/>
          </a:xfrm>
          <a:prstGeom prst="rect">
            <a:avLst/>
          </a:prstGeom>
          <a:solidFill>
            <a:srgbClr val="18FFFF"/>
          </a:solidFill>
          <a:ln w="12700">
            <a:solidFill>
              <a:srgbClr val="18FFFF"/>
            </a:solidFill>
            <a:prstDash val="solid"/>
          </a:ln>
        </p:spPr>
      </p:sp>
      <p:sp>
        <p:nvSpPr>
          <p:cNvPr id="11" name="Text 8"/>
          <p:cNvSpPr/>
          <p:nvPr/>
        </p:nvSpPr>
        <p:spPr>
          <a:xfrm>
            <a:off x="512064" y="3015234"/>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Portable by default</a:t>
            </a:r>
            <a:endParaRPr lang="en-US" sz="1200" dirty="0"/>
          </a:p>
        </p:txBody>
      </p:sp>
      <p:sp>
        <p:nvSpPr>
          <p:cNvPr id="12" name="Text 9"/>
          <p:cNvSpPr/>
          <p:nvPr/>
        </p:nvSpPr>
        <p:spPr>
          <a:xfrm>
            <a:off x="512064" y="3527298"/>
            <a:ext cx="2456688" cy="65836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E8E8F0"/>
                </a:solidFill>
                <a:latin typeface="Montserrat" pitchFamily="34" charset="0"/>
                <a:ea typeface="Montserrat" pitchFamily="34" charset="-122"/>
                <a:cs typeface="Montserrat" pitchFamily="34" charset="-120"/>
              </a:rPr>
              <a:t>The same versioned images run on-prem or in AWS, Azure or GCP, with an offline bundle for air-gapped sites.</a:t>
            </a:r>
            <a:endParaRPr lang="en-US" sz="1000" dirty="0"/>
          </a:p>
        </p:txBody>
      </p:sp>
      <p:sp>
        <p:nvSpPr>
          <p:cNvPr id="13" name="Shape 10"/>
          <p:cNvSpPr/>
          <p:nvPr/>
        </p:nvSpPr>
        <p:spPr>
          <a:xfrm>
            <a:off x="3197352" y="2850642"/>
            <a:ext cx="2749296" cy="1426464"/>
          </a:xfrm>
          <a:prstGeom prst="rect">
            <a:avLst/>
          </a:prstGeom>
          <a:solidFill>
            <a:srgbClr val="0D1554"/>
          </a:solidFill>
          <a:ln w="12700">
            <a:solidFill>
              <a:srgbClr val="0D1554"/>
            </a:solidFill>
            <a:prstDash val="solid"/>
          </a:ln>
        </p:spPr>
      </p:sp>
      <p:sp>
        <p:nvSpPr>
          <p:cNvPr id="14" name="Shape 11"/>
          <p:cNvSpPr/>
          <p:nvPr/>
        </p:nvSpPr>
        <p:spPr>
          <a:xfrm>
            <a:off x="3197352" y="2850642"/>
            <a:ext cx="2749296" cy="54864"/>
          </a:xfrm>
          <a:prstGeom prst="rect">
            <a:avLst/>
          </a:prstGeom>
          <a:solidFill>
            <a:srgbClr val="18FFFF"/>
          </a:solidFill>
          <a:ln w="12700">
            <a:solidFill>
              <a:srgbClr val="18FFFF"/>
            </a:solidFill>
            <a:prstDash val="solid"/>
          </a:ln>
        </p:spPr>
      </p:sp>
      <p:sp>
        <p:nvSpPr>
          <p:cNvPr id="15" name="Text 12"/>
          <p:cNvSpPr/>
          <p:nvPr/>
        </p:nvSpPr>
        <p:spPr>
          <a:xfrm>
            <a:off x="3343656" y="3015234"/>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Configuration, not custom code</a:t>
            </a:r>
            <a:endParaRPr lang="en-US" sz="1200" dirty="0"/>
          </a:p>
        </p:txBody>
      </p:sp>
      <p:sp>
        <p:nvSpPr>
          <p:cNvPr id="16" name="Text 13"/>
          <p:cNvSpPr/>
          <p:nvPr/>
        </p:nvSpPr>
        <p:spPr>
          <a:xfrm>
            <a:off x="3343656" y="3527298"/>
            <a:ext cx="2456688" cy="65836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E8E8F0"/>
                </a:solidFill>
                <a:latin typeface="Montserrat" pitchFamily="34" charset="0"/>
                <a:ea typeface="Montserrat" pitchFamily="34" charset="-122"/>
                <a:cs typeface="Montserrat" pitchFamily="34" charset="-120"/>
              </a:rPr>
              <a:t>Each rollout adds config and endpoints, not a fork.</a:t>
            </a:r>
            <a:endParaRPr lang="en-US" sz="1000" dirty="0"/>
          </a:p>
        </p:txBody>
      </p:sp>
      <p:sp>
        <p:nvSpPr>
          <p:cNvPr id="17" name="Shape 14"/>
          <p:cNvSpPr/>
          <p:nvPr/>
        </p:nvSpPr>
        <p:spPr>
          <a:xfrm>
            <a:off x="6028944" y="2850642"/>
            <a:ext cx="2749296" cy="1426464"/>
          </a:xfrm>
          <a:prstGeom prst="rect">
            <a:avLst/>
          </a:prstGeom>
          <a:solidFill>
            <a:srgbClr val="0D1554"/>
          </a:solidFill>
          <a:ln w="12700">
            <a:solidFill>
              <a:srgbClr val="0D1554"/>
            </a:solidFill>
            <a:prstDash val="solid"/>
          </a:ln>
        </p:spPr>
      </p:sp>
      <p:sp>
        <p:nvSpPr>
          <p:cNvPr id="18" name="Shape 15"/>
          <p:cNvSpPr/>
          <p:nvPr/>
        </p:nvSpPr>
        <p:spPr>
          <a:xfrm>
            <a:off x="6028944" y="2850642"/>
            <a:ext cx="2749296" cy="54864"/>
          </a:xfrm>
          <a:prstGeom prst="rect">
            <a:avLst/>
          </a:prstGeom>
          <a:solidFill>
            <a:srgbClr val="18FFFF"/>
          </a:solidFill>
          <a:ln w="12700">
            <a:solidFill>
              <a:srgbClr val="18FFFF"/>
            </a:solidFill>
            <a:prstDash val="solid"/>
          </a:ln>
        </p:spPr>
      </p:sp>
      <p:sp>
        <p:nvSpPr>
          <p:cNvPr id="19" name="Text 16"/>
          <p:cNvSpPr/>
          <p:nvPr/>
        </p:nvSpPr>
        <p:spPr>
          <a:xfrm>
            <a:off x="6175248" y="3015234"/>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Preflight before go-live</a:t>
            </a:r>
            <a:endParaRPr lang="en-US" sz="1200" dirty="0"/>
          </a:p>
        </p:txBody>
      </p:sp>
      <p:sp>
        <p:nvSpPr>
          <p:cNvPr id="20" name="Text 17"/>
          <p:cNvSpPr/>
          <p:nvPr/>
        </p:nvSpPr>
        <p:spPr>
          <a:xfrm>
            <a:off x="6175248" y="3527298"/>
            <a:ext cx="2456688" cy="65836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E8E8F0"/>
                </a:solidFill>
                <a:latin typeface="Montserrat" pitchFamily="34" charset="0"/>
                <a:ea typeface="Montserrat" pitchFamily="34" charset="-122"/>
                <a:cs typeface="Montserrat" pitchFamily="34" charset="-120"/>
              </a:rPr>
              <a:t>The onboarding CLI validates config, connectivity and index freshness, then smoke-tests an investigation.</a:t>
            </a:r>
            <a:endParaRPr lang="en-US" sz="1000" dirty="0"/>
          </a:p>
        </p:txBody>
      </p:sp>
      <p:sp>
        <p:nvSpPr>
          <p:cNvPr id="21" name="Text 18"/>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One isolated instance per client. No phone-home. All code, evidence and inference stay inside the approved boundary.</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WHERE WE START</a:t>
            </a:r>
            <a:endParaRPr lang="en-US" sz="850" dirty="0"/>
          </a:p>
        </p:txBody>
      </p:sp>
      <p:sp>
        <p:nvSpPr>
          <p:cNvPr id="4" name="Text 1"/>
          <p:cNvSpPr/>
          <p:nvPr/>
        </p:nvSpPr>
        <p:spPr>
          <a:xfrm>
            <a:off x="365760" y="457200"/>
            <a:ext cx="8412480" cy="457200"/>
          </a:xfrm>
          <a:prstGeom prst="rect">
            <a:avLst/>
          </a:prstGeom>
          <a:noFill/>
          <a:ln/>
        </p:spPr>
        <p:txBody>
          <a:bodyPr wrap="square" lIns="0" tIns="0" rIns="0" bIns="0" rtlCol="0" anchor="ctr"/>
          <a:lstStyle/>
          <a:p>
            <a:pPr indent="0" marL="0">
              <a:buNone/>
            </a:pPr>
            <a:r>
              <a:rPr lang="en-US" sz="2000" b="1" dirty="0">
                <a:solidFill>
                  <a:srgbClr val="FFFFFF"/>
                </a:solidFill>
                <a:latin typeface="Montserrat" pitchFamily="34" charset="0"/>
                <a:ea typeface="Montserrat" pitchFamily="34" charset="-122"/>
                <a:cs typeface="Montserrat" pitchFamily="34" charset="-120"/>
              </a:rPr>
              <a:t>Prove it on lower-tier systems first.</a:t>
            </a:r>
            <a:endParaRPr lang="en-US" sz="2000" dirty="0"/>
          </a:p>
        </p:txBody>
      </p:sp>
      <p:sp>
        <p:nvSpPr>
          <p:cNvPr id="5" name="Text 2"/>
          <p:cNvSpPr/>
          <p:nvPr/>
        </p:nvSpPr>
        <p:spPr>
          <a:xfrm>
            <a:off x="365760" y="1024128"/>
            <a:ext cx="8412480" cy="365760"/>
          </a:xfrm>
          <a:prstGeom prst="rect">
            <a:avLst/>
          </a:prstGeom>
          <a:noFill/>
          <a:ln/>
        </p:spPr>
        <p:txBody>
          <a:bodyPr wrap="square" lIns="0" tIns="0" rIns="0" bIns="0" rtlCol="0" anchor="t"/>
          <a:lstStyle/>
          <a:p>
            <a:pPr indent="0" marL="0">
              <a:buNone/>
            </a:pPr>
            <a:r>
              <a:rPr lang="en-US" sz="1050" dirty="0">
                <a:solidFill>
                  <a:srgbClr val="E8E8F0"/>
                </a:solidFill>
                <a:latin typeface="Montserrat" pitchFamily="34" charset="0"/>
                <a:ea typeface="Montserrat" pitchFamily="34" charset="-122"/>
                <a:cs typeface="Montserrat" pitchFamily="34" charset="-120"/>
              </a:rPr>
              <a:t>Begin on Tier 3 platforms: low criticality, with a roughly three-day resolution turnaround.</a:t>
            </a:r>
            <a:endParaRPr lang="en-US" sz="1050" dirty="0"/>
          </a:p>
        </p:txBody>
      </p:sp>
      <p:sp>
        <p:nvSpPr>
          <p:cNvPr id="6" name="Shape 3"/>
          <p:cNvSpPr/>
          <p:nvPr/>
        </p:nvSpPr>
        <p:spPr>
          <a:xfrm>
            <a:off x="365760" y="1463040"/>
            <a:ext cx="8412480" cy="1988820"/>
          </a:xfrm>
          <a:prstGeom prst="rect">
            <a:avLst/>
          </a:prstGeom>
          <a:solidFill>
            <a:srgbClr val="0D1554"/>
          </a:solidFill>
          <a:ln w="12700">
            <a:solidFill>
              <a:srgbClr val="0D1554"/>
            </a:solidFill>
            <a:prstDash val="solid"/>
          </a:ln>
        </p:spPr>
      </p:sp>
      <p:sp>
        <p:nvSpPr>
          <p:cNvPr id="7" name="Shape 4"/>
          <p:cNvSpPr/>
          <p:nvPr/>
        </p:nvSpPr>
        <p:spPr>
          <a:xfrm>
            <a:off x="365760" y="1463040"/>
            <a:ext cx="54864" cy="1988820"/>
          </a:xfrm>
          <a:prstGeom prst="rect">
            <a:avLst/>
          </a:prstGeom>
          <a:solidFill>
            <a:srgbClr val="18FFFF"/>
          </a:solidFill>
          <a:ln w="12700">
            <a:solidFill>
              <a:srgbClr val="18FFFF"/>
            </a:solidFill>
            <a:prstDash val="solid"/>
          </a:ln>
        </p:spPr>
      </p:sp>
      <p:sp>
        <p:nvSpPr>
          <p:cNvPr id="8" name="Text 5"/>
          <p:cNvSpPr/>
          <p:nvPr/>
        </p:nvSpPr>
        <p:spPr>
          <a:xfrm>
            <a:off x="548640" y="1572768"/>
            <a:ext cx="8083296" cy="1769364"/>
          </a:xfrm>
          <a:prstGeom prst="rect">
            <a:avLst/>
          </a:prstGeom>
          <a:noFill/>
          <a:ln/>
        </p:spPr>
        <p:txBody>
          <a:bodyPr wrap="square" lIns="0" tIns="0" rIns="0" bIns="0" rtlCol="0" anchor="t"/>
          <a:lstStyle/>
          <a:p>
            <a:pPr indent="0" marL="0">
              <a:spcAft>
                <a:spcPts val="600"/>
              </a:spcAft>
              <a:buNone/>
            </a:pPr>
            <a:r>
              <a:rPr lang="en-US" sz="1250" dirty="0">
                <a:solidFill>
                  <a:srgbClr val="E8E8F0"/>
                </a:solidFill>
                <a:latin typeface="Montserrat" pitchFamily="34" charset="0"/>
                <a:ea typeface="Montserrat" pitchFamily="34" charset="-122"/>
                <a:cs typeface="Montserrat" pitchFamily="34" charset="-120"/>
              </a:rPr>
              <a:t>An instant automated investigation there turbocharges the monitoring teams' resolution-time KPIs and dashboards.</a:t>
            </a:r>
            <a:endParaRPr lang="en-US" sz="1250" dirty="0"/>
          </a:p>
          <a:p>
            <a:pPr indent="0" marL="0">
              <a:spcAft>
                <a:spcPts val="600"/>
              </a:spcAft>
              <a:buNone/>
            </a:pPr>
            <a:r>
              <a:rPr lang="en-US" sz="1250" dirty="0">
                <a:solidFill>
                  <a:srgbClr val="E8E8F0"/>
                </a:solidFill>
                <a:latin typeface="Montserrat" pitchFamily="34" charset="0"/>
                <a:ea typeface="Montserrat" pitchFamily="34" charset="-122"/>
                <a:cs typeface="Montserrat" pitchFamily="34" charset="-120"/>
              </a:rPr>
              <a:t>Demonstrate value and build trust with zero risk to business-critical systems, then scale up the tiers as confidence grows.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HOW IT SCALES</a:t>
            </a:r>
            <a:endParaRPr lang="en-US" sz="850" dirty="0"/>
          </a:p>
        </p:txBody>
      </p:sp>
      <p:sp>
        <p:nvSpPr>
          <p:cNvPr id="4" name="Text 1"/>
          <p:cNvSpPr/>
          <p:nvPr/>
        </p:nvSpPr>
        <p:spPr>
          <a:xfrm>
            <a:off x="365760" y="5120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One system today, the whole estate over time.</a:t>
            </a:r>
            <a:endParaRPr lang="en-US" sz="2200" dirty="0"/>
          </a:p>
        </p:txBody>
      </p:sp>
      <p:sp>
        <p:nvSpPr>
          <p:cNvPr id="5" name="Shape 2"/>
          <p:cNvSpPr/>
          <p:nvPr/>
        </p:nvSpPr>
        <p:spPr>
          <a:xfrm>
            <a:off x="365760" y="1170432"/>
            <a:ext cx="8412480" cy="1088136"/>
          </a:xfrm>
          <a:prstGeom prst="rect">
            <a:avLst/>
          </a:prstGeom>
          <a:solidFill>
            <a:srgbClr val="0D1554"/>
          </a:solidFill>
          <a:ln w="12700">
            <a:solidFill>
              <a:srgbClr val="0D1554"/>
            </a:solidFill>
            <a:prstDash val="solid"/>
          </a:ln>
        </p:spPr>
      </p:sp>
      <p:sp>
        <p:nvSpPr>
          <p:cNvPr id="6" name="Shape 3"/>
          <p:cNvSpPr/>
          <p:nvPr/>
        </p:nvSpPr>
        <p:spPr>
          <a:xfrm>
            <a:off x="365760" y="1170432"/>
            <a:ext cx="54864" cy="1088136"/>
          </a:xfrm>
          <a:prstGeom prst="rect">
            <a:avLst/>
          </a:prstGeom>
          <a:solidFill>
            <a:srgbClr val="18FFFF"/>
          </a:solidFill>
          <a:ln w="12700">
            <a:solidFill>
              <a:srgbClr val="18FFFF"/>
            </a:solidFill>
            <a:prstDash val="solid"/>
          </a:ln>
        </p:spPr>
      </p:sp>
      <p:sp>
        <p:nvSpPr>
          <p:cNvPr id="7" name="Text 4"/>
          <p:cNvSpPr/>
          <p:nvPr/>
        </p:nvSpPr>
        <p:spPr>
          <a:xfrm>
            <a:off x="548640" y="1280160"/>
            <a:ext cx="8156448" cy="347472"/>
          </a:xfrm>
          <a:prstGeom prst="rect">
            <a:avLst/>
          </a:prstGeom>
          <a:noFill/>
          <a:ln/>
        </p:spPr>
        <p:txBody>
          <a:bodyPr wrap="square" lIns="0" tIns="0" rIns="0" bIns="0" rtlCol="0" anchor="ctr"/>
          <a:lstStyle/>
          <a:p>
            <a:pPr indent="0" marL="0">
              <a:buNone/>
            </a:pPr>
            <a:r>
              <a:rPr lang="en-US" sz="1800" b="1" dirty="0">
                <a:solidFill>
                  <a:srgbClr val="FFFFFF"/>
                </a:solidFill>
                <a:latin typeface="Montserrat" pitchFamily="34" charset="0"/>
                <a:ea typeface="Montserrat" pitchFamily="34" charset="-122"/>
                <a:cs typeface="Montserrat" pitchFamily="34" charset="-120"/>
              </a:rPr>
              <a:t>Additive by design</a:t>
            </a:r>
            <a:endParaRPr lang="en-US" sz="1800" dirty="0"/>
          </a:p>
        </p:txBody>
      </p:sp>
      <p:sp>
        <p:nvSpPr>
          <p:cNvPr id="8" name="Text 5"/>
          <p:cNvSpPr/>
          <p:nvPr/>
        </p:nvSpPr>
        <p:spPr>
          <a:xfrm>
            <a:off x="548640" y="1664208"/>
            <a:ext cx="8156448" cy="484632"/>
          </a:xfrm>
          <a:prstGeom prst="rect">
            <a:avLst/>
          </a:prstGeom>
          <a:noFill/>
          <a:ln/>
        </p:spPr>
        <p:txBody>
          <a:bodyPr wrap="square" lIns="0" tIns="0" rIns="0" bIns="0" rtlCol="0" anchor="ctr"/>
          <a:lstStyle/>
          <a:p>
            <a:pPr indent="0" marL="0">
              <a:buNone/>
            </a:pPr>
            <a:r>
              <a:rPr lang="en-US" sz="1050" dirty="0">
                <a:solidFill>
                  <a:srgbClr val="E8E8F0"/>
                </a:solidFill>
                <a:latin typeface="Montserrat" pitchFamily="34" charset="0"/>
                <a:ea typeface="Montserrat" pitchFamily="34" charset="-122"/>
                <a:cs typeface="Montserrat" pitchFamily="34" charset="-120"/>
              </a:rPr>
              <a:t>MCP-first means new incident types and new systems reuse the core agent, governance and reporting unchanged.</a:t>
            </a:r>
            <a:endParaRPr lang="en-US" sz="1050" dirty="0"/>
          </a:p>
        </p:txBody>
      </p:sp>
      <p:sp>
        <p:nvSpPr>
          <p:cNvPr id="9" name="Shape 6"/>
          <p:cNvSpPr/>
          <p:nvPr/>
        </p:nvSpPr>
        <p:spPr>
          <a:xfrm>
            <a:off x="365760" y="2644902"/>
            <a:ext cx="2041398" cy="1911096"/>
          </a:xfrm>
          <a:prstGeom prst="rect">
            <a:avLst/>
          </a:prstGeom>
          <a:solidFill>
            <a:srgbClr val="0D1554"/>
          </a:solidFill>
          <a:ln w="12700">
            <a:solidFill>
              <a:srgbClr val="0D1554"/>
            </a:solidFill>
            <a:prstDash val="solid"/>
          </a:ln>
        </p:spPr>
      </p:sp>
      <p:sp>
        <p:nvSpPr>
          <p:cNvPr id="10" name="Shape 7"/>
          <p:cNvSpPr/>
          <p:nvPr/>
        </p:nvSpPr>
        <p:spPr>
          <a:xfrm>
            <a:off x="365760" y="2644902"/>
            <a:ext cx="2041398" cy="54864"/>
          </a:xfrm>
          <a:prstGeom prst="rect">
            <a:avLst/>
          </a:prstGeom>
          <a:solidFill>
            <a:srgbClr val="18FFFF"/>
          </a:solidFill>
          <a:ln w="12700">
            <a:solidFill>
              <a:srgbClr val="18FFFF"/>
            </a:solidFill>
            <a:prstDash val="solid"/>
          </a:ln>
        </p:spPr>
      </p:sp>
      <p:sp>
        <p:nvSpPr>
          <p:cNvPr id="11" name="Text 8"/>
          <p:cNvSpPr/>
          <p:nvPr/>
        </p:nvSpPr>
        <p:spPr>
          <a:xfrm>
            <a:off x="512064" y="2809494"/>
            <a:ext cx="1748790"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New incident types</a:t>
            </a:r>
            <a:endParaRPr lang="en-US" sz="1200" dirty="0"/>
          </a:p>
        </p:txBody>
      </p:sp>
      <p:sp>
        <p:nvSpPr>
          <p:cNvPr id="12" name="Text 9"/>
          <p:cNvSpPr/>
          <p:nvPr/>
        </p:nvSpPr>
        <p:spPr>
          <a:xfrm>
            <a:off x="512064" y="3321558"/>
            <a:ext cx="1748790" cy="114300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From Splunk-driven microservice incidents to Airflow DAG failures or LLM output-quality alerts.</a:t>
            </a:r>
            <a:endParaRPr lang="en-US" sz="950" dirty="0"/>
          </a:p>
        </p:txBody>
      </p:sp>
      <p:sp>
        <p:nvSpPr>
          <p:cNvPr id="13" name="Shape 10"/>
          <p:cNvSpPr/>
          <p:nvPr/>
        </p:nvSpPr>
        <p:spPr>
          <a:xfrm>
            <a:off x="2489454" y="2644902"/>
            <a:ext cx="2041398" cy="1911096"/>
          </a:xfrm>
          <a:prstGeom prst="rect">
            <a:avLst/>
          </a:prstGeom>
          <a:solidFill>
            <a:srgbClr val="0D1554"/>
          </a:solidFill>
          <a:ln w="12700">
            <a:solidFill>
              <a:srgbClr val="0D1554"/>
            </a:solidFill>
            <a:prstDash val="solid"/>
          </a:ln>
        </p:spPr>
      </p:sp>
      <p:sp>
        <p:nvSpPr>
          <p:cNvPr id="14" name="Shape 11"/>
          <p:cNvSpPr/>
          <p:nvPr/>
        </p:nvSpPr>
        <p:spPr>
          <a:xfrm>
            <a:off x="2489454" y="2644902"/>
            <a:ext cx="2041398" cy="54864"/>
          </a:xfrm>
          <a:prstGeom prst="rect">
            <a:avLst/>
          </a:prstGeom>
          <a:solidFill>
            <a:srgbClr val="18FFFF"/>
          </a:solidFill>
          <a:ln w="12700">
            <a:solidFill>
              <a:srgbClr val="18FFFF"/>
            </a:solidFill>
            <a:prstDash val="solid"/>
          </a:ln>
        </p:spPr>
      </p:sp>
      <p:sp>
        <p:nvSpPr>
          <p:cNvPr id="15" name="Text 12"/>
          <p:cNvSpPr/>
          <p:nvPr/>
        </p:nvSpPr>
        <p:spPr>
          <a:xfrm>
            <a:off x="2635758" y="2809494"/>
            <a:ext cx="1748790"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New triggers</a:t>
            </a:r>
            <a:endParaRPr lang="en-US" sz="1200" dirty="0"/>
          </a:p>
        </p:txBody>
      </p:sp>
      <p:sp>
        <p:nvSpPr>
          <p:cNvPr id="16" name="Text 13"/>
          <p:cNvSpPr/>
          <p:nvPr/>
        </p:nvSpPr>
        <p:spPr>
          <a:xfrm>
            <a:off x="2635758" y="3321558"/>
            <a:ext cx="1748790" cy="114300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ServiceNow today. Airflow events and email alerts next.</a:t>
            </a:r>
            <a:endParaRPr lang="en-US" sz="950" dirty="0"/>
          </a:p>
        </p:txBody>
      </p:sp>
      <p:sp>
        <p:nvSpPr>
          <p:cNvPr id="17" name="Shape 14"/>
          <p:cNvSpPr/>
          <p:nvPr/>
        </p:nvSpPr>
        <p:spPr>
          <a:xfrm>
            <a:off x="4613148" y="2644902"/>
            <a:ext cx="2041398" cy="1911096"/>
          </a:xfrm>
          <a:prstGeom prst="rect">
            <a:avLst/>
          </a:prstGeom>
          <a:solidFill>
            <a:srgbClr val="0D1554"/>
          </a:solidFill>
          <a:ln w="12700">
            <a:solidFill>
              <a:srgbClr val="0D1554"/>
            </a:solidFill>
            <a:prstDash val="solid"/>
          </a:ln>
        </p:spPr>
      </p:sp>
      <p:sp>
        <p:nvSpPr>
          <p:cNvPr id="18" name="Shape 15"/>
          <p:cNvSpPr/>
          <p:nvPr/>
        </p:nvSpPr>
        <p:spPr>
          <a:xfrm>
            <a:off x="4613148" y="2644902"/>
            <a:ext cx="2041398" cy="54864"/>
          </a:xfrm>
          <a:prstGeom prst="rect">
            <a:avLst/>
          </a:prstGeom>
          <a:solidFill>
            <a:srgbClr val="18FFFF"/>
          </a:solidFill>
          <a:ln w="12700">
            <a:solidFill>
              <a:srgbClr val="18FFFF"/>
            </a:solidFill>
            <a:prstDash val="solid"/>
          </a:ln>
        </p:spPr>
      </p:sp>
      <p:sp>
        <p:nvSpPr>
          <p:cNvPr id="19" name="Text 16"/>
          <p:cNvSpPr/>
          <p:nvPr/>
        </p:nvSpPr>
        <p:spPr>
          <a:xfrm>
            <a:off x="4759452" y="2809494"/>
            <a:ext cx="1748790"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Progressive autonomy</a:t>
            </a:r>
            <a:endParaRPr lang="en-US" sz="1200" dirty="0"/>
          </a:p>
        </p:txBody>
      </p:sp>
      <p:sp>
        <p:nvSpPr>
          <p:cNvPr id="20" name="Text 17"/>
          <p:cNvSpPr/>
          <p:nvPr/>
        </p:nvSpPr>
        <p:spPr>
          <a:xfrm>
            <a:off x="4759452" y="3321558"/>
            <a:ext cx="1748790" cy="114300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Human-approved first, then opt-in auto-apply on lower tiers once the track record is proven. Always audited and reversible.</a:t>
            </a:r>
            <a:endParaRPr lang="en-US" sz="950" dirty="0"/>
          </a:p>
        </p:txBody>
      </p:sp>
      <p:sp>
        <p:nvSpPr>
          <p:cNvPr id="21" name="Shape 18"/>
          <p:cNvSpPr/>
          <p:nvPr/>
        </p:nvSpPr>
        <p:spPr>
          <a:xfrm>
            <a:off x="6736842" y="2644902"/>
            <a:ext cx="2041398" cy="1911096"/>
          </a:xfrm>
          <a:prstGeom prst="rect">
            <a:avLst/>
          </a:prstGeom>
          <a:solidFill>
            <a:srgbClr val="0D1554"/>
          </a:solidFill>
          <a:ln w="12700">
            <a:solidFill>
              <a:srgbClr val="0D1554"/>
            </a:solidFill>
            <a:prstDash val="solid"/>
          </a:ln>
        </p:spPr>
      </p:sp>
      <p:sp>
        <p:nvSpPr>
          <p:cNvPr id="22" name="Shape 19"/>
          <p:cNvSpPr/>
          <p:nvPr/>
        </p:nvSpPr>
        <p:spPr>
          <a:xfrm>
            <a:off x="6736842" y="2644902"/>
            <a:ext cx="2041398" cy="54864"/>
          </a:xfrm>
          <a:prstGeom prst="rect">
            <a:avLst/>
          </a:prstGeom>
          <a:solidFill>
            <a:srgbClr val="18FFFF"/>
          </a:solidFill>
          <a:ln w="12700">
            <a:solidFill>
              <a:srgbClr val="18FFFF"/>
            </a:solidFill>
            <a:prstDash val="solid"/>
          </a:ln>
        </p:spPr>
      </p:sp>
      <p:sp>
        <p:nvSpPr>
          <p:cNvPr id="23" name="Text 20"/>
          <p:cNvSpPr/>
          <p:nvPr/>
        </p:nvSpPr>
        <p:spPr>
          <a:xfrm>
            <a:off x="6883146" y="2809494"/>
            <a:ext cx="1748790"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Broad applicability</a:t>
            </a:r>
            <a:endParaRPr lang="en-US" sz="1200" dirty="0"/>
          </a:p>
        </p:txBody>
      </p:sp>
      <p:sp>
        <p:nvSpPr>
          <p:cNvPr id="24" name="Text 21"/>
          <p:cNvSpPr/>
          <p:nvPr/>
        </p:nvSpPr>
        <p:spPr>
          <a:xfrm>
            <a:off x="6883146" y="3321558"/>
            <a:ext cx="1748790" cy="114300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Applies across independent business areas, each with many candidate systems.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THE BIGGER PICTURE</a:t>
            </a:r>
            <a:endParaRPr lang="en-US" sz="850" dirty="0"/>
          </a:p>
        </p:txBody>
      </p:sp>
      <p:sp>
        <p:nvSpPr>
          <p:cNvPr id="4" name="Text 1"/>
          <p:cNvSpPr/>
          <p:nvPr/>
        </p:nvSpPr>
        <p:spPr>
          <a:xfrm>
            <a:off x="365760" y="512064"/>
            <a:ext cx="8412480" cy="91440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Sentinel is the first feature of Mission Control.</a:t>
            </a:r>
            <a:endParaRPr lang="en-US" sz="2600" dirty="0"/>
          </a:p>
        </p:txBody>
      </p:sp>
      <p:sp>
        <p:nvSpPr>
          <p:cNvPr id="5" name="Text 2"/>
          <p:cNvSpPr/>
          <p:nvPr/>
        </p:nvSpPr>
        <p:spPr>
          <a:xfrm>
            <a:off x="365760" y="1627632"/>
            <a:ext cx="8412480" cy="256032"/>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An operations cockpit for the teams that monitor and support many applications across a shared incident queue.</a:t>
            </a:r>
            <a:endParaRPr lang="en-US" sz="1000" dirty="0"/>
          </a:p>
        </p:txBody>
      </p:sp>
      <p:sp>
        <p:nvSpPr>
          <p:cNvPr id="6" name="Shape 3"/>
          <p:cNvSpPr/>
          <p:nvPr/>
        </p:nvSpPr>
        <p:spPr>
          <a:xfrm>
            <a:off x="365760" y="2063115"/>
            <a:ext cx="4142232" cy="1161288"/>
          </a:xfrm>
          <a:prstGeom prst="rect">
            <a:avLst/>
          </a:prstGeom>
          <a:solidFill>
            <a:srgbClr val="0D1554"/>
          </a:solidFill>
          <a:ln w="12700">
            <a:solidFill>
              <a:srgbClr val="0D1554"/>
            </a:solidFill>
            <a:prstDash val="solid"/>
          </a:ln>
        </p:spPr>
      </p:sp>
      <p:sp>
        <p:nvSpPr>
          <p:cNvPr id="7" name="Shape 4"/>
          <p:cNvSpPr/>
          <p:nvPr/>
        </p:nvSpPr>
        <p:spPr>
          <a:xfrm>
            <a:off x="365760" y="2063115"/>
            <a:ext cx="54864" cy="1161288"/>
          </a:xfrm>
          <a:prstGeom prst="rect">
            <a:avLst/>
          </a:prstGeom>
          <a:solidFill>
            <a:srgbClr val="18FFFF"/>
          </a:solidFill>
          <a:ln w="12700">
            <a:solidFill>
              <a:srgbClr val="18FFFF"/>
            </a:solidFill>
            <a:prstDash val="solid"/>
          </a:ln>
        </p:spPr>
      </p:sp>
      <p:sp>
        <p:nvSpPr>
          <p:cNvPr id="8" name="Text 5"/>
          <p:cNvSpPr/>
          <p:nvPr/>
        </p:nvSpPr>
        <p:spPr>
          <a:xfrm>
            <a:off x="548640" y="2191131"/>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Sentinel: ships first</a:t>
            </a:r>
            <a:endParaRPr lang="en-US" sz="1100" dirty="0"/>
          </a:p>
        </p:txBody>
      </p:sp>
      <p:sp>
        <p:nvSpPr>
          <p:cNvPr id="9" name="Text 6"/>
          <p:cNvSpPr/>
          <p:nvPr/>
        </p:nvSpPr>
        <p:spPr>
          <a:xfrm>
            <a:off x="548640" y="2575179"/>
            <a:ext cx="3776472" cy="557784"/>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Auto-investigation and resolution. The wedge and the differentiator.</a:t>
            </a:r>
            <a:endParaRPr lang="en-US" sz="1000" dirty="0"/>
          </a:p>
        </p:txBody>
      </p:sp>
      <p:sp>
        <p:nvSpPr>
          <p:cNvPr id="10" name="Shape 7"/>
          <p:cNvSpPr/>
          <p:nvPr/>
        </p:nvSpPr>
        <p:spPr>
          <a:xfrm>
            <a:off x="4636008" y="2063115"/>
            <a:ext cx="4142232" cy="1161288"/>
          </a:xfrm>
          <a:prstGeom prst="rect">
            <a:avLst/>
          </a:prstGeom>
          <a:solidFill>
            <a:srgbClr val="0D1554"/>
          </a:solidFill>
          <a:ln w="12700">
            <a:solidFill>
              <a:srgbClr val="0D1554"/>
            </a:solidFill>
            <a:prstDash val="solid"/>
          </a:ln>
        </p:spPr>
      </p:sp>
      <p:sp>
        <p:nvSpPr>
          <p:cNvPr id="11" name="Shape 8"/>
          <p:cNvSpPr/>
          <p:nvPr/>
        </p:nvSpPr>
        <p:spPr>
          <a:xfrm>
            <a:off x="4636008" y="2063115"/>
            <a:ext cx="54864" cy="1161288"/>
          </a:xfrm>
          <a:prstGeom prst="rect">
            <a:avLst/>
          </a:prstGeom>
          <a:solidFill>
            <a:srgbClr val="18FFFF"/>
          </a:solidFill>
          <a:ln w="12700">
            <a:solidFill>
              <a:srgbClr val="18FFFF"/>
            </a:solidFill>
            <a:prstDash val="solid"/>
          </a:ln>
        </p:spPr>
      </p:sp>
      <p:sp>
        <p:nvSpPr>
          <p:cNvPr id="12" name="Text 9"/>
          <p:cNvSpPr/>
          <p:nvPr/>
        </p:nvSpPr>
        <p:spPr>
          <a:xfrm>
            <a:off x="4818888" y="2191131"/>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Incident cockpit</a:t>
            </a:r>
            <a:endParaRPr lang="en-US" sz="1100" dirty="0"/>
          </a:p>
        </p:txBody>
      </p:sp>
      <p:sp>
        <p:nvSpPr>
          <p:cNvPr id="13" name="Text 10"/>
          <p:cNvSpPr/>
          <p:nvPr/>
        </p:nvSpPr>
        <p:spPr>
          <a:xfrm>
            <a:off x="4818888" y="2575179"/>
            <a:ext cx="3776472" cy="557784"/>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A per-application, historical view of the incident queue.</a:t>
            </a:r>
            <a:endParaRPr lang="en-US" sz="1000" dirty="0"/>
          </a:p>
        </p:txBody>
      </p:sp>
      <p:sp>
        <p:nvSpPr>
          <p:cNvPr id="14" name="Shape 11"/>
          <p:cNvSpPr/>
          <p:nvPr/>
        </p:nvSpPr>
        <p:spPr>
          <a:xfrm>
            <a:off x="365760" y="3473577"/>
            <a:ext cx="4142232" cy="1161288"/>
          </a:xfrm>
          <a:prstGeom prst="rect">
            <a:avLst/>
          </a:prstGeom>
          <a:solidFill>
            <a:srgbClr val="0D1554"/>
          </a:solidFill>
          <a:ln w="12700">
            <a:solidFill>
              <a:srgbClr val="0D1554"/>
            </a:solidFill>
            <a:prstDash val="solid"/>
          </a:ln>
        </p:spPr>
      </p:sp>
      <p:sp>
        <p:nvSpPr>
          <p:cNvPr id="15" name="Shape 12"/>
          <p:cNvSpPr/>
          <p:nvPr/>
        </p:nvSpPr>
        <p:spPr>
          <a:xfrm>
            <a:off x="365760" y="3473577"/>
            <a:ext cx="54864" cy="1161288"/>
          </a:xfrm>
          <a:prstGeom prst="rect">
            <a:avLst/>
          </a:prstGeom>
          <a:solidFill>
            <a:srgbClr val="18FFFF"/>
          </a:solidFill>
          <a:ln w="12700">
            <a:solidFill>
              <a:srgbClr val="18FFFF"/>
            </a:solidFill>
            <a:prstDash val="solid"/>
          </a:ln>
        </p:spPr>
      </p:sp>
      <p:sp>
        <p:nvSpPr>
          <p:cNvPr id="16" name="Text 13"/>
          <p:cNvSpPr/>
          <p:nvPr/>
        </p:nvSpPr>
        <p:spPr>
          <a:xfrm>
            <a:off x="548640" y="3601593"/>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Dashboard hub</a:t>
            </a:r>
            <a:endParaRPr lang="en-US" sz="1100" dirty="0"/>
          </a:p>
        </p:txBody>
      </p:sp>
      <p:sp>
        <p:nvSpPr>
          <p:cNvPr id="17" name="Text 14"/>
          <p:cNvSpPr/>
          <p:nvPr/>
        </p:nvSpPr>
        <p:spPr>
          <a:xfrm>
            <a:off x="548640" y="3985641"/>
            <a:ext cx="3776472" cy="557784"/>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QuickSight and Tableau dashboards in one place.</a:t>
            </a:r>
            <a:endParaRPr lang="en-US" sz="1000" dirty="0"/>
          </a:p>
        </p:txBody>
      </p:sp>
      <p:sp>
        <p:nvSpPr>
          <p:cNvPr id="18" name="Shape 15"/>
          <p:cNvSpPr/>
          <p:nvPr/>
        </p:nvSpPr>
        <p:spPr>
          <a:xfrm>
            <a:off x="4636008" y="3473577"/>
            <a:ext cx="4142232" cy="1161288"/>
          </a:xfrm>
          <a:prstGeom prst="rect">
            <a:avLst/>
          </a:prstGeom>
          <a:solidFill>
            <a:srgbClr val="0D1554"/>
          </a:solidFill>
          <a:ln w="12700">
            <a:solidFill>
              <a:srgbClr val="0D1554"/>
            </a:solidFill>
            <a:prstDash val="solid"/>
          </a:ln>
        </p:spPr>
      </p:sp>
      <p:sp>
        <p:nvSpPr>
          <p:cNvPr id="19" name="Shape 16"/>
          <p:cNvSpPr/>
          <p:nvPr/>
        </p:nvSpPr>
        <p:spPr>
          <a:xfrm>
            <a:off x="4636008" y="3473577"/>
            <a:ext cx="54864" cy="1161288"/>
          </a:xfrm>
          <a:prstGeom prst="rect">
            <a:avLst/>
          </a:prstGeom>
          <a:solidFill>
            <a:srgbClr val="18FFFF"/>
          </a:solidFill>
          <a:ln w="12700">
            <a:solidFill>
              <a:srgbClr val="18FFFF"/>
            </a:solidFill>
            <a:prstDash val="solid"/>
          </a:ln>
        </p:spPr>
      </p:sp>
      <p:sp>
        <p:nvSpPr>
          <p:cNvPr id="20" name="Text 17"/>
          <p:cNvSpPr/>
          <p:nvPr/>
        </p:nvSpPr>
        <p:spPr>
          <a:xfrm>
            <a:off x="4818888" y="3601593"/>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Ask Mission Control (future)</a:t>
            </a:r>
            <a:endParaRPr lang="en-US" sz="1100" dirty="0"/>
          </a:p>
        </p:txBody>
      </p:sp>
      <p:sp>
        <p:nvSpPr>
          <p:cNvPr id="21" name="Text 18"/>
          <p:cNvSpPr/>
          <p:nvPr/>
        </p:nvSpPr>
        <p:spPr>
          <a:xfrm>
            <a:off x="4818888" y="3985641"/>
            <a:ext cx="3776472" cy="557784"/>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Permission-aware Q&amp;A over docs and deployed code.</a:t>
            </a:r>
            <a:endParaRPr lang="en-US" sz="1000" dirty="0"/>
          </a:p>
        </p:txBody>
      </p:sp>
      <p:sp>
        <p:nvSpPr>
          <p:cNvPr id="22" name="Text 19"/>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Application catalog is the shared foundation: apps, repos, log sources, required docs and playbooks. ServiceNow owns incidents; Confluence owns documentation; Mission Control indexes, enriches and acts.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OPERATIONAL KNOWLEDGE</a:t>
            </a:r>
            <a:endParaRPr lang="en-US" sz="850" dirty="0"/>
          </a:p>
        </p:txBody>
      </p:sp>
      <p:sp>
        <p:nvSpPr>
          <p:cNvPr id="4" name="Text 1"/>
          <p:cNvSpPr/>
          <p:nvPr/>
        </p:nvSpPr>
        <p:spPr>
          <a:xfrm>
            <a:off x="365760" y="5120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Better handovers, without a new source of truth.</a:t>
            </a:r>
            <a:endParaRPr lang="en-US" sz="2200" dirty="0"/>
          </a:p>
        </p:txBody>
      </p:sp>
      <p:sp>
        <p:nvSpPr>
          <p:cNvPr id="5" name="Shape 2"/>
          <p:cNvSpPr/>
          <p:nvPr/>
        </p:nvSpPr>
        <p:spPr>
          <a:xfrm>
            <a:off x="365760" y="1170432"/>
            <a:ext cx="8412480" cy="1088136"/>
          </a:xfrm>
          <a:prstGeom prst="rect">
            <a:avLst/>
          </a:prstGeom>
          <a:solidFill>
            <a:srgbClr val="0D1554"/>
          </a:solidFill>
          <a:ln w="12700">
            <a:solidFill>
              <a:srgbClr val="0D1554"/>
            </a:solidFill>
            <a:prstDash val="solid"/>
          </a:ln>
        </p:spPr>
      </p:sp>
      <p:sp>
        <p:nvSpPr>
          <p:cNvPr id="6" name="Shape 3"/>
          <p:cNvSpPr/>
          <p:nvPr/>
        </p:nvSpPr>
        <p:spPr>
          <a:xfrm>
            <a:off x="365760" y="1170432"/>
            <a:ext cx="54864" cy="1088136"/>
          </a:xfrm>
          <a:prstGeom prst="rect">
            <a:avLst/>
          </a:prstGeom>
          <a:solidFill>
            <a:srgbClr val="18FFFF"/>
          </a:solidFill>
          <a:ln w="12700">
            <a:solidFill>
              <a:srgbClr val="18FFFF"/>
            </a:solidFill>
            <a:prstDash val="solid"/>
          </a:ln>
        </p:spPr>
      </p:sp>
      <p:sp>
        <p:nvSpPr>
          <p:cNvPr id="7" name="Text 4"/>
          <p:cNvSpPr/>
          <p:nvPr/>
        </p:nvSpPr>
        <p:spPr>
          <a:xfrm>
            <a:off x="548640" y="1280160"/>
            <a:ext cx="8156448" cy="347472"/>
          </a:xfrm>
          <a:prstGeom prst="rect">
            <a:avLst/>
          </a:prstGeom>
          <a:noFill/>
          <a:ln/>
        </p:spPr>
        <p:txBody>
          <a:bodyPr wrap="square" lIns="0" tIns="0" rIns="0" bIns="0" rtlCol="0" anchor="ctr"/>
          <a:lstStyle/>
          <a:p>
            <a:pPr indent="0" marL="0">
              <a:buNone/>
            </a:pPr>
            <a:r>
              <a:rPr lang="en-US" sz="1800" b="1" dirty="0">
                <a:solidFill>
                  <a:srgbClr val="FFFFFF"/>
                </a:solidFill>
                <a:latin typeface="Montserrat" pitchFamily="34" charset="0"/>
                <a:ea typeface="Montserrat" pitchFamily="34" charset="-122"/>
                <a:cs typeface="Montserrat" pitchFamily="34" charset="-120"/>
              </a:rPr>
              <a:t>One indexed source, not another silo</a:t>
            </a:r>
            <a:endParaRPr lang="en-US" sz="1800" dirty="0"/>
          </a:p>
        </p:txBody>
      </p:sp>
      <p:sp>
        <p:nvSpPr>
          <p:cNvPr id="8" name="Text 5"/>
          <p:cNvSpPr/>
          <p:nvPr/>
        </p:nvSpPr>
        <p:spPr>
          <a:xfrm>
            <a:off x="548640" y="1664208"/>
            <a:ext cx="8156448" cy="484632"/>
          </a:xfrm>
          <a:prstGeom prst="rect">
            <a:avLst/>
          </a:prstGeom>
          <a:noFill/>
          <a:ln/>
        </p:spPr>
        <p:txBody>
          <a:bodyPr wrap="square" lIns="0" tIns="0" rIns="0" bIns="0" rtlCol="0" anchor="ctr"/>
          <a:lstStyle/>
          <a:p>
            <a:pPr indent="0" marL="0">
              <a:buNone/>
            </a:pPr>
            <a:r>
              <a:rPr lang="en-US" sz="1050" dirty="0">
                <a:solidFill>
                  <a:srgbClr val="E8E8F0"/>
                </a:solidFill>
                <a:latin typeface="Montserrat" pitchFamily="34" charset="0"/>
                <a:ea typeface="Montserrat" pitchFamily="34" charset="-122"/>
                <a:cs typeface="Montserrat" pitchFamily="34" charset="-120"/>
              </a:rPr>
              <a:t>Onboarding defines what every support team needs; Mission Control validates and indexes it for day-to-day use. It stores requirements, links, permissions and index freshness, not duplicate pages.</a:t>
            </a:r>
            <a:endParaRPr lang="en-US" sz="1050" dirty="0"/>
          </a:p>
        </p:txBody>
      </p:sp>
      <p:sp>
        <p:nvSpPr>
          <p:cNvPr id="9" name="Shape 6"/>
          <p:cNvSpPr/>
          <p:nvPr/>
        </p:nvSpPr>
        <p:spPr>
          <a:xfrm>
            <a:off x="365760" y="2809494"/>
            <a:ext cx="2749296" cy="1581912"/>
          </a:xfrm>
          <a:prstGeom prst="rect">
            <a:avLst/>
          </a:prstGeom>
          <a:solidFill>
            <a:srgbClr val="0D1554"/>
          </a:solidFill>
          <a:ln w="12700">
            <a:solidFill>
              <a:srgbClr val="0D1554"/>
            </a:solidFill>
            <a:prstDash val="solid"/>
          </a:ln>
        </p:spPr>
      </p:sp>
      <p:sp>
        <p:nvSpPr>
          <p:cNvPr id="10" name="Shape 7"/>
          <p:cNvSpPr/>
          <p:nvPr/>
        </p:nvSpPr>
        <p:spPr>
          <a:xfrm>
            <a:off x="365760" y="2809494"/>
            <a:ext cx="2749296" cy="54864"/>
          </a:xfrm>
          <a:prstGeom prst="rect">
            <a:avLst/>
          </a:prstGeom>
          <a:solidFill>
            <a:srgbClr val="18FFFF"/>
          </a:solidFill>
          <a:ln w="12700">
            <a:solidFill>
              <a:srgbClr val="18FFFF"/>
            </a:solidFill>
            <a:prstDash val="solid"/>
          </a:ln>
        </p:spPr>
      </p:sp>
      <p:sp>
        <p:nvSpPr>
          <p:cNvPr id="11" name="Text 8"/>
          <p:cNvSpPr/>
          <p:nvPr/>
        </p:nvSpPr>
        <p:spPr>
          <a:xfrm>
            <a:off x="512064" y="2974086"/>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Confluence stays authoritative</a:t>
            </a:r>
            <a:endParaRPr lang="en-US" sz="1200" dirty="0"/>
          </a:p>
        </p:txBody>
      </p:sp>
      <p:sp>
        <p:nvSpPr>
          <p:cNvPr id="12" name="Text 9"/>
          <p:cNvSpPr/>
          <p:nvPr/>
        </p:nvSpPr>
        <p:spPr>
          <a:xfrm>
            <a:off x="512064" y="3486150"/>
            <a:ext cx="2456688" cy="813816"/>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Runbooks, ownership, dependencies and rollback stay authored and governed in Confluence.</a:t>
            </a:r>
            <a:endParaRPr lang="en-US" sz="950" dirty="0"/>
          </a:p>
        </p:txBody>
      </p:sp>
      <p:sp>
        <p:nvSpPr>
          <p:cNvPr id="13" name="Shape 10"/>
          <p:cNvSpPr/>
          <p:nvPr/>
        </p:nvSpPr>
        <p:spPr>
          <a:xfrm>
            <a:off x="3197352" y="2809494"/>
            <a:ext cx="2749296" cy="1581912"/>
          </a:xfrm>
          <a:prstGeom prst="rect">
            <a:avLst/>
          </a:prstGeom>
          <a:solidFill>
            <a:srgbClr val="0D1554"/>
          </a:solidFill>
          <a:ln w="12700">
            <a:solidFill>
              <a:srgbClr val="0D1554"/>
            </a:solidFill>
            <a:prstDash val="solid"/>
          </a:ln>
        </p:spPr>
      </p:sp>
      <p:sp>
        <p:nvSpPr>
          <p:cNvPr id="14" name="Shape 11"/>
          <p:cNvSpPr/>
          <p:nvPr/>
        </p:nvSpPr>
        <p:spPr>
          <a:xfrm>
            <a:off x="3197352" y="2809494"/>
            <a:ext cx="2749296" cy="54864"/>
          </a:xfrm>
          <a:prstGeom prst="rect">
            <a:avLst/>
          </a:prstGeom>
          <a:solidFill>
            <a:srgbClr val="18FFFF"/>
          </a:solidFill>
          <a:ln w="12700">
            <a:solidFill>
              <a:srgbClr val="18FFFF"/>
            </a:solidFill>
            <a:prstDash val="solid"/>
          </a:ln>
        </p:spPr>
      </p:sp>
      <p:sp>
        <p:nvSpPr>
          <p:cNvPr id="15" name="Text 12"/>
          <p:cNvSpPr/>
          <p:nvPr/>
        </p:nvSpPr>
        <p:spPr>
          <a:xfrm>
            <a:off x="3343656" y="2974086"/>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Teams become self-sufficient</a:t>
            </a:r>
            <a:endParaRPr lang="en-US" sz="1200" dirty="0"/>
          </a:p>
        </p:txBody>
      </p:sp>
      <p:sp>
        <p:nvSpPr>
          <p:cNvPr id="16" name="Text 13"/>
          <p:cNvSpPr/>
          <p:nvPr/>
        </p:nvSpPr>
        <p:spPr>
          <a:xfrm>
            <a:off x="3343656" y="3486150"/>
            <a:ext cx="2456688" cy="813816"/>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Indexed docs, code context and incident learning answer routine questions without returning to the original developers.</a:t>
            </a:r>
            <a:endParaRPr lang="en-US" sz="950" dirty="0"/>
          </a:p>
        </p:txBody>
      </p:sp>
      <p:sp>
        <p:nvSpPr>
          <p:cNvPr id="17" name="Shape 14"/>
          <p:cNvSpPr/>
          <p:nvPr/>
        </p:nvSpPr>
        <p:spPr>
          <a:xfrm>
            <a:off x="6028944" y="2809494"/>
            <a:ext cx="2749296" cy="1581912"/>
          </a:xfrm>
          <a:prstGeom prst="rect">
            <a:avLst/>
          </a:prstGeom>
          <a:solidFill>
            <a:srgbClr val="0D1554"/>
          </a:solidFill>
          <a:ln w="12700">
            <a:solidFill>
              <a:srgbClr val="0D1554"/>
            </a:solidFill>
            <a:prstDash val="solid"/>
          </a:ln>
        </p:spPr>
      </p:sp>
      <p:sp>
        <p:nvSpPr>
          <p:cNvPr id="18" name="Shape 15"/>
          <p:cNvSpPr/>
          <p:nvPr/>
        </p:nvSpPr>
        <p:spPr>
          <a:xfrm>
            <a:off x="6028944" y="2809494"/>
            <a:ext cx="2749296" cy="54864"/>
          </a:xfrm>
          <a:prstGeom prst="rect">
            <a:avLst/>
          </a:prstGeom>
          <a:solidFill>
            <a:srgbClr val="18FFFF"/>
          </a:solidFill>
          <a:ln w="12700">
            <a:solidFill>
              <a:srgbClr val="18FFFF"/>
            </a:solidFill>
            <a:prstDash val="solid"/>
          </a:ln>
        </p:spPr>
      </p:sp>
      <p:sp>
        <p:nvSpPr>
          <p:cNvPr id="19" name="Text 16"/>
          <p:cNvSpPr/>
          <p:nvPr/>
        </p:nvSpPr>
        <p:spPr>
          <a:xfrm>
            <a:off x="6175248" y="2974086"/>
            <a:ext cx="2456688" cy="475488"/>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Future: code-aware Q&amp;A</a:t>
            </a:r>
            <a:endParaRPr lang="en-US" sz="1200" dirty="0"/>
          </a:p>
        </p:txBody>
      </p:sp>
      <p:sp>
        <p:nvSpPr>
          <p:cNvPr id="20" name="Text 17"/>
          <p:cNvSpPr/>
          <p:nvPr/>
        </p:nvSpPr>
        <p:spPr>
          <a:xfrm>
            <a:off x="6175248" y="3486150"/>
            <a:ext cx="2456688" cy="813816"/>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E8E8F0"/>
                </a:solidFill>
                <a:latin typeface="Montserrat" pitchFamily="34" charset="0"/>
                <a:ea typeface="Montserrat" pitchFamily="34" charset="-122"/>
                <a:cs typeface="Montserrat" pitchFamily="34" charset="-120"/>
              </a:rPr>
              <a:t>Ask Mission Control will combine approved Confluence content with deployed code and authorised incident history, with citations.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THE VALUE</a:t>
            </a:r>
            <a:endParaRPr lang="en-US" sz="850" dirty="0"/>
          </a:p>
        </p:txBody>
      </p:sp>
      <p:sp>
        <p:nvSpPr>
          <p:cNvPr id="4" name="Text 1"/>
          <p:cNvSpPr/>
          <p:nvPr/>
        </p:nvSpPr>
        <p:spPr>
          <a:xfrm>
            <a:off x="365760" y="512064"/>
            <a:ext cx="8412480" cy="502920"/>
          </a:xfrm>
          <a:prstGeom prst="rect">
            <a:avLst/>
          </a:prstGeom>
          <a:noFill/>
          <a:ln/>
        </p:spPr>
        <p:txBody>
          <a:bodyPr wrap="square" lIns="0" tIns="0" rIns="0" bIns="0" rtlCol="0" anchor="ctr"/>
          <a:lstStyle/>
          <a:p>
            <a:pPr indent="0" marL="0">
              <a:buNone/>
            </a:pPr>
            <a:r>
              <a:rPr lang="en-US" sz="2600" b="1" dirty="0">
                <a:solidFill>
                  <a:srgbClr val="FFFFFF"/>
                </a:solidFill>
                <a:latin typeface="Montserrat" pitchFamily="34" charset="0"/>
                <a:ea typeface="Montserrat" pitchFamily="34" charset="-122"/>
                <a:cs typeface="Montserrat" pitchFamily="34" charset="-120"/>
              </a:rPr>
              <a:t>Why this matters.</a:t>
            </a:r>
            <a:endParaRPr lang="en-US" sz="2600" dirty="0"/>
          </a:p>
        </p:txBody>
      </p:sp>
      <p:sp>
        <p:nvSpPr>
          <p:cNvPr id="5" name="Shape 2"/>
          <p:cNvSpPr/>
          <p:nvPr/>
        </p:nvSpPr>
        <p:spPr>
          <a:xfrm>
            <a:off x="365760" y="1216152"/>
            <a:ext cx="4142232" cy="1114044"/>
          </a:xfrm>
          <a:prstGeom prst="rect">
            <a:avLst/>
          </a:prstGeom>
          <a:solidFill>
            <a:srgbClr val="0D1554"/>
          </a:solidFill>
          <a:ln w="12700">
            <a:solidFill>
              <a:srgbClr val="0D1554"/>
            </a:solidFill>
            <a:prstDash val="solid"/>
          </a:ln>
        </p:spPr>
      </p:sp>
      <p:sp>
        <p:nvSpPr>
          <p:cNvPr id="6" name="Shape 3"/>
          <p:cNvSpPr/>
          <p:nvPr/>
        </p:nvSpPr>
        <p:spPr>
          <a:xfrm>
            <a:off x="365760" y="1216152"/>
            <a:ext cx="54864" cy="1114044"/>
          </a:xfrm>
          <a:prstGeom prst="rect">
            <a:avLst/>
          </a:prstGeom>
          <a:solidFill>
            <a:srgbClr val="18FFFF"/>
          </a:solidFill>
          <a:ln w="12700">
            <a:solidFill>
              <a:srgbClr val="18FFFF"/>
            </a:solidFill>
            <a:prstDash val="solid"/>
          </a:ln>
        </p:spPr>
      </p:sp>
      <p:sp>
        <p:nvSpPr>
          <p:cNvPr id="7" name="Text 4"/>
          <p:cNvSpPr/>
          <p:nvPr/>
        </p:nvSpPr>
        <p:spPr>
          <a:xfrm>
            <a:off x="548640" y="1344168"/>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Faster resolution</a:t>
            </a:r>
            <a:endParaRPr lang="en-US" sz="1100" dirty="0"/>
          </a:p>
        </p:txBody>
      </p:sp>
      <p:sp>
        <p:nvSpPr>
          <p:cNvPr id="8" name="Text 5"/>
          <p:cNvSpPr/>
          <p:nvPr/>
        </p:nvSpPr>
        <p:spPr>
          <a:xfrm>
            <a:off x="548640" y="1728216"/>
            <a:ext cx="3776472" cy="51054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Compresses the slowest phase, time-to-diagnosis.</a:t>
            </a:r>
            <a:endParaRPr lang="en-US" sz="1000" dirty="0"/>
          </a:p>
        </p:txBody>
      </p:sp>
      <p:sp>
        <p:nvSpPr>
          <p:cNvPr id="9" name="Shape 6"/>
          <p:cNvSpPr/>
          <p:nvPr/>
        </p:nvSpPr>
        <p:spPr>
          <a:xfrm>
            <a:off x="4636008" y="1216152"/>
            <a:ext cx="4142232" cy="1114044"/>
          </a:xfrm>
          <a:prstGeom prst="rect">
            <a:avLst/>
          </a:prstGeom>
          <a:solidFill>
            <a:srgbClr val="0D1554"/>
          </a:solidFill>
          <a:ln w="12700">
            <a:solidFill>
              <a:srgbClr val="0D1554"/>
            </a:solidFill>
            <a:prstDash val="solid"/>
          </a:ln>
        </p:spPr>
      </p:sp>
      <p:sp>
        <p:nvSpPr>
          <p:cNvPr id="10" name="Shape 7"/>
          <p:cNvSpPr/>
          <p:nvPr/>
        </p:nvSpPr>
        <p:spPr>
          <a:xfrm>
            <a:off x="4636008" y="1216152"/>
            <a:ext cx="54864" cy="1114044"/>
          </a:xfrm>
          <a:prstGeom prst="rect">
            <a:avLst/>
          </a:prstGeom>
          <a:solidFill>
            <a:srgbClr val="18FFFF"/>
          </a:solidFill>
          <a:ln w="12700">
            <a:solidFill>
              <a:srgbClr val="18FFFF"/>
            </a:solidFill>
            <a:prstDash val="solid"/>
          </a:ln>
        </p:spPr>
      </p:sp>
      <p:sp>
        <p:nvSpPr>
          <p:cNvPr id="11" name="Text 8"/>
          <p:cNvSpPr/>
          <p:nvPr/>
        </p:nvSpPr>
        <p:spPr>
          <a:xfrm>
            <a:off x="4818888" y="1344168"/>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Senior-engineer leverage</a:t>
            </a:r>
            <a:endParaRPr lang="en-US" sz="1100" dirty="0"/>
          </a:p>
        </p:txBody>
      </p:sp>
      <p:sp>
        <p:nvSpPr>
          <p:cNvPr id="12" name="Text 9"/>
          <p:cNvSpPr/>
          <p:nvPr/>
        </p:nvSpPr>
        <p:spPr>
          <a:xfrm>
            <a:off x="4818888" y="1728216"/>
            <a:ext cx="3776472" cy="51054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Frees scarce expertise from repetitive triage.</a:t>
            </a:r>
            <a:endParaRPr lang="en-US" sz="1000" dirty="0"/>
          </a:p>
        </p:txBody>
      </p:sp>
      <p:sp>
        <p:nvSpPr>
          <p:cNvPr id="13" name="Shape 10"/>
          <p:cNvSpPr/>
          <p:nvPr/>
        </p:nvSpPr>
        <p:spPr>
          <a:xfrm>
            <a:off x="365760" y="2439924"/>
            <a:ext cx="4142232" cy="1114044"/>
          </a:xfrm>
          <a:prstGeom prst="rect">
            <a:avLst/>
          </a:prstGeom>
          <a:solidFill>
            <a:srgbClr val="0D1554"/>
          </a:solidFill>
          <a:ln w="12700">
            <a:solidFill>
              <a:srgbClr val="0D1554"/>
            </a:solidFill>
            <a:prstDash val="solid"/>
          </a:ln>
        </p:spPr>
      </p:sp>
      <p:sp>
        <p:nvSpPr>
          <p:cNvPr id="14" name="Shape 11"/>
          <p:cNvSpPr/>
          <p:nvPr/>
        </p:nvSpPr>
        <p:spPr>
          <a:xfrm>
            <a:off x="365760" y="2439924"/>
            <a:ext cx="54864" cy="1114044"/>
          </a:xfrm>
          <a:prstGeom prst="rect">
            <a:avLst/>
          </a:prstGeom>
          <a:solidFill>
            <a:srgbClr val="18FFFF"/>
          </a:solidFill>
          <a:ln w="12700">
            <a:solidFill>
              <a:srgbClr val="18FFFF"/>
            </a:solidFill>
            <a:prstDash val="solid"/>
          </a:ln>
        </p:spPr>
      </p:sp>
      <p:sp>
        <p:nvSpPr>
          <p:cNvPr id="15" name="Text 12"/>
          <p:cNvSpPr/>
          <p:nvPr/>
        </p:nvSpPr>
        <p:spPr>
          <a:xfrm>
            <a:off x="548640" y="2567940"/>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Measured quality</a:t>
            </a:r>
            <a:endParaRPr lang="en-US" sz="1100" dirty="0"/>
          </a:p>
        </p:txBody>
      </p:sp>
      <p:sp>
        <p:nvSpPr>
          <p:cNvPr id="16" name="Text 13"/>
          <p:cNvSpPr/>
          <p:nvPr/>
        </p:nvSpPr>
        <p:spPr>
          <a:xfrm>
            <a:off x="548640" y="2951988"/>
            <a:ext cx="3776472" cy="51054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Human verdicts and golden-set replay track accuracy and acceptance.</a:t>
            </a:r>
            <a:endParaRPr lang="en-US" sz="1000" dirty="0"/>
          </a:p>
        </p:txBody>
      </p:sp>
      <p:sp>
        <p:nvSpPr>
          <p:cNvPr id="17" name="Shape 14"/>
          <p:cNvSpPr/>
          <p:nvPr/>
        </p:nvSpPr>
        <p:spPr>
          <a:xfrm>
            <a:off x="4636008" y="2439924"/>
            <a:ext cx="4142232" cy="1114044"/>
          </a:xfrm>
          <a:prstGeom prst="rect">
            <a:avLst/>
          </a:prstGeom>
          <a:solidFill>
            <a:srgbClr val="0D1554"/>
          </a:solidFill>
          <a:ln w="12700">
            <a:solidFill>
              <a:srgbClr val="0D1554"/>
            </a:solidFill>
            <a:prstDash val="solid"/>
          </a:ln>
        </p:spPr>
      </p:sp>
      <p:sp>
        <p:nvSpPr>
          <p:cNvPr id="18" name="Shape 15"/>
          <p:cNvSpPr/>
          <p:nvPr/>
        </p:nvSpPr>
        <p:spPr>
          <a:xfrm>
            <a:off x="4636008" y="2439924"/>
            <a:ext cx="54864" cy="1114044"/>
          </a:xfrm>
          <a:prstGeom prst="rect">
            <a:avLst/>
          </a:prstGeom>
          <a:solidFill>
            <a:srgbClr val="18FFFF"/>
          </a:solidFill>
          <a:ln w="12700">
            <a:solidFill>
              <a:srgbClr val="18FFFF"/>
            </a:solidFill>
            <a:prstDash val="solid"/>
          </a:ln>
        </p:spPr>
      </p:sp>
      <p:sp>
        <p:nvSpPr>
          <p:cNvPr id="19" name="Text 16"/>
          <p:cNvSpPr/>
          <p:nvPr/>
        </p:nvSpPr>
        <p:spPr>
          <a:xfrm>
            <a:off x="4818888" y="2567940"/>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Support independence</a:t>
            </a:r>
            <a:endParaRPr lang="en-US" sz="1100" dirty="0"/>
          </a:p>
        </p:txBody>
      </p:sp>
      <p:sp>
        <p:nvSpPr>
          <p:cNvPr id="20" name="Text 17"/>
          <p:cNvSpPr/>
          <p:nvPr/>
        </p:nvSpPr>
        <p:spPr>
          <a:xfrm>
            <a:off x="4818888" y="2951988"/>
            <a:ext cx="3776472" cy="51054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Structured handover reduces routine developer escalations.</a:t>
            </a:r>
            <a:endParaRPr lang="en-US" sz="1000" dirty="0"/>
          </a:p>
        </p:txBody>
      </p:sp>
      <p:sp>
        <p:nvSpPr>
          <p:cNvPr id="21" name="Shape 18"/>
          <p:cNvSpPr/>
          <p:nvPr/>
        </p:nvSpPr>
        <p:spPr>
          <a:xfrm>
            <a:off x="365760" y="3663696"/>
            <a:ext cx="4142232" cy="1114044"/>
          </a:xfrm>
          <a:prstGeom prst="rect">
            <a:avLst/>
          </a:prstGeom>
          <a:solidFill>
            <a:srgbClr val="0D1554"/>
          </a:solidFill>
          <a:ln w="12700">
            <a:solidFill>
              <a:srgbClr val="0D1554"/>
            </a:solidFill>
            <a:prstDash val="solid"/>
          </a:ln>
        </p:spPr>
      </p:sp>
      <p:sp>
        <p:nvSpPr>
          <p:cNvPr id="22" name="Shape 19"/>
          <p:cNvSpPr/>
          <p:nvPr/>
        </p:nvSpPr>
        <p:spPr>
          <a:xfrm>
            <a:off x="365760" y="3663696"/>
            <a:ext cx="54864" cy="1114044"/>
          </a:xfrm>
          <a:prstGeom prst="rect">
            <a:avLst/>
          </a:prstGeom>
          <a:solidFill>
            <a:srgbClr val="18FFFF"/>
          </a:solidFill>
          <a:ln w="12700">
            <a:solidFill>
              <a:srgbClr val="18FFFF"/>
            </a:solidFill>
            <a:prstDash val="solid"/>
          </a:ln>
        </p:spPr>
      </p:sp>
      <p:sp>
        <p:nvSpPr>
          <p:cNvPr id="23" name="Text 20"/>
          <p:cNvSpPr/>
          <p:nvPr/>
        </p:nvSpPr>
        <p:spPr>
          <a:xfrm>
            <a:off x="548640" y="3791712"/>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Low-risk proving ground</a:t>
            </a:r>
            <a:endParaRPr lang="en-US" sz="1100" dirty="0"/>
          </a:p>
        </p:txBody>
      </p:sp>
      <p:sp>
        <p:nvSpPr>
          <p:cNvPr id="24" name="Text 21"/>
          <p:cNvSpPr/>
          <p:nvPr/>
        </p:nvSpPr>
        <p:spPr>
          <a:xfrm>
            <a:off x="548640" y="4175760"/>
            <a:ext cx="3776472" cy="51054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KPI gains on Tier 3 before critical systems.</a:t>
            </a:r>
            <a:endParaRPr lang="en-US" sz="1000" dirty="0"/>
          </a:p>
        </p:txBody>
      </p:sp>
      <p:sp>
        <p:nvSpPr>
          <p:cNvPr id="25" name="Shape 22"/>
          <p:cNvSpPr/>
          <p:nvPr/>
        </p:nvSpPr>
        <p:spPr>
          <a:xfrm>
            <a:off x="4636008" y="3663696"/>
            <a:ext cx="4142232" cy="1114044"/>
          </a:xfrm>
          <a:prstGeom prst="rect">
            <a:avLst/>
          </a:prstGeom>
          <a:solidFill>
            <a:srgbClr val="0D1554"/>
          </a:solidFill>
          <a:ln w="12700">
            <a:solidFill>
              <a:srgbClr val="0D1554"/>
            </a:solidFill>
            <a:prstDash val="solid"/>
          </a:ln>
        </p:spPr>
      </p:sp>
      <p:sp>
        <p:nvSpPr>
          <p:cNvPr id="26" name="Shape 23"/>
          <p:cNvSpPr/>
          <p:nvPr/>
        </p:nvSpPr>
        <p:spPr>
          <a:xfrm>
            <a:off x="4636008" y="3663696"/>
            <a:ext cx="54864" cy="1114044"/>
          </a:xfrm>
          <a:prstGeom prst="rect">
            <a:avLst/>
          </a:prstGeom>
          <a:solidFill>
            <a:srgbClr val="18FFFF"/>
          </a:solidFill>
          <a:ln w="12700">
            <a:solidFill>
              <a:srgbClr val="18FFFF"/>
            </a:solidFill>
            <a:prstDash val="solid"/>
          </a:ln>
        </p:spPr>
      </p:sp>
      <p:sp>
        <p:nvSpPr>
          <p:cNvPr id="27" name="Text 24"/>
          <p:cNvSpPr/>
          <p:nvPr/>
        </p:nvSpPr>
        <p:spPr>
          <a:xfrm>
            <a:off x="4818888" y="3791712"/>
            <a:ext cx="3776472" cy="365760"/>
          </a:xfrm>
          <a:prstGeom prst="rect">
            <a:avLst/>
          </a:prstGeom>
          <a:noFill/>
          <a:ln/>
        </p:spPr>
        <p:txBody>
          <a:bodyPr wrap="square" lIns="0" tIns="0" rIns="0" bIns="0"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Partial automation wins</a:t>
            </a:r>
            <a:endParaRPr lang="en-US" sz="1100" dirty="0"/>
          </a:p>
        </p:txBody>
      </p:sp>
      <p:sp>
        <p:nvSpPr>
          <p:cNvPr id="28" name="Text 25"/>
          <p:cNvSpPr/>
          <p:nvPr/>
        </p:nvSpPr>
        <p:spPr>
          <a:xfrm>
            <a:off x="4818888" y="4175760"/>
            <a:ext cx="3776472" cy="510540"/>
          </a:xfrm>
          <a:prstGeom prst="rect">
            <a:avLst/>
          </a:prstGeom>
          <a:noFill/>
          <a:ln/>
        </p:spPr>
        <p:txBody>
          <a:bodyPr wrap="square" lIns="0" tIns="0" rIns="0" bIns="0" rtlCol="0" anchor="t"/>
          <a:lstStyle/>
          <a:p>
            <a:pPr indent="0" marL="0">
              <a:buNone/>
            </a:pPr>
            <a:r>
              <a:rPr lang="en-US" sz="1000" dirty="0">
                <a:solidFill>
                  <a:srgbClr val="E8E8F0"/>
                </a:solidFill>
                <a:latin typeface="Montserrat" pitchFamily="34" charset="0"/>
                <a:ea typeface="Montserrat" pitchFamily="34" charset="-122"/>
                <a:cs typeface="Montserrat" pitchFamily="34" charset="-120"/>
              </a:rPr>
              <a:t>Resolve some, accelerate the rest, for a net gain.</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40038"/>
        </a:solidFill>
      </p:bgPr>
    </p:bg>
    <p:spTree>
      <p:nvGrpSpPr>
        <p:cNvPr id="1" name=""/>
        <p:cNvGrpSpPr/>
        <p:nvPr/>
      </p:nvGrpSpPr>
      <p:grpSpPr>
        <a:xfrm>
          <a:off x="0" y="0"/>
          <a:ext cx="0" cy="0"/>
          <a:chOff x="0" y="0"/>
          <a:chExt cx="0" cy="0"/>
        </a:xfrm>
      </p:grpSpPr>
      <p:sp>
        <p:nvSpPr>
          <p:cNvPr id="3" name="Text 0"/>
          <p:cNvSpPr/>
          <p:nvPr/>
        </p:nvSpPr>
        <p:spPr>
          <a:xfrm>
            <a:off x="365760" y="256032"/>
            <a:ext cx="8229600" cy="201168"/>
          </a:xfrm>
          <a:prstGeom prst="rect">
            <a:avLst/>
          </a:prstGeom>
          <a:noFill/>
          <a:ln/>
        </p:spPr>
        <p:txBody>
          <a:bodyPr wrap="square" lIns="0" tIns="0" rIns="0" bIns="0" rtlCol="0" anchor="ctr"/>
          <a:lstStyle/>
          <a:p>
            <a:pPr indent="0" marL="0">
              <a:buNone/>
            </a:pPr>
            <a:r>
              <a:rPr lang="en-US" sz="850" b="1" spc="200" kern="0" dirty="0">
                <a:solidFill>
                  <a:srgbClr val="18FFFF"/>
                </a:solidFill>
                <a:latin typeface="Montserrat" pitchFamily="34" charset="0"/>
                <a:ea typeface="Montserrat" pitchFamily="34" charset="-122"/>
                <a:cs typeface="Montserrat" pitchFamily="34" charset="-120"/>
              </a:rPr>
              <a:t>ENGAGEMENT MODEL</a:t>
            </a:r>
            <a:endParaRPr lang="en-US" sz="850" dirty="0"/>
          </a:p>
        </p:txBody>
      </p:sp>
      <p:sp>
        <p:nvSpPr>
          <p:cNvPr id="4" name="Text 1"/>
          <p:cNvSpPr/>
          <p:nvPr/>
        </p:nvSpPr>
        <p:spPr>
          <a:xfrm>
            <a:off x="365760" y="512064"/>
            <a:ext cx="8412480" cy="457200"/>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Low-commitment start, scalable rollout.</a:t>
            </a:r>
            <a:endParaRPr lang="en-US" sz="2200" dirty="0"/>
          </a:p>
        </p:txBody>
      </p:sp>
      <p:sp>
        <p:nvSpPr>
          <p:cNvPr id="5" name="Shape 2"/>
          <p:cNvSpPr/>
          <p:nvPr/>
        </p:nvSpPr>
        <p:spPr>
          <a:xfrm>
            <a:off x="365760" y="1170432"/>
            <a:ext cx="2749296" cy="3131820"/>
          </a:xfrm>
          <a:prstGeom prst="rect">
            <a:avLst/>
          </a:prstGeom>
          <a:solidFill>
            <a:srgbClr val="0D1554"/>
          </a:solidFill>
          <a:ln w="12700">
            <a:solidFill>
              <a:srgbClr val="0D1554"/>
            </a:solidFill>
            <a:prstDash val="solid"/>
          </a:ln>
        </p:spPr>
      </p:sp>
      <p:sp>
        <p:nvSpPr>
          <p:cNvPr id="6" name="Shape 3"/>
          <p:cNvSpPr/>
          <p:nvPr/>
        </p:nvSpPr>
        <p:spPr>
          <a:xfrm>
            <a:off x="365760" y="1170432"/>
            <a:ext cx="2749296" cy="54864"/>
          </a:xfrm>
          <a:prstGeom prst="rect">
            <a:avLst/>
          </a:prstGeom>
          <a:solidFill>
            <a:srgbClr val="18FFFF"/>
          </a:solidFill>
          <a:ln w="12700">
            <a:solidFill>
              <a:srgbClr val="18FFFF"/>
            </a:solidFill>
            <a:prstDash val="solid"/>
          </a:ln>
        </p:spPr>
      </p:sp>
      <p:sp>
        <p:nvSpPr>
          <p:cNvPr id="7" name="Text 4"/>
          <p:cNvSpPr/>
          <p:nvPr/>
        </p:nvSpPr>
        <p:spPr>
          <a:xfrm>
            <a:off x="475488" y="1261872"/>
            <a:ext cx="457200" cy="471830"/>
          </a:xfrm>
          <a:prstGeom prst="rect">
            <a:avLst/>
          </a:prstGeom>
          <a:noFill/>
          <a:ln/>
        </p:spPr>
        <p:txBody>
          <a:bodyPr wrap="square" lIns="0" tIns="0" rIns="0" bIns="0" rtlCol="0" anchor="ctr"/>
          <a:lstStyle/>
          <a:p>
            <a:pPr indent="0" marL="0">
              <a:buNone/>
            </a:pPr>
            <a:r>
              <a:rPr lang="en-US" sz="3600" b="1" dirty="0">
                <a:solidFill>
                  <a:srgbClr val="18FFFF"/>
                </a:solidFill>
                <a:latin typeface="Montserrat" pitchFamily="34" charset="0"/>
                <a:ea typeface="Montserrat" pitchFamily="34" charset="-122"/>
                <a:cs typeface="Montserrat" pitchFamily="34" charset="-120"/>
              </a:rPr>
              <a:t>1</a:t>
            </a:r>
            <a:endParaRPr lang="en-US" sz="3600" dirty="0"/>
          </a:p>
        </p:txBody>
      </p:sp>
      <p:sp>
        <p:nvSpPr>
          <p:cNvPr id="8" name="Text 5"/>
          <p:cNvSpPr/>
          <p:nvPr/>
        </p:nvSpPr>
        <p:spPr>
          <a:xfrm>
            <a:off x="969264" y="1356238"/>
            <a:ext cx="2036064" cy="219456"/>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Fixed fee</a:t>
            </a:r>
            <a:endParaRPr lang="en-US" sz="900" dirty="0"/>
          </a:p>
        </p:txBody>
      </p:sp>
      <p:sp>
        <p:nvSpPr>
          <p:cNvPr id="9" name="Text 6"/>
          <p:cNvSpPr/>
          <p:nvPr/>
        </p:nvSpPr>
        <p:spPr>
          <a:xfrm>
            <a:off x="475488" y="1770278"/>
            <a:ext cx="2529840" cy="324383"/>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Platform analysis</a:t>
            </a:r>
            <a:endParaRPr lang="en-US" sz="1200" dirty="0"/>
          </a:p>
        </p:txBody>
      </p:sp>
      <p:sp>
        <p:nvSpPr>
          <p:cNvPr id="10" name="Shape 7"/>
          <p:cNvSpPr/>
          <p:nvPr/>
        </p:nvSpPr>
        <p:spPr>
          <a:xfrm>
            <a:off x="475488" y="2131238"/>
            <a:ext cx="2529840" cy="9144"/>
          </a:xfrm>
          <a:prstGeom prst="rect">
            <a:avLst/>
          </a:prstGeom>
          <a:solidFill>
            <a:srgbClr val="1A1A6A"/>
          </a:solidFill>
          <a:ln w="12700">
            <a:solidFill>
              <a:srgbClr val="1A1A6A"/>
            </a:solidFill>
            <a:prstDash val="solid"/>
          </a:ln>
        </p:spPr>
      </p:sp>
      <p:sp>
        <p:nvSpPr>
          <p:cNvPr id="11" name="Text 8"/>
          <p:cNvSpPr/>
          <p:nvPr/>
        </p:nvSpPr>
        <p:spPr>
          <a:xfrm>
            <a:off x="475488" y="2195246"/>
            <a:ext cx="2529840" cy="2015566"/>
          </a:xfrm>
          <a:prstGeom prst="rect">
            <a:avLst/>
          </a:prstGeom>
          <a:noFill/>
          <a:ln/>
        </p:spPr>
        <p:txBody>
          <a:bodyPr wrap="square" lIns="0" tIns="0" rIns="0" bIns="0" rtlCol="0" anchor="t"/>
          <a:lstStyle/>
          <a:p>
            <a:pPr indent="0" marL="0">
              <a:spcAft>
                <a:spcPts val="400"/>
              </a:spcAft>
              <a:buNone/>
            </a:pPr>
            <a:r>
              <a:rPr lang="en-US" sz="950" dirty="0">
                <a:solidFill>
                  <a:srgbClr val="E8E8F0"/>
                </a:solidFill>
                <a:latin typeface="Montserrat" pitchFamily="34" charset="0"/>
                <a:ea typeface="Montserrat" pitchFamily="34" charset="-122"/>
                <a:cs typeface="Montserrat" pitchFamily="34" charset="-120"/>
              </a:rPr>
              <a:t>A short analysis of a target platform. Scope evidence access, documentation readiness, security and success baselines up front.</a:t>
            </a:r>
            <a:endParaRPr lang="en-US" sz="950" dirty="0"/>
          </a:p>
          <a:p>
            <a:pPr indent="0" marL="0">
              <a:spcAft>
                <a:spcPts val="400"/>
              </a:spcAft>
              <a:buNone/>
            </a:pPr>
            <a:r>
              <a:rPr lang="en-US" sz="950" i="1" dirty="0">
                <a:solidFill>
                  <a:srgbClr val="E8E8F0"/>
                </a:solidFill>
                <a:latin typeface="Montserrat" pitchFamily="34" charset="0"/>
                <a:ea typeface="Montserrat" pitchFamily="34" charset="-122"/>
                <a:cs typeface="Montserrat" pitchFamily="34" charset="-120"/>
              </a:rPr>
              <a:t>Gate: agreed scope and price for the PoC.</a:t>
            </a:r>
            <a:endParaRPr lang="en-US" sz="950" dirty="0"/>
          </a:p>
        </p:txBody>
      </p:sp>
      <p:sp>
        <p:nvSpPr>
          <p:cNvPr id="12" name="Shape 9"/>
          <p:cNvSpPr/>
          <p:nvPr/>
        </p:nvSpPr>
        <p:spPr>
          <a:xfrm>
            <a:off x="365760" y="4375404"/>
            <a:ext cx="2749296" cy="384048"/>
          </a:xfrm>
          <a:prstGeom prst="rect">
            <a:avLst/>
          </a:prstGeom>
          <a:solidFill>
            <a:srgbClr val="0D1554"/>
          </a:solidFill>
          <a:ln w="12700">
            <a:solidFill>
              <a:srgbClr val="0D1554"/>
            </a:solidFill>
            <a:prstDash val="solid"/>
          </a:ln>
        </p:spPr>
      </p:sp>
      <p:sp>
        <p:nvSpPr>
          <p:cNvPr id="13" name="Text 10"/>
          <p:cNvSpPr/>
          <p:nvPr/>
        </p:nvSpPr>
        <p:spPr>
          <a:xfrm>
            <a:off x="475488" y="4421124"/>
            <a:ext cx="2529840" cy="292608"/>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Step 1</a:t>
            </a:r>
            <a:endParaRPr lang="en-US" sz="1400" dirty="0"/>
          </a:p>
        </p:txBody>
      </p:sp>
      <p:sp>
        <p:nvSpPr>
          <p:cNvPr id="14" name="Shape 11"/>
          <p:cNvSpPr/>
          <p:nvPr/>
        </p:nvSpPr>
        <p:spPr>
          <a:xfrm>
            <a:off x="3197352" y="1170432"/>
            <a:ext cx="2749296" cy="3131820"/>
          </a:xfrm>
          <a:prstGeom prst="rect">
            <a:avLst/>
          </a:prstGeom>
          <a:solidFill>
            <a:srgbClr val="0D1554"/>
          </a:solidFill>
          <a:ln w="12700">
            <a:solidFill>
              <a:srgbClr val="0D1554"/>
            </a:solidFill>
            <a:prstDash val="solid"/>
          </a:ln>
        </p:spPr>
      </p:sp>
      <p:sp>
        <p:nvSpPr>
          <p:cNvPr id="15" name="Shape 12"/>
          <p:cNvSpPr/>
          <p:nvPr/>
        </p:nvSpPr>
        <p:spPr>
          <a:xfrm>
            <a:off x="3197352" y="1170432"/>
            <a:ext cx="2749296" cy="54864"/>
          </a:xfrm>
          <a:prstGeom prst="rect">
            <a:avLst/>
          </a:prstGeom>
          <a:solidFill>
            <a:srgbClr val="18FFFF"/>
          </a:solidFill>
          <a:ln w="12700">
            <a:solidFill>
              <a:srgbClr val="18FFFF"/>
            </a:solidFill>
            <a:prstDash val="solid"/>
          </a:ln>
        </p:spPr>
      </p:sp>
      <p:sp>
        <p:nvSpPr>
          <p:cNvPr id="16" name="Text 13"/>
          <p:cNvSpPr/>
          <p:nvPr/>
        </p:nvSpPr>
        <p:spPr>
          <a:xfrm>
            <a:off x="3307080" y="1261872"/>
            <a:ext cx="457200" cy="471830"/>
          </a:xfrm>
          <a:prstGeom prst="rect">
            <a:avLst/>
          </a:prstGeom>
          <a:noFill/>
          <a:ln/>
        </p:spPr>
        <p:txBody>
          <a:bodyPr wrap="square" lIns="0" tIns="0" rIns="0" bIns="0" rtlCol="0" anchor="ctr"/>
          <a:lstStyle/>
          <a:p>
            <a:pPr indent="0" marL="0">
              <a:buNone/>
            </a:pPr>
            <a:r>
              <a:rPr lang="en-US" sz="3600" b="1" dirty="0">
                <a:solidFill>
                  <a:srgbClr val="18FFFF"/>
                </a:solidFill>
                <a:latin typeface="Montserrat" pitchFamily="34" charset="0"/>
                <a:ea typeface="Montserrat" pitchFamily="34" charset="-122"/>
                <a:cs typeface="Montserrat" pitchFamily="34" charset="-120"/>
              </a:rPr>
              <a:t>2</a:t>
            </a:r>
            <a:endParaRPr lang="en-US" sz="3600" dirty="0"/>
          </a:p>
        </p:txBody>
      </p:sp>
      <p:sp>
        <p:nvSpPr>
          <p:cNvPr id="17" name="Text 14"/>
          <p:cNvSpPr/>
          <p:nvPr/>
        </p:nvSpPr>
        <p:spPr>
          <a:xfrm>
            <a:off x="3800856" y="1356238"/>
            <a:ext cx="2036064" cy="219456"/>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Fixed scope</a:t>
            </a:r>
            <a:endParaRPr lang="en-US" sz="900" dirty="0"/>
          </a:p>
        </p:txBody>
      </p:sp>
      <p:sp>
        <p:nvSpPr>
          <p:cNvPr id="18" name="Text 15"/>
          <p:cNvSpPr/>
          <p:nvPr/>
        </p:nvSpPr>
        <p:spPr>
          <a:xfrm>
            <a:off x="3307080" y="1770278"/>
            <a:ext cx="2529840" cy="324383"/>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Proof of Concept</a:t>
            </a:r>
            <a:endParaRPr lang="en-US" sz="1200" dirty="0"/>
          </a:p>
        </p:txBody>
      </p:sp>
      <p:sp>
        <p:nvSpPr>
          <p:cNvPr id="19" name="Shape 16"/>
          <p:cNvSpPr/>
          <p:nvPr/>
        </p:nvSpPr>
        <p:spPr>
          <a:xfrm>
            <a:off x="3307080" y="2131238"/>
            <a:ext cx="2529840" cy="9144"/>
          </a:xfrm>
          <a:prstGeom prst="rect">
            <a:avLst/>
          </a:prstGeom>
          <a:solidFill>
            <a:srgbClr val="1A1A6A"/>
          </a:solidFill>
          <a:ln w="12700">
            <a:solidFill>
              <a:srgbClr val="1A1A6A"/>
            </a:solidFill>
            <a:prstDash val="solid"/>
          </a:ln>
        </p:spPr>
      </p:sp>
      <p:sp>
        <p:nvSpPr>
          <p:cNvPr id="20" name="Text 17"/>
          <p:cNvSpPr/>
          <p:nvPr/>
        </p:nvSpPr>
        <p:spPr>
          <a:xfrm>
            <a:off x="3307080" y="2195246"/>
            <a:ext cx="2529840" cy="2015566"/>
          </a:xfrm>
          <a:prstGeom prst="rect">
            <a:avLst/>
          </a:prstGeom>
          <a:noFill/>
          <a:ln/>
        </p:spPr>
        <p:txBody>
          <a:bodyPr wrap="square" lIns="0" tIns="0" rIns="0" bIns="0" rtlCol="0" anchor="t"/>
          <a:lstStyle/>
          <a:p>
            <a:pPr indent="0" marL="0">
              <a:spcAft>
                <a:spcPts val="400"/>
              </a:spcAft>
              <a:buNone/>
            </a:pPr>
            <a:r>
              <a:rPr lang="en-US" sz="950" dirty="0">
                <a:solidFill>
                  <a:srgbClr val="E8E8F0"/>
                </a:solidFill>
                <a:latin typeface="Montserrat" pitchFamily="34" charset="0"/>
                <a:ea typeface="Montserrat" pitchFamily="34" charset="-122"/>
                <a:cs typeface="Montserrat" pitchFamily="34" charset="-120"/>
              </a:rPr>
              <a:t>Configure Sentinel, preflight every dependency and demonstrate it on real or historical incidents.</a:t>
            </a:r>
            <a:endParaRPr lang="en-US" sz="950" dirty="0"/>
          </a:p>
          <a:p>
            <a:pPr indent="0" marL="0">
              <a:spcAft>
                <a:spcPts val="400"/>
              </a:spcAft>
              <a:buNone/>
            </a:pPr>
            <a:r>
              <a:rPr lang="en-US" sz="950" i="1" dirty="0">
                <a:solidFill>
                  <a:srgbClr val="E8E8F0"/>
                </a:solidFill>
                <a:latin typeface="Montserrat" pitchFamily="34" charset="0"/>
                <a:ea typeface="Montserrat" pitchFamily="34" charset="-122"/>
                <a:cs typeface="Montserrat" pitchFamily="34" charset="-120"/>
              </a:rPr>
              <a:t>Gate: proof before commitment.</a:t>
            </a:r>
            <a:endParaRPr lang="en-US" sz="950" dirty="0"/>
          </a:p>
        </p:txBody>
      </p:sp>
      <p:sp>
        <p:nvSpPr>
          <p:cNvPr id="21" name="Shape 18"/>
          <p:cNvSpPr/>
          <p:nvPr/>
        </p:nvSpPr>
        <p:spPr>
          <a:xfrm>
            <a:off x="3197352" y="4375404"/>
            <a:ext cx="2749296" cy="384048"/>
          </a:xfrm>
          <a:prstGeom prst="rect">
            <a:avLst/>
          </a:prstGeom>
          <a:solidFill>
            <a:srgbClr val="0D1554"/>
          </a:solidFill>
          <a:ln w="12700">
            <a:solidFill>
              <a:srgbClr val="0D1554"/>
            </a:solidFill>
            <a:prstDash val="solid"/>
          </a:ln>
        </p:spPr>
      </p:sp>
      <p:sp>
        <p:nvSpPr>
          <p:cNvPr id="22" name="Text 19"/>
          <p:cNvSpPr/>
          <p:nvPr/>
        </p:nvSpPr>
        <p:spPr>
          <a:xfrm>
            <a:off x="3307080" y="4421124"/>
            <a:ext cx="2529840" cy="292608"/>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Step 2</a:t>
            </a:r>
            <a:endParaRPr lang="en-US" sz="1400" dirty="0"/>
          </a:p>
        </p:txBody>
      </p:sp>
      <p:sp>
        <p:nvSpPr>
          <p:cNvPr id="23" name="Shape 20"/>
          <p:cNvSpPr/>
          <p:nvPr/>
        </p:nvSpPr>
        <p:spPr>
          <a:xfrm>
            <a:off x="6028944" y="1170432"/>
            <a:ext cx="2749296" cy="3131820"/>
          </a:xfrm>
          <a:prstGeom prst="rect">
            <a:avLst/>
          </a:prstGeom>
          <a:solidFill>
            <a:srgbClr val="0D1554"/>
          </a:solidFill>
          <a:ln w="12700">
            <a:solidFill>
              <a:srgbClr val="0D1554"/>
            </a:solidFill>
            <a:prstDash val="solid"/>
          </a:ln>
        </p:spPr>
      </p:sp>
      <p:sp>
        <p:nvSpPr>
          <p:cNvPr id="24" name="Shape 21"/>
          <p:cNvSpPr/>
          <p:nvPr/>
        </p:nvSpPr>
        <p:spPr>
          <a:xfrm>
            <a:off x="6028944" y="1170432"/>
            <a:ext cx="2749296" cy="54864"/>
          </a:xfrm>
          <a:prstGeom prst="rect">
            <a:avLst/>
          </a:prstGeom>
          <a:solidFill>
            <a:srgbClr val="18FFFF"/>
          </a:solidFill>
          <a:ln w="12700">
            <a:solidFill>
              <a:srgbClr val="18FFFF"/>
            </a:solidFill>
            <a:prstDash val="solid"/>
          </a:ln>
        </p:spPr>
      </p:sp>
      <p:sp>
        <p:nvSpPr>
          <p:cNvPr id="25" name="Text 22"/>
          <p:cNvSpPr/>
          <p:nvPr/>
        </p:nvSpPr>
        <p:spPr>
          <a:xfrm>
            <a:off x="6138672" y="1261872"/>
            <a:ext cx="457200" cy="471830"/>
          </a:xfrm>
          <a:prstGeom prst="rect">
            <a:avLst/>
          </a:prstGeom>
          <a:noFill/>
          <a:ln/>
        </p:spPr>
        <p:txBody>
          <a:bodyPr wrap="square" lIns="0" tIns="0" rIns="0" bIns="0" rtlCol="0" anchor="ctr"/>
          <a:lstStyle/>
          <a:p>
            <a:pPr indent="0" marL="0">
              <a:buNone/>
            </a:pPr>
            <a:r>
              <a:rPr lang="en-US" sz="3600" b="1" dirty="0">
                <a:solidFill>
                  <a:srgbClr val="18FFFF"/>
                </a:solidFill>
                <a:latin typeface="Montserrat" pitchFamily="34" charset="0"/>
                <a:ea typeface="Montserrat" pitchFamily="34" charset="-122"/>
                <a:cs typeface="Montserrat" pitchFamily="34" charset="-120"/>
              </a:rPr>
              <a:t>3</a:t>
            </a:r>
            <a:endParaRPr lang="en-US" sz="3600" dirty="0"/>
          </a:p>
        </p:txBody>
      </p:sp>
      <p:sp>
        <p:nvSpPr>
          <p:cNvPr id="26" name="Text 23"/>
          <p:cNvSpPr/>
          <p:nvPr/>
        </p:nvSpPr>
        <p:spPr>
          <a:xfrm>
            <a:off x="6632448" y="1356238"/>
            <a:ext cx="2036064" cy="219456"/>
          </a:xfrm>
          <a:prstGeom prst="rect">
            <a:avLst/>
          </a:prstGeom>
          <a:noFill/>
          <a:ln/>
        </p:spPr>
        <p:txBody>
          <a:bodyPr wrap="square" lIns="0" tIns="0" rIns="0" bIns="0" rtlCol="0" anchor="ctr"/>
          <a:lstStyle/>
          <a:p>
            <a:pPr indent="0" marL="0">
              <a:buNone/>
            </a:pPr>
            <a:r>
              <a:rPr lang="en-US" sz="900" dirty="0">
                <a:solidFill>
                  <a:srgbClr val="8888AA"/>
                </a:solidFill>
                <a:latin typeface="Montserrat" pitchFamily="34" charset="0"/>
                <a:ea typeface="Montserrat" pitchFamily="34" charset="-122"/>
                <a:cs typeface="Montserrat" pitchFamily="34" charset="-120"/>
              </a:rPr>
              <a:t>Fixed-price or T&amp;M</a:t>
            </a:r>
            <a:endParaRPr lang="en-US" sz="900" dirty="0"/>
          </a:p>
        </p:txBody>
      </p:sp>
      <p:sp>
        <p:nvSpPr>
          <p:cNvPr id="27" name="Text 24"/>
          <p:cNvSpPr/>
          <p:nvPr/>
        </p:nvSpPr>
        <p:spPr>
          <a:xfrm>
            <a:off x="6138672" y="1770278"/>
            <a:ext cx="2529840" cy="324383"/>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Scaled rollout</a:t>
            </a:r>
            <a:endParaRPr lang="en-US" sz="1200" dirty="0"/>
          </a:p>
        </p:txBody>
      </p:sp>
      <p:sp>
        <p:nvSpPr>
          <p:cNvPr id="28" name="Shape 25"/>
          <p:cNvSpPr/>
          <p:nvPr/>
        </p:nvSpPr>
        <p:spPr>
          <a:xfrm>
            <a:off x="6138672" y="2131238"/>
            <a:ext cx="2529840" cy="9144"/>
          </a:xfrm>
          <a:prstGeom prst="rect">
            <a:avLst/>
          </a:prstGeom>
          <a:solidFill>
            <a:srgbClr val="1A1A6A"/>
          </a:solidFill>
          <a:ln w="12700">
            <a:solidFill>
              <a:srgbClr val="1A1A6A"/>
            </a:solidFill>
            <a:prstDash val="solid"/>
          </a:ln>
        </p:spPr>
      </p:sp>
      <p:sp>
        <p:nvSpPr>
          <p:cNvPr id="29" name="Text 26"/>
          <p:cNvSpPr/>
          <p:nvPr/>
        </p:nvSpPr>
        <p:spPr>
          <a:xfrm>
            <a:off x="6138672" y="2195246"/>
            <a:ext cx="2529840" cy="2015566"/>
          </a:xfrm>
          <a:prstGeom prst="rect">
            <a:avLst/>
          </a:prstGeom>
          <a:noFill/>
          <a:ln/>
        </p:spPr>
        <p:txBody>
          <a:bodyPr wrap="square" lIns="0" tIns="0" rIns="0" bIns="0" rtlCol="0" anchor="t"/>
          <a:lstStyle/>
          <a:p>
            <a:pPr indent="0" marL="0">
              <a:spcAft>
                <a:spcPts val="400"/>
              </a:spcAft>
              <a:buNone/>
            </a:pPr>
            <a:r>
              <a:rPr lang="en-US" sz="950" dirty="0">
                <a:solidFill>
                  <a:srgbClr val="E8E8F0"/>
                </a:solidFill>
                <a:latin typeface="Montserrat" pitchFamily="34" charset="0"/>
                <a:ea typeface="Montserrat" pitchFamily="34" charset="-122"/>
                <a:cs typeface="Montserrat" pitchFamily="34" charset="-120"/>
              </a:rPr>
              <a:t>Implement platform by platform. Shared components built once; only platform-specific work per system.</a:t>
            </a:r>
            <a:endParaRPr lang="en-US" sz="950" dirty="0"/>
          </a:p>
          <a:p>
            <a:pPr indent="0" marL="0">
              <a:spcAft>
                <a:spcPts val="400"/>
              </a:spcAft>
              <a:buNone/>
            </a:pPr>
            <a:r>
              <a:rPr lang="en-US" sz="950" i="1" dirty="0">
                <a:solidFill>
                  <a:srgbClr val="E8E8F0"/>
                </a:solidFill>
                <a:latin typeface="Montserrat" pitchFamily="34" charset="0"/>
                <a:ea typeface="Montserrat" pitchFamily="34" charset="-122"/>
                <a:cs typeface="Montserrat" pitchFamily="34" charset="-120"/>
              </a:rPr>
              <a:t>Gate: expand as confidence grows.</a:t>
            </a:r>
            <a:endParaRPr lang="en-US" sz="950" dirty="0"/>
          </a:p>
        </p:txBody>
      </p:sp>
      <p:sp>
        <p:nvSpPr>
          <p:cNvPr id="30" name="Shape 27"/>
          <p:cNvSpPr/>
          <p:nvPr/>
        </p:nvSpPr>
        <p:spPr>
          <a:xfrm>
            <a:off x="6028944" y="4375404"/>
            <a:ext cx="2749296" cy="384048"/>
          </a:xfrm>
          <a:prstGeom prst="rect">
            <a:avLst/>
          </a:prstGeom>
          <a:solidFill>
            <a:srgbClr val="0D1554"/>
          </a:solidFill>
          <a:ln w="12700">
            <a:solidFill>
              <a:srgbClr val="0D1554"/>
            </a:solidFill>
            <a:prstDash val="solid"/>
          </a:ln>
        </p:spPr>
      </p:sp>
      <p:sp>
        <p:nvSpPr>
          <p:cNvPr id="31" name="Text 28"/>
          <p:cNvSpPr/>
          <p:nvPr/>
        </p:nvSpPr>
        <p:spPr>
          <a:xfrm>
            <a:off x="6138672" y="4421124"/>
            <a:ext cx="2529840" cy="292608"/>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Step 3</a:t>
            </a:r>
            <a:endParaRPr lang="en-US" sz="1400" dirty="0"/>
          </a:p>
        </p:txBody>
      </p:sp>
      <p:sp>
        <p:nvSpPr>
          <p:cNvPr id="32" name="Text 29"/>
          <p:cNvSpPr/>
          <p:nvPr/>
        </p:nvSpPr>
        <p:spPr>
          <a:xfrm>
            <a:off x="365760" y="4832604"/>
            <a:ext cx="8412480" cy="182880"/>
          </a:xfrm>
          <a:prstGeom prst="rect">
            <a:avLst/>
          </a:prstGeom>
          <a:noFill/>
          <a:ln/>
        </p:spPr>
        <p:txBody>
          <a:bodyPr wrap="square" lIns="0" tIns="0" rIns="0" bIns="0" rtlCol="0" anchor="ctr"/>
          <a:lstStyle/>
          <a:p>
            <a:pPr indent="0" marL="0">
              <a:buNone/>
            </a:pPr>
            <a:r>
              <a:rPr lang="en-US" sz="800" dirty="0">
                <a:solidFill>
                  <a:srgbClr val="8888AA"/>
                </a:solidFill>
                <a:latin typeface="Montserrat" pitchFamily="34" charset="0"/>
                <a:ea typeface="Montserrat" pitchFamily="34" charset="-122"/>
                <a:cs typeface="Montserrat" pitchFamily="34" charset="-120"/>
              </a:rPr>
              <a:t>The product stays shared. Each rollout adds a reviewed config bundle, approved knowledge sources, connectors and playbooks, not a fork.</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40038"/>
        </a:solidFill>
      </p:bgPr>
    </p:bg>
    <p:spTree>
      <p:nvGrpSpPr>
        <p:cNvPr id="1" name=""/>
        <p:cNvGrpSpPr/>
        <p:nvPr/>
      </p:nvGrpSpPr>
      <p:grpSpPr>
        <a:xfrm>
          <a:off x="0" y="0"/>
          <a:ext cx="0" cy="0"/>
          <a:chOff x="0" y="0"/>
          <a:chExt cx="0" cy="0"/>
        </a:xfrm>
      </p:grpSpPr>
      <p:sp>
        <p:nvSpPr>
          <p:cNvPr id="3" name="Shape 0"/>
          <p:cNvSpPr/>
          <p:nvPr/>
        </p:nvSpPr>
        <p:spPr>
          <a:xfrm>
            <a:off x="0" y="0"/>
            <a:ext cx="109728" cy="5143500"/>
          </a:xfrm>
          <a:prstGeom prst="rect">
            <a:avLst/>
          </a:prstGeom>
          <a:solidFill>
            <a:srgbClr val="18FFFF"/>
          </a:solidFill>
          <a:ln w="12700">
            <a:solidFill>
              <a:srgbClr val="18FFFF"/>
            </a:solidFill>
            <a:prstDash val="solid"/>
          </a:ln>
        </p:spPr>
      </p:sp>
      <p:sp>
        <p:nvSpPr>
          <p:cNvPr id="4" name="Text 1"/>
          <p:cNvSpPr/>
          <p:nvPr/>
        </p:nvSpPr>
        <p:spPr>
          <a:xfrm>
            <a:off x="475488" y="603504"/>
            <a:ext cx="8485632" cy="512064"/>
          </a:xfrm>
          <a:prstGeom prst="rect">
            <a:avLst/>
          </a:prstGeom>
          <a:noFill/>
          <a:ln/>
        </p:spPr>
        <p:txBody>
          <a:bodyPr wrap="square" lIns="0" tIns="0" rIns="0" bIns="0" rtlCol="0" anchor="ctr"/>
          <a:lstStyle/>
          <a:p>
            <a:pPr indent="0" marL="0">
              <a:buNone/>
            </a:pPr>
            <a:r>
              <a:rPr lang="en-US" sz="2200" b="1" dirty="0">
                <a:solidFill>
                  <a:srgbClr val="FFFFFF"/>
                </a:solidFill>
                <a:latin typeface="Montserrat" pitchFamily="34" charset="0"/>
                <a:ea typeface="Montserrat" pitchFamily="34" charset="-122"/>
                <a:cs typeface="Montserrat" pitchFamily="34" charset="-120"/>
              </a:rPr>
              <a:t>Next steps</a:t>
            </a:r>
            <a:endParaRPr lang="en-US" sz="2200" dirty="0"/>
          </a:p>
        </p:txBody>
      </p:sp>
      <p:sp>
        <p:nvSpPr>
          <p:cNvPr id="5" name="Text 2"/>
          <p:cNvSpPr/>
          <p:nvPr/>
        </p:nvSpPr>
        <p:spPr>
          <a:xfrm>
            <a:off x="896112" y="1904238"/>
            <a:ext cx="5650992" cy="201168"/>
          </a:xfrm>
          <a:prstGeom prst="rect">
            <a:avLst/>
          </a:prstGeom>
          <a:noFill/>
          <a:ln/>
        </p:spPr>
        <p:txBody>
          <a:bodyPr wrap="square" lIns="0" tIns="0" rIns="0" bIns="0" rtlCol="0" anchor="ctr"/>
          <a:lstStyle/>
          <a:p>
            <a:pPr indent="0" marL="0">
              <a:buNone/>
            </a:pPr>
            <a:r>
              <a:rPr lang="en-US" sz="800" b="1" spc="150" kern="0" dirty="0">
                <a:solidFill>
                  <a:srgbClr val="18FFFF"/>
                </a:solidFill>
                <a:latin typeface="Montserrat" pitchFamily="34" charset="0"/>
                <a:ea typeface="Montserrat" pitchFamily="34" charset="-122"/>
                <a:cs typeface="Montserrat" pitchFamily="34" charset="-120"/>
              </a:rPr>
              <a:t>ACTION</a:t>
            </a:r>
            <a:endParaRPr lang="en-US" sz="800" dirty="0"/>
          </a:p>
        </p:txBody>
      </p:sp>
      <p:sp>
        <p:nvSpPr>
          <p:cNvPr id="6" name="Text 3"/>
          <p:cNvSpPr/>
          <p:nvPr/>
        </p:nvSpPr>
        <p:spPr>
          <a:xfrm>
            <a:off x="6638544" y="1904238"/>
            <a:ext cx="1280160" cy="201168"/>
          </a:xfrm>
          <a:prstGeom prst="rect">
            <a:avLst/>
          </a:prstGeom>
          <a:noFill/>
          <a:ln/>
        </p:spPr>
        <p:txBody>
          <a:bodyPr wrap="square" lIns="0" tIns="0" rIns="0" bIns="0" rtlCol="0" anchor="ctr"/>
          <a:lstStyle/>
          <a:p>
            <a:pPr indent="0" marL="0">
              <a:buNone/>
            </a:pPr>
            <a:r>
              <a:rPr lang="en-US" sz="800" b="1" spc="150" kern="0" dirty="0">
                <a:solidFill>
                  <a:srgbClr val="18FFFF"/>
                </a:solidFill>
                <a:latin typeface="Montserrat" pitchFamily="34" charset="0"/>
                <a:ea typeface="Montserrat" pitchFamily="34" charset="-122"/>
                <a:cs typeface="Montserrat" pitchFamily="34" charset="-120"/>
              </a:rPr>
              <a:t>OWNER</a:t>
            </a:r>
            <a:endParaRPr lang="en-US" sz="800" dirty="0"/>
          </a:p>
        </p:txBody>
      </p:sp>
      <p:sp>
        <p:nvSpPr>
          <p:cNvPr id="7" name="Text 4"/>
          <p:cNvSpPr/>
          <p:nvPr/>
        </p:nvSpPr>
        <p:spPr>
          <a:xfrm>
            <a:off x="8010144" y="1904238"/>
            <a:ext cx="914400" cy="201168"/>
          </a:xfrm>
          <a:prstGeom prst="rect">
            <a:avLst/>
          </a:prstGeom>
          <a:noFill/>
          <a:ln/>
        </p:spPr>
        <p:txBody>
          <a:bodyPr wrap="square" lIns="0" tIns="0" rIns="0" bIns="0" rtlCol="0" anchor="ctr"/>
          <a:lstStyle/>
          <a:p>
            <a:pPr indent="0" marL="0">
              <a:buNone/>
            </a:pPr>
            <a:r>
              <a:rPr lang="en-US" sz="800" b="1" spc="150" kern="0" dirty="0">
                <a:solidFill>
                  <a:srgbClr val="18FFFF"/>
                </a:solidFill>
                <a:latin typeface="Montserrat" pitchFamily="34" charset="0"/>
                <a:ea typeface="Montserrat" pitchFamily="34" charset="-122"/>
                <a:cs typeface="Montserrat" pitchFamily="34" charset="-120"/>
              </a:rPr>
              <a:t>BY WHEN</a:t>
            </a:r>
            <a:endParaRPr lang="en-US" sz="800" dirty="0"/>
          </a:p>
        </p:txBody>
      </p:sp>
      <p:sp>
        <p:nvSpPr>
          <p:cNvPr id="8" name="Shape 5"/>
          <p:cNvSpPr/>
          <p:nvPr/>
        </p:nvSpPr>
        <p:spPr>
          <a:xfrm>
            <a:off x="475488" y="2141982"/>
            <a:ext cx="8485632" cy="402336"/>
          </a:xfrm>
          <a:prstGeom prst="rect">
            <a:avLst/>
          </a:prstGeom>
          <a:solidFill>
            <a:srgbClr val="0D1554"/>
          </a:solidFill>
          <a:ln w="12700">
            <a:solidFill>
              <a:srgbClr val="0D1554"/>
            </a:solidFill>
            <a:prstDash val="solid"/>
          </a:ln>
        </p:spPr>
      </p:sp>
      <p:sp>
        <p:nvSpPr>
          <p:cNvPr id="9" name="Text 6"/>
          <p:cNvSpPr/>
          <p:nvPr/>
        </p:nvSpPr>
        <p:spPr>
          <a:xfrm>
            <a:off x="475488" y="2141982"/>
            <a:ext cx="365760" cy="402336"/>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1</a:t>
            </a:r>
            <a:endParaRPr lang="en-US" sz="1400" dirty="0"/>
          </a:p>
        </p:txBody>
      </p:sp>
      <p:sp>
        <p:nvSpPr>
          <p:cNvPr id="10" name="Text 7"/>
          <p:cNvSpPr/>
          <p:nvPr/>
        </p:nvSpPr>
        <p:spPr>
          <a:xfrm>
            <a:off x="896112" y="2141982"/>
            <a:ext cx="5650992" cy="40233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Align on a target platform for a Proof of Concept</a:t>
            </a:r>
            <a:endParaRPr lang="en-US" sz="1200" dirty="0"/>
          </a:p>
        </p:txBody>
      </p:sp>
      <p:sp>
        <p:nvSpPr>
          <p:cNvPr id="11" name="Text 8"/>
          <p:cNvSpPr/>
          <p:nvPr/>
        </p:nvSpPr>
        <p:spPr>
          <a:xfrm>
            <a:off x="6638544" y="2141982"/>
            <a:ext cx="1280160" cy="402336"/>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Joint</a:t>
            </a:r>
            <a:endParaRPr lang="en-US" sz="1000" dirty="0"/>
          </a:p>
        </p:txBody>
      </p:sp>
      <p:sp>
        <p:nvSpPr>
          <p:cNvPr id="12" name="Text 9"/>
          <p:cNvSpPr/>
          <p:nvPr/>
        </p:nvSpPr>
        <p:spPr>
          <a:xfrm>
            <a:off x="8010144" y="2141982"/>
            <a:ext cx="914400" cy="402336"/>
          </a:xfrm>
          <a:prstGeom prst="rect">
            <a:avLst/>
          </a:prstGeom>
          <a:noFill/>
          <a:ln/>
        </p:spPr>
        <p:txBody>
          <a:bodyPr wrap="square" lIns="0" tIns="0" rIns="0" bIns="0" rtlCol="0" anchor="ctr"/>
          <a:lstStyle/>
          <a:p>
            <a:pPr indent="0" marL="0">
              <a:buNone/>
            </a:pPr>
            <a:r>
              <a:rPr lang="en-US" sz="1000" dirty="0">
                <a:solidFill>
                  <a:srgbClr val="8888AA"/>
                </a:solidFill>
                <a:latin typeface="Montserrat" pitchFamily="34" charset="0"/>
                <a:ea typeface="Montserrat" pitchFamily="34" charset="-122"/>
                <a:cs typeface="Montserrat" pitchFamily="34" charset="-120"/>
              </a:rPr>
              <a:t>Immediate</a:t>
            </a:r>
            <a:endParaRPr lang="en-US" sz="1000" dirty="0"/>
          </a:p>
        </p:txBody>
      </p:sp>
      <p:sp>
        <p:nvSpPr>
          <p:cNvPr id="13" name="Text 10"/>
          <p:cNvSpPr/>
          <p:nvPr/>
        </p:nvSpPr>
        <p:spPr>
          <a:xfrm>
            <a:off x="475488" y="2617470"/>
            <a:ext cx="365760" cy="402336"/>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2</a:t>
            </a:r>
            <a:endParaRPr lang="en-US" sz="1400" dirty="0"/>
          </a:p>
        </p:txBody>
      </p:sp>
      <p:sp>
        <p:nvSpPr>
          <p:cNvPr id="14" name="Text 11"/>
          <p:cNvSpPr/>
          <p:nvPr/>
        </p:nvSpPr>
        <p:spPr>
          <a:xfrm>
            <a:off x="896112" y="2617470"/>
            <a:ext cx="5650992" cy="40233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Run the fixed-fee platform analysis to scope and price it</a:t>
            </a:r>
            <a:endParaRPr lang="en-US" sz="1200" dirty="0"/>
          </a:p>
        </p:txBody>
      </p:sp>
      <p:sp>
        <p:nvSpPr>
          <p:cNvPr id="15" name="Text 12"/>
          <p:cNvSpPr/>
          <p:nvPr/>
        </p:nvSpPr>
        <p:spPr>
          <a:xfrm>
            <a:off x="6638544" y="2617470"/>
            <a:ext cx="1280160" cy="402336"/>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bigspark</a:t>
            </a:r>
            <a:endParaRPr lang="en-US" sz="1000" dirty="0"/>
          </a:p>
        </p:txBody>
      </p:sp>
      <p:sp>
        <p:nvSpPr>
          <p:cNvPr id="16" name="Text 13"/>
          <p:cNvSpPr/>
          <p:nvPr/>
        </p:nvSpPr>
        <p:spPr>
          <a:xfrm>
            <a:off x="8010144" y="2617470"/>
            <a:ext cx="914400" cy="402336"/>
          </a:xfrm>
          <a:prstGeom prst="rect">
            <a:avLst/>
          </a:prstGeom>
          <a:noFill/>
          <a:ln/>
        </p:spPr>
        <p:txBody>
          <a:bodyPr wrap="square" lIns="0" tIns="0" rIns="0" bIns="0" rtlCol="0" anchor="ctr"/>
          <a:lstStyle/>
          <a:p>
            <a:pPr indent="0" marL="0">
              <a:buNone/>
            </a:pPr>
            <a:r>
              <a:rPr lang="en-US" sz="1000" dirty="0">
                <a:solidFill>
                  <a:srgbClr val="8888AA"/>
                </a:solidFill>
                <a:latin typeface="Montserrat" pitchFamily="34" charset="0"/>
                <a:ea typeface="Montserrat" pitchFamily="34" charset="-122"/>
                <a:cs typeface="Montserrat" pitchFamily="34" charset="-120"/>
              </a:rPr>
              <a:t>Week 1–2</a:t>
            </a:r>
            <a:endParaRPr lang="en-US" sz="1000" dirty="0"/>
          </a:p>
        </p:txBody>
      </p:sp>
      <p:sp>
        <p:nvSpPr>
          <p:cNvPr id="17" name="Shape 14"/>
          <p:cNvSpPr/>
          <p:nvPr/>
        </p:nvSpPr>
        <p:spPr>
          <a:xfrm>
            <a:off x="475488" y="3092958"/>
            <a:ext cx="8485632" cy="402336"/>
          </a:xfrm>
          <a:prstGeom prst="rect">
            <a:avLst/>
          </a:prstGeom>
          <a:solidFill>
            <a:srgbClr val="0D1554"/>
          </a:solidFill>
          <a:ln w="12700">
            <a:solidFill>
              <a:srgbClr val="0D1554"/>
            </a:solidFill>
            <a:prstDash val="solid"/>
          </a:ln>
        </p:spPr>
      </p:sp>
      <p:sp>
        <p:nvSpPr>
          <p:cNvPr id="18" name="Text 15"/>
          <p:cNvSpPr/>
          <p:nvPr/>
        </p:nvSpPr>
        <p:spPr>
          <a:xfrm>
            <a:off x="475488" y="3092958"/>
            <a:ext cx="365760" cy="402336"/>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3</a:t>
            </a:r>
            <a:endParaRPr lang="en-US" sz="1400" dirty="0"/>
          </a:p>
        </p:txBody>
      </p:sp>
      <p:sp>
        <p:nvSpPr>
          <p:cNvPr id="19" name="Text 16"/>
          <p:cNvSpPr/>
          <p:nvPr/>
        </p:nvSpPr>
        <p:spPr>
          <a:xfrm>
            <a:off x="896112" y="3092958"/>
            <a:ext cx="5650992" cy="40233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Deliver the PoC on real incidents and review the results</a:t>
            </a:r>
            <a:endParaRPr lang="en-US" sz="1200" dirty="0"/>
          </a:p>
        </p:txBody>
      </p:sp>
      <p:sp>
        <p:nvSpPr>
          <p:cNvPr id="20" name="Text 17"/>
          <p:cNvSpPr/>
          <p:nvPr/>
        </p:nvSpPr>
        <p:spPr>
          <a:xfrm>
            <a:off x="6638544" y="3092958"/>
            <a:ext cx="1280160" cy="402336"/>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bigspark</a:t>
            </a:r>
            <a:endParaRPr lang="en-US" sz="1000" dirty="0"/>
          </a:p>
        </p:txBody>
      </p:sp>
      <p:sp>
        <p:nvSpPr>
          <p:cNvPr id="21" name="Text 18"/>
          <p:cNvSpPr/>
          <p:nvPr/>
        </p:nvSpPr>
        <p:spPr>
          <a:xfrm>
            <a:off x="8010144" y="3092958"/>
            <a:ext cx="914400" cy="402336"/>
          </a:xfrm>
          <a:prstGeom prst="rect">
            <a:avLst/>
          </a:prstGeom>
          <a:noFill/>
          <a:ln/>
        </p:spPr>
        <p:txBody>
          <a:bodyPr wrap="square" lIns="0" tIns="0" rIns="0" bIns="0" rtlCol="0" anchor="ctr"/>
          <a:lstStyle/>
          <a:p>
            <a:pPr indent="0" marL="0">
              <a:buNone/>
            </a:pPr>
            <a:r>
              <a:rPr lang="en-US" sz="1000" dirty="0">
                <a:solidFill>
                  <a:srgbClr val="8888AA"/>
                </a:solidFill>
                <a:latin typeface="Montserrat" pitchFamily="34" charset="0"/>
                <a:ea typeface="Montserrat" pitchFamily="34" charset="-122"/>
                <a:cs typeface="Montserrat" pitchFamily="34" charset="-120"/>
              </a:rPr>
              <a:t>PoC phase</a:t>
            </a:r>
            <a:endParaRPr lang="en-US" sz="1000" dirty="0"/>
          </a:p>
        </p:txBody>
      </p:sp>
      <p:sp>
        <p:nvSpPr>
          <p:cNvPr id="22" name="Text 19"/>
          <p:cNvSpPr/>
          <p:nvPr/>
        </p:nvSpPr>
        <p:spPr>
          <a:xfrm>
            <a:off x="475488" y="3568446"/>
            <a:ext cx="365760" cy="402336"/>
          </a:xfrm>
          <a:prstGeom prst="rect">
            <a:avLst/>
          </a:prstGeom>
          <a:noFill/>
          <a:ln/>
        </p:spPr>
        <p:txBody>
          <a:bodyPr wrap="square" lIns="0" tIns="0" rIns="0" bIns="0" rtlCol="0" anchor="ctr"/>
          <a:lstStyle/>
          <a:p>
            <a:pPr indent="0" marL="0">
              <a:buNone/>
            </a:pPr>
            <a:r>
              <a:rPr lang="en-US" sz="1400" b="1" dirty="0">
                <a:solidFill>
                  <a:srgbClr val="18FFFF"/>
                </a:solidFill>
                <a:latin typeface="Montserrat" pitchFamily="34" charset="0"/>
                <a:ea typeface="Montserrat" pitchFamily="34" charset="-122"/>
                <a:cs typeface="Montserrat" pitchFamily="34" charset="-120"/>
              </a:rPr>
              <a:t>4</a:t>
            </a:r>
            <a:endParaRPr lang="en-US" sz="1400" dirty="0"/>
          </a:p>
        </p:txBody>
      </p:sp>
      <p:sp>
        <p:nvSpPr>
          <p:cNvPr id="23" name="Text 20"/>
          <p:cNvSpPr/>
          <p:nvPr/>
        </p:nvSpPr>
        <p:spPr>
          <a:xfrm>
            <a:off x="896112" y="3568446"/>
            <a:ext cx="5650992" cy="402336"/>
          </a:xfrm>
          <a:prstGeom prst="rect">
            <a:avLst/>
          </a:prstGeom>
          <a:noFill/>
          <a:ln/>
        </p:spPr>
        <p:txBody>
          <a:bodyPr wrap="square" lIns="0" tIns="0" rIns="0" bIns="0"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Agree the rollout plan across systems and areas</a:t>
            </a:r>
            <a:endParaRPr lang="en-US" sz="1200" dirty="0"/>
          </a:p>
        </p:txBody>
      </p:sp>
      <p:sp>
        <p:nvSpPr>
          <p:cNvPr id="24" name="Text 21"/>
          <p:cNvSpPr/>
          <p:nvPr/>
        </p:nvSpPr>
        <p:spPr>
          <a:xfrm>
            <a:off x="6638544" y="3568446"/>
            <a:ext cx="1280160" cy="402336"/>
          </a:xfrm>
          <a:prstGeom prst="rect">
            <a:avLst/>
          </a:prstGeom>
          <a:noFill/>
          <a:ln/>
        </p:spPr>
        <p:txBody>
          <a:bodyPr wrap="square" lIns="0" tIns="0" rIns="0" bIns="0" rtlCol="0" anchor="ctr"/>
          <a:lstStyle/>
          <a:p>
            <a:pPr indent="0" marL="0">
              <a:buNone/>
            </a:pPr>
            <a:r>
              <a:rPr lang="en-US" sz="1000" dirty="0">
                <a:solidFill>
                  <a:srgbClr val="E8E8F0"/>
                </a:solidFill>
                <a:latin typeface="Montserrat" pitchFamily="34" charset="0"/>
                <a:ea typeface="Montserrat" pitchFamily="34" charset="-122"/>
                <a:cs typeface="Montserrat" pitchFamily="34" charset="-120"/>
              </a:rPr>
              <a:t>Joint</a:t>
            </a:r>
            <a:endParaRPr lang="en-US" sz="1000" dirty="0"/>
          </a:p>
        </p:txBody>
      </p:sp>
      <p:sp>
        <p:nvSpPr>
          <p:cNvPr id="25" name="Text 22"/>
          <p:cNvSpPr/>
          <p:nvPr/>
        </p:nvSpPr>
        <p:spPr>
          <a:xfrm>
            <a:off x="8010144" y="3568446"/>
            <a:ext cx="914400" cy="402336"/>
          </a:xfrm>
          <a:prstGeom prst="rect">
            <a:avLst/>
          </a:prstGeom>
          <a:noFill/>
          <a:ln/>
        </p:spPr>
        <p:txBody>
          <a:bodyPr wrap="square" lIns="0" tIns="0" rIns="0" bIns="0" rtlCol="0" anchor="ctr"/>
          <a:lstStyle/>
          <a:p>
            <a:pPr indent="0" marL="0">
              <a:buNone/>
            </a:pPr>
            <a:r>
              <a:rPr lang="en-US" sz="1000" dirty="0">
                <a:solidFill>
                  <a:srgbClr val="8888AA"/>
                </a:solidFill>
                <a:latin typeface="Montserrat" pitchFamily="34" charset="0"/>
                <a:ea typeface="Montserrat" pitchFamily="34" charset="-122"/>
                <a:cs typeface="Montserrat" pitchFamily="34" charset="-120"/>
              </a:rPr>
              <a:t>Post-PoC</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2026-08-26T12:53:40Z</dcterms:created>
  <dcterms:modified xsi:type="dcterms:W3CDTF">2026-08-26T12:53:40Z</dcterms:modified>
</cp:coreProperties>
</file>