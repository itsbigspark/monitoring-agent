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 pitch: we turn a manual, senior-engineer-dependent investigation loop into a deployable agent that diagnoses incidents and proposes fixes. Sentinel is the first feature we ship of a broader platform, Mission Control. Working name 'Sentinel' — placeholder.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pain: the alerting system detects symptoms but does no diagnosis. Humans carry the entire investigation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loop left to right. Emphasise that steps 3-5 are pure manual toil that the agent can take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de-risks the pitch: we're not proposing something speculative — we're automating a workflow that already works manually.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'what'. Keep it outcome-focused; architecture comes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playground step (highlighted) is where it validates a candidate fix safely before proposing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commercial framing: value does not require solving 100%. Even partial coverage plus acceleration of the rest is a strong ROI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pillars to land: MCP-first (scales), model-agnostic (compliance/lock-in), in-client (data never leaves). Intent Layer is the quality multiplier.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Companion visual to the architecture slide: ServiceNow -&gt; ingestion/triage -&gt; LangGraph graph -&gt; MCP layer -&gt; read-only data sources; model-agnostic LLM + isolated playground on the right; all inside the client boundary; outputs go back to ticket / PR / Teams for human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what gets you past infosec. Lead with read-only + in-client + human-in-the-loop.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Tier 1 needs instant human action; Tier 3 has slack we can fill — easy, low-risk, KPI-boosting first win.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scalability story without internal targeting specifics. Progressive autonomy reassures: we don't ask for trust up front, we earn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Frame: we ship Sentinel first (the wedge and the differentiator). It is the first feature of a broader platform, Mission Control, for the monitoring teams that own many apps. Same in-client deployment. ServiceNow stays authoritative. The dashboard hub and analytics follow on the same application-catalog foundation. Keep the focus on Sentinel; this slide just shows where it's heading. (The knowledge-capture benefits this enables are on the next slide.)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FRAMING — keep these as UPSIDE, never criticism: (1) frame as 'the platform rewards and surfaces good knowledge', not 'your docs are bad'; (2) it's a MULTIPLIER, not a prerequisite — Sentinel works on logs + code regardless. Order the story from the cleanest point: lead with KT/handover (pure operational win), then tribal-knowledge capture (bus-factor / survives turnover), then the documentation flywheel (docs finally pay off, visible per-app KPIs).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Baseline these metrics before rollout so the 'after' delta is provable.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Client-safe commercial framing. Keep specific numbers for the live conversation. The analysis-first step de-risks pricing for both sides.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concrete, low-commitment ask: agree one platform and run the analysis. Momentum over perfection. Sentinel is step one toward Mission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92040"/>
            <a:ext cx="12191695" cy="508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0">
                <a:solidFill>
                  <a:srgbClr val="189AB4"/>
                </a:solidFill>
                <a:latin typeface="Calibri"/>
              </a:rPr>
              <a:t>Agentic incident auto-investigation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C8D4DE"/>
                </a:solidFill>
                <a:latin typeface="Calibri"/>
              </a:rPr>
              <a:t>The first feature of </a:t>
            </a:r>
            <a:r>
              <a:rPr sz="1800" b="1">
                <a:solidFill>
                  <a:srgbClr val="FFFFFF"/>
                </a:solidFill>
                <a:latin typeface="Calibri"/>
              </a:rPr>
              <a:t>Mission Control</a:t>
            </a:r>
            <a:r>
              <a:rPr sz="1800" b="0">
                <a:solidFill>
                  <a:srgbClr val="C8D4DE"/>
                </a:solidFill>
                <a:latin typeface="Calibri"/>
              </a:rPr>
              <a:t> — an application operations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C8D4DE"/>
                </a:solidFill>
                <a:latin typeface="Calibri"/>
              </a:rPr>
              <a:t>Automating the investigation of production incidents — from alert to root cause and proposed fix.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6B7780"/>
                </a:solidFill>
                <a:latin typeface="Calibri"/>
              </a:rPr>
              <a:t>Project proposal  ·  Draft for discussion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189AB4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An alert tells you something broke — not why, or how to fix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Splunk alerts fire off application logs and raise a ticket in ServiceNow.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The ticket says "this alert fired, here's the error message" — and little else.</a:t>
            </a:r>
          </a:p>
          <a:p>
            <a:pPr algn="l" lvl="1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6B7780"/>
                </a:solidFill>
                <a:latin typeface="Calibri"/>
              </a:rPr>
              <a:t>–  No root-cause analysis. No context. No proposed fix.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A senior engineer must then manually investigate every ticket.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Investigation is the slowest, most repetitive phase of incident response — and it bottlenecks on a handful of people.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189AB4"/>
                </a:solidFill>
                <a:latin typeface="Calibri"/>
              </a:rPr>
              <a:t>HOW IT WORKS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The current manual investigation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1681429" cy="118872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681429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F2A47"/>
                </a:solidFill>
                <a:latin typeface="Calibri"/>
              </a:rPr>
              <a:t>Alert fires
(Splunk)</a:t>
            </a:r>
          </a:p>
        </p:txBody>
      </p:sp>
      <p:sp>
        <p:nvSpPr>
          <p:cNvPr id="8" name="Rectangle 7"/>
          <p:cNvSpPr/>
          <p:nvPr/>
        </p:nvSpPr>
        <p:spPr>
          <a:xfrm>
            <a:off x="2486101" y="2377440"/>
            <a:ext cx="1681429" cy="118872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6101" y="2377440"/>
            <a:ext cx="1681429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F2A47"/>
                </a:solidFill>
                <a:latin typeface="Calibri"/>
              </a:rPr>
              <a:t>Ticket raised
(ServiceNow)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2122" y="2377440"/>
            <a:ext cx="1681429" cy="118872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32122" y="2377440"/>
            <a:ext cx="1681429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F2A47"/>
                </a:solidFill>
                <a:latin typeface="Calibri"/>
              </a:rPr>
              <a:t>Engineer reads
logs manually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8143" y="2377440"/>
            <a:ext cx="1681429" cy="118872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8143" y="2377440"/>
            <a:ext cx="1681429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F2A47"/>
                </a:solidFill>
                <a:latin typeface="Calibri"/>
              </a:rPr>
              <a:t>Cross-checks code
&amp; other systems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4164" y="2377440"/>
            <a:ext cx="1681429" cy="118872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4164" y="2377440"/>
            <a:ext cx="1681429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F2A47"/>
                </a:solidFill>
                <a:latin typeface="Calibri"/>
              </a:rPr>
              <a:t>Reproduces &amp;
diagnoses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0185" y="2377440"/>
            <a:ext cx="1681429" cy="118872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0185" y="2377440"/>
            <a:ext cx="1681429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F2A47"/>
                </a:solidFill>
                <a:latin typeface="Calibri"/>
              </a:rPr>
              <a:t>Writes up fix
for dev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2336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0F2A47"/>
                </a:solidFill>
                <a:latin typeface="Calibri"/>
              </a:rPr>
              <a:t>Slow.</a:t>
            </a:r>
            <a:r>
              <a:rPr sz="1800" b="0">
                <a:solidFill>
                  <a:srgbClr val="333F4A"/>
                </a:solidFill>
                <a:latin typeface="Calibri"/>
              </a:rPr>
              <a:t>  Serial, manual evidence-gathering inflates mean-time-to-diagnosis.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0F2A47"/>
                </a:solidFill>
                <a:latin typeface="Calibri"/>
              </a:rPr>
              <a:t>Person-dependent.</a:t>
            </a:r>
            <a:r>
              <a:rPr sz="1800" b="0">
                <a:solidFill>
                  <a:srgbClr val="333F4A"/>
                </a:solidFill>
                <a:latin typeface="Calibri"/>
              </a:rPr>
              <a:t>  Knowledge concentrated in a few senior engineers.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0F2A47"/>
                </a:solidFill>
                <a:latin typeface="Calibri"/>
              </a:rPr>
              <a:t>Lossy.</a:t>
            </a:r>
            <a:r>
              <a:rPr sz="1800" b="0">
                <a:solidFill>
                  <a:srgbClr val="333F4A"/>
                </a:solidFill>
                <a:latin typeface="Calibri"/>
              </a:rPr>
              <a:t>  Findings live in tickets and people's heads; recurring patterns aren't captured.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189AB4"/>
                </a:solidFill>
                <a:latin typeface="Calibri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The loop is already proven — manually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A custom Splunk MCP server (already built at NatWest) lets an AI assistant query logs on demand.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Connected to the codebase, it already investigates incidents and surfaces root causes — it has been "phenomenal" in practice.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Today this is run by hand, per incident. The opportunity is to automate and productise it.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Timing: teams (e.g. Complaints) are onboarding the alerting system now — early enough to build automation in from the start.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189AB4"/>
                </a:solidFill>
                <a:latin typeface="Calibri"/>
              </a:rPr>
              <a:t>THE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Sentinel — an agent that investigates incidents automatically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Triggers automatically on a qualifying ServiceNow incident — no human kick-off.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Pulls the relevant logs (Splunk), inspects the deployed codebase, and queries supporting systems (DB, Snowflake, S3) as needed.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Reasons about the failure inside an isolated playground environment.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Delivers a structured report: Overview → Investigation → Root Cause → Proposed Fix or Synopsis, with a confidence level.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Posts findings back to the ticket / Teams; a human reviews and approves.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189AB4"/>
                </a:solidFill>
                <a:latin typeface="Calibri"/>
              </a:rPr>
              <a:t>HOW SENTINEL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End-to-end investigation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1696669" cy="12801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696669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F2A47"/>
                </a:solidFill>
                <a:latin typeface="Calibri"/>
              </a:rPr>
              <a:t>Detect &amp;
triage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2483053" y="2103120"/>
            <a:ext cx="1696669" cy="12801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3053" y="2103120"/>
            <a:ext cx="1696669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F2A47"/>
                </a:solidFill>
                <a:latin typeface="Calibri"/>
              </a:rPr>
              <a:t>Plan
investigation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6026" y="2103120"/>
            <a:ext cx="1696669" cy="12801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6026" y="2103120"/>
            <a:ext cx="1696669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F2A47"/>
                </a:solidFill>
                <a:latin typeface="Calibri"/>
              </a:rPr>
              <a:t>Gather evidence
(logs · code · data)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8999" y="2103120"/>
            <a:ext cx="1696669" cy="12801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8999" y="2103120"/>
            <a:ext cx="1696669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F2A47"/>
                </a:solidFill>
                <a:latin typeface="Calibri"/>
              </a:rPr>
              <a:t>Correlate &amp;
find root cause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11972" y="2103120"/>
            <a:ext cx="1696669" cy="1280160"/>
          </a:xfrm>
          <a:prstGeom prst="rect">
            <a:avLst/>
          </a:prstGeom>
          <a:solidFill>
            <a:srgbClr val="E4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11972" y="2103120"/>
            <a:ext cx="1696669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F2A47"/>
                </a:solidFill>
                <a:latin typeface="Calibri"/>
              </a:rPr>
              <a:t>Fix in playground
or synopsise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54945" y="2103120"/>
            <a:ext cx="1696669" cy="12801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54945" y="2103120"/>
            <a:ext cx="1696669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F2A47"/>
                </a:solidFill>
                <a:latin typeface="Calibri"/>
              </a:rPr>
              <a:t>Human review
&amp; approve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3192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>
                <a:solidFill>
                  <a:srgbClr val="333F4A"/>
                </a:solidFill>
                <a:latin typeface="Calibri"/>
              </a:rPr>
              <a:t>•  Iterative, cost-aware log retrieval — searches and narrows rather than dumping everything.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>
                <a:solidFill>
                  <a:srgbClr val="333F4A"/>
                </a:solidFill>
                <a:latin typeface="Calibri"/>
              </a:rPr>
              <a:t>•  Every diagnosis carries a confidence level and a full evidence trail.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>
                <a:solidFill>
                  <a:srgbClr val="333F4A"/>
                </a:solidFill>
                <a:latin typeface="Calibri"/>
              </a:rPr>
              <a:t>•  Every tool call and decision is logged for a complete audit trail.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189AB4"/>
                </a:solidFill>
                <a:latin typeface="Calibri"/>
              </a:rPr>
              <a:t>TWO VALUABLE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Fix it — or fast-track the human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394960" cy="40233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94960" cy="64008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5394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 — Validated fix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49377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33F4A"/>
                </a:solidFill>
                <a:latin typeface="Calibri"/>
              </a:rPr>
              <a:t>Reproduces the issue and develops a fix in an isolated playground.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33F4A"/>
                </a:solidFill>
                <a:latin typeface="Calibri"/>
              </a:rPr>
              <a:t>Tests it before proposing — zero production risk.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33F4A"/>
                </a:solidFill>
                <a:latin typeface="Calibri"/>
              </a:rPr>
              <a:t>Proposed for human review, e.g. as a pull request.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737360"/>
            <a:ext cx="5394960" cy="40233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737360"/>
            <a:ext cx="5394960" cy="64008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737360"/>
            <a:ext cx="5394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B — Investigation synopsis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60320"/>
            <a:ext cx="49377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33F4A"/>
                </a:solidFill>
                <a:latin typeface="Calibri"/>
              </a:rPr>
              <a:t>When a reliable fix isn't possible, delivers what it found.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33F4A"/>
                </a:solidFill>
                <a:latin typeface="Calibri"/>
              </a:rPr>
              <a:t>Overview, evidence, root-cause hypothesis, suggested next steps.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33F4A"/>
                </a:solidFill>
                <a:latin typeface="Calibri"/>
              </a:rPr>
              <a:t>Gives the human a major head start — speeds up resolution.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436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0F2A47"/>
                </a:solidFill>
                <a:latin typeface="Calibri"/>
              </a:rPr>
              <a:t>Partial automation still wins: ~70% resolved + ~30% accelerated is a brilliant outcome.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189AB4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Built to scale and to swap parts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333F4A"/>
                </a:solidFill>
                <a:latin typeface="Calibri"/>
              </a:rPr>
              <a:t>•  LangGraph orchestration — a stateful, multi-phase investigation graph with durable state, human-in-the-loop, and full observability.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333F4A"/>
                </a:solidFill>
                <a:latin typeface="Calibri"/>
              </a:rPr>
              <a:t>•  MCP-first integration — reuses the existing Splunk MCP; each new system or incident type is a new connector + playbook, not a rewrite.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333F4A"/>
                </a:solidFill>
                <a:latin typeface="Calibri"/>
              </a:rPr>
              <a:t>•  Model-agnostic LLM — swap between Bedrock, self-hosted/in-VPC, or local (LM Studio / Ollama) by configuration. No vendor lock-in.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333F4A"/>
                </a:solidFill>
                <a:latin typeface="Calibri"/>
              </a:rPr>
              <a:t>•  Codebase enrichment (Intent Layer) — hierarchical, in-repo context so the agent understands the architecture before reading a line of code.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333F4A"/>
                </a:solidFill>
                <a:latin typeface="Calibri"/>
              </a:rPr>
              <a:t>•  Fully deployed inside the client environment — one isolated instance per client.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189AB4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Proposed system architecture</a:t>
            </a:r>
          </a:p>
        </p:txBody>
      </p:sp>
      <p:pic>
        <p:nvPicPr>
          <p:cNvPr id="6" name="Picture 5" descr="sentinel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248" y="1417320"/>
            <a:ext cx="6843198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189AB4"/>
                </a:solidFill>
                <a:latin typeface="Calibri"/>
              </a:rPr>
              <a:t>BUILT FOR THE 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Security, compliance &amp; governance — first-class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3611880" cy="17373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3500" cy="173736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F2A47"/>
                </a:solidFill>
                <a:latin typeface="Calibri"/>
              </a:rPr>
              <a:t>Read-only, least privilege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3337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333F4A"/>
                </a:solidFill>
                <a:latin typeface="Calibri"/>
              </a:rPr>
              <a:t>No write access to production. Scoped credentials.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645920"/>
            <a:ext cx="3611880" cy="17373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645920"/>
            <a:ext cx="63500" cy="173736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78308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F2A47"/>
                </a:solidFill>
                <a:latin typeface="Calibri"/>
              </a:rPr>
              <a:t>Human-approved by 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31720"/>
            <a:ext cx="3337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333F4A"/>
                </a:solidFill>
                <a:latin typeface="Calibri"/>
              </a:rPr>
              <a:t>Fixes validated in a sandbox, proposed for review.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645920"/>
            <a:ext cx="3611880" cy="17373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645920"/>
            <a:ext cx="63500" cy="173736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78308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F2A47"/>
                </a:solidFill>
                <a:latin typeface="Calibri"/>
              </a:rPr>
              <a:t>Fully in-client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331720"/>
            <a:ext cx="3337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333F4A"/>
                </a:solidFill>
                <a:latin typeface="Calibri"/>
              </a:rPr>
              <a:t>All logs, code, data &amp; inference stay inside your boundary.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657600"/>
            <a:ext cx="3611880" cy="17373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657600"/>
            <a:ext cx="63500" cy="173736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79476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F2A47"/>
                </a:solidFill>
                <a:latin typeface="Calibri"/>
              </a:rPr>
              <a:t>Complete 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343400"/>
            <a:ext cx="3337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333F4A"/>
                </a:solidFill>
                <a:latin typeface="Calibri"/>
              </a:rPr>
              <a:t>Every tool call and decision logged and attributable.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3657600"/>
            <a:ext cx="3611880" cy="17373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3657600"/>
            <a:ext cx="63500" cy="173736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79476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F2A47"/>
                </a:solidFill>
                <a:latin typeface="Calibri"/>
              </a:rPr>
              <a:t>Model choice you approve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343400"/>
            <a:ext cx="3337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333F4A"/>
                </a:solidFill>
                <a:latin typeface="Calibri"/>
              </a:rPr>
              <a:t>Run only models your security teams have signed off.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3657600"/>
            <a:ext cx="3611880" cy="17373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3657600"/>
            <a:ext cx="63500" cy="173736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379476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F2A47"/>
                </a:solidFill>
                <a:latin typeface="Calibri"/>
              </a:rPr>
              <a:t>Sensitive-data handling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343400"/>
            <a:ext cx="3337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333F4A"/>
                </a:solidFill>
                <a:latin typeface="Calibri"/>
              </a:rPr>
              <a:t>Screening/redaction before anything reaches the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189AB4"/>
                </a:solidFill>
                <a:latin typeface="Calibri"/>
              </a:rPr>
              <a:t>WHERE WE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Prove it on lower-tier systems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Begin on Tier 3 platforms — low criticality, ~3-day resolution turnaround.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An instant automated investigation there turbocharges the monitoring teams' resolution-time KPIs and dashboards.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Demonstrate value and build trust with zero risk to business-critical systems.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Then scale up the tiers as confidence grows.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189AB4"/>
                </a:solidFill>
                <a:latin typeface="Calibri"/>
              </a:rPr>
              <a:t>HOW IT SCALES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One system today — the whole estate over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MCP-first design means new incident types and new systems are additive, reusing the core agent, governance and reporting unchanged.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Start with Splunk-driven incidents on microservices; broaden to any incident type the queue receives.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Progressive autonomy — automation is earned: human-approved first, then opt-in auto-apply on lower-tier systems once the track record is proven (always audited and reversible).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Applicable across independent business areas, each with many candidate systems.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189AB4"/>
                </a:solidFill>
                <a:latin typeface="Calibri"/>
              </a:rPr>
              <a:t>THE BIGGER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Sentinel is the first feature of Mission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>
                <a:solidFill>
                  <a:srgbClr val="333F4A"/>
                </a:solidFill>
                <a:latin typeface="Calibri"/>
              </a:rPr>
              <a:t>•  Mission Control is an operations cockpit for the teams that monitor and support many applications across a shared incident queue.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>
                <a:solidFill>
                  <a:srgbClr val="333F4A"/>
                </a:solidFill>
                <a:latin typeface="Calibri"/>
              </a:rPr>
              <a:t>•  It organises incidents per application, centralises monitoring dashboards, and — through Sentinel — auto-investigates and resolves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154680"/>
            <a:ext cx="2522143" cy="160020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154680"/>
            <a:ext cx="2522143" cy="54864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252214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Sentinel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13048"/>
            <a:ext cx="252214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333F4A"/>
                </a:solidFill>
                <a:latin typeface="Calibri"/>
              </a:rPr>
              <a:t>Auto-investigation
&amp; resolution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53128"/>
            <a:ext cx="252214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189AB4"/>
                </a:solidFill>
                <a:latin typeface="Calibri"/>
              </a:rPr>
              <a:t>◆ ships first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36543" y="3154680"/>
            <a:ext cx="2522143" cy="160020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6543" y="3154680"/>
            <a:ext cx="2522143" cy="54864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6543" y="3154680"/>
            <a:ext cx="252214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Incident cockpit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6543" y="3813048"/>
            <a:ext cx="252214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333F4A"/>
                </a:solidFill>
                <a:latin typeface="Calibri"/>
              </a:rPr>
              <a:t>Per-application,
historical 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006" y="3154680"/>
            <a:ext cx="2522143" cy="160020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3006" y="3154680"/>
            <a:ext cx="2522143" cy="54864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3006" y="3154680"/>
            <a:ext cx="252214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Dashboard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6" y="3813048"/>
            <a:ext cx="252214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333F4A"/>
                </a:solidFill>
                <a:latin typeface="Calibri"/>
              </a:rPr>
              <a:t>QuickSight, Tableau
in one place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29469" y="3154680"/>
            <a:ext cx="2522143" cy="160020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29469" y="3154680"/>
            <a:ext cx="2522143" cy="54864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29469" y="3154680"/>
            <a:ext cx="252214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9469" y="3813048"/>
            <a:ext cx="252214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333F4A"/>
                </a:solidFill>
                <a:latin typeface="Calibri"/>
              </a:rPr>
              <a:t>MTTR, trends, KPIs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983480"/>
            <a:ext cx="10911535" cy="566928"/>
          </a:xfrm>
          <a:prstGeom prst="rect">
            <a:avLst/>
          </a:prstGeom>
          <a:solidFill>
            <a:srgbClr val="E4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983480"/>
            <a:ext cx="1091153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F2A47"/>
                </a:solidFill>
                <a:latin typeface="Calibri"/>
              </a:rPr>
              <a:t>Application catalog — the shared foundation (apps · tiers · repos · log indices · data sources)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6B7780"/>
                </a:solidFill>
                <a:latin typeface="Calibri"/>
              </a:rPr>
              <a:t>ServiceNow stays the system of record — Mission Control works off it, not instead of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189AB4"/>
                </a:solidFill>
                <a:latin typeface="Calibri"/>
              </a:rPr>
              <a:t>BEYOND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A compounding knowledge dividend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333F4A"/>
                </a:solidFill>
                <a:latin typeface="Calibri"/>
              </a:rPr>
              <a:t>Sentinel and the support team run on captured knowledge — so the platform turns it into a durable, growing asset: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3454298" cy="301752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3454298" cy="77724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317997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Smoother handovers (KT)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46120"/>
            <a:ext cx="2997098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333F4A"/>
                </a:solidFill>
                <a:latin typeface="Calibri"/>
              </a:rPr>
              <a:t>Dev → support knowledge transfer gets a structured, lasting home instead of fading meetings — and it's reusable for every future joiner.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8698" y="2286000"/>
            <a:ext cx="3454298" cy="301752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8698" y="2286000"/>
            <a:ext cx="3454298" cy="77724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5858" y="2286000"/>
            <a:ext cx="317997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Tribal knowledge, captured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298" y="3246120"/>
            <a:ext cx="2997098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333F4A"/>
                </a:solidFill>
                <a:latin typeface="Calibri"/>
              </a:rPr>
              <a:t>The quirks, edge cases and process lore that live in people's heads become explicit and durable — de-risking key-person dependency. Knowledge survives staff turnover.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7316" y="2286000"/>
            <a:ext cx="3454298" cy="301752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7316" y="2286000"/>
            <a:ext cx="3454298" cy="77724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4476" y="2286000"/>
            <a:ext cx="317997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Documentation that pays 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5916" y="3246120"/>
            <a:ext cx="2997098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333F4A"/>
                </a:solidFill>
                <a:latin typeface="Calibri"/>
              </a:rPr>
              <a:t>Sentinel uses your docs to diagnose incidents, so good documentation finally shows measurable payoff — faster, better resolution, visible per app.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235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F2A47"/>
                </a:solidFill>
                <a:latin typeface="Calibri"/>
              </a:rPr>
              <a:t>A virtuous cycle: the more you capture, the better Sentinel and your support team perform — and the more visible the payoff of capturing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189AB4"/>
                </a:solidFill>
                <a:latin typeface="Calibri"/>
              </a:rPr>
              <a:t>THE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Why this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3611880" cy="17373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3611880" cy="635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F2A47"/>
                </a:solidFill>
                <a:latin typeface="Calibri"/>
              </a:rPr>
              <a:t>Faster resolution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3337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333F4A"/>
                </a:solidFill>
                <a:latin typeface="Calibri"/>
              </a:rPr>
              <a:t>Compresses the slowest phase — time-to-diagnosis.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645920"/>
            <a:ext cx="3611880" cy="17373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645920"/>
            <a:ext cx="3611880" cy="635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2880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F2A47"/>
                </a:solidFill>
                <a:latin typeface="Calibri"/>
              </a:rPr>
              <a:t>Senior-engineer leverage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77440"/>
            <a:ext cx="3337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333F4A"/>
                </a:solidFill>
                <a:latin typeface="Calibri"/>
              </a:rPr>
              <a:t>Frees scarce expertise from repetitive triage.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645920"/>
            <a:ext cx="3611880" cy="17373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645920"/>
            <a:ext cx="3611880" cy="635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82880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F2A47"/>
                </a:solidFill>
                <a:latin typeface="Calibri"/>
              </a:rPr>
              <a:t>Consistency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377440"/>
            <a:ext cx="3337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333F4A"/>
                </a:solidFill>
                <a:latin typeface="Calibri"/>
              </a:rPr>
              <a:t>Every in-scope incident gets a thorough investigation.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657600"/>
            <a:ext cx="3611880" cy="17373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657600"/>
            <a:ext cx="3611880" cy="635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84048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F2A47"/>
                </a:solidFill>
                <a:latin typeface="Calibri"/>
              </a:rPr>
              <a:t>Knowledge capture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389120"/>
            <a:ext cx="3337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333F4A"/>
                </a:solidFill>
                <a:latin typeface="Calibri"/>
              </a:rPr>
              <a:t>Recurring failure patterns become a durable asset.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3657600"/>
            <a:ext cx="3611880" cy="17373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3657600"/>
            <a:ext cx="3611880" cy="635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84048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F2A47"/>
                </a:solidFill>
                <a:latin typeface="Calibri"/>
              </a:rPr>
              <a:t>Low-risk proving ground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389120"/>
            <a:ext cx="3337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333F4A"/>
                </a:solidFill>
                <a:latin typeface="Calibri"/>
              </a:rPr>
              <a:t>KPI gains on Tier 3 before critical systems.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3657600"/>
            <a:ext cx="3611880" cy="17373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3657600"/>
            <a:ext cx="3611880" cy="635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384048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F2A47"/>
                </a:solidFill>
                <a:latin typeface="Calibri"/>
              </a:rPr>
              <a:t>Partial automation wins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389120"/>
            <a:ext cx="3337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333F4A"/>
                </a:solidFill>
                <a:latin typeface="Calibri"/>
              </a:rPr>
              <a:t>Resolve some, accelerate the rest — net big gain.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189AB4"/>
                </a:solidFill>
                <a:latin typeface="Calibri"/>
              </a:rPr>
              <a:t>ENGAGEMENT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Low-commitment start, scalable rollout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3454298" cy="31089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3454298" cy="73152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45429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 · Platform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2997098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333F4A"/>
                </a:solidFill>
                <a:latin typeface="Calibri"/>
              </a:rPr>
              <a:t>A short, fixed-fee analysis of a target platform — scopes the work and prices the implementation up front.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1920240"/>
            <a:ext cx="3454298" cy="31089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8698" y="1920240"/>
            <a:ext cx="3454298" cy="73152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8698" y="1920240"/>
            <a:ext cx="345429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 · Proof of Concept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834640"/>
            <a:ext cx="2997098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333F4A"/>
                </a:solidFill>
                <a:latin typeface="Calibri"/>
              </a:rPr>
              <a:t>Stand up Sentinel on that platform and demonstrate it on real incidents — proof before commitment.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7316" y="1920240"/>
            <a:ext cx="3454298" cy="31089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7316" y="1920240"/>
            <a:ext cx="3454298" cy="73152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7316" y="1920240"/>
            <a:ext cx="345429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 · Scaled rollout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5916" y="2834640"/>
            <a:ext cx="2997098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333F4A"/>
                </a:solidFill>
                <a:latin typeface="Calibri"/>
              </a:rPr>
              <a:t>Implement platform by platform (fixed-price or T&amp;M). Shared components built once; only platform-specific work per system.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6B7780"/>
                </a:solidFill>
                <a:latin typeface="Calibri"/>
              </a:rPr>
              <a:t>Each platform is slightly different — its knowledge base and data-access needs drive the incremental cost.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1.  Align on a target platform for a Proof of Concept.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2.  Run the fixed-fee platform analysis to scope &amp; price it.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3.  Deliver the PoC on real incidents and review the results.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4.  Agree the rollout plan across systems and areas.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89AB4"/>
                </a:solidFill>
                <a:latin typeface="Calibri"/>
              </a:rPr>
              <a:t>Let's pick one platform and prove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447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C8D4DE"/>
                </a:solidFill>
                <a:latin typeface="Calibri"/>
              </a:rPr>
              <a:t>Sentinel first — the foundation for Mission Control.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